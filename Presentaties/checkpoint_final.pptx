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11"/>
  </p:notesMasterIdLst>
  <p:sldIdLst>
    <p:sldId id="256" r:id="rId2"/>
    <p:sldId id="299" r:id="rId3"/>
    <p:sldId id="307" r:id="rId4"/>
    <p:sldId id="306" r:id="rId5"/>
    <p:sldId id="300" r:id="rId6"/>
    <p:sldId id="310" r:id="rId7"/>
    <p:sldId id="312" r:id="rId8"/>
    <p:sldId id="313" r:id="rId9"/>
    <p:sldId id="257" r:id="rId10"/>
  </p:sldIdLst>
  <p:sldSz cx="9144000" cy="5143500" type="screen16x9"/>
  <p:notesSz cx="6858000" cy="9144000"/>
  <p:embeddedFontLst>
    <p:embeddedFont>
      <p:font typeface="Fira Sans Condensed Medium" panose="020F0502020204030204" pitchFamily="34" charset="0"/>
      <p:regular r:id="rId12"/>
      <p:bold r:id="rId13"/>
      <p:italic r:id="rId14"/>
      <p:boldItalic r:id="rId15"/>
    </p:embeddedFont>
    <p:embeddedFont>
      <p:font typeface="Livvic Light" panose="020F0302020204030204" pitchFamily="34" charset="0"/>
      <p:regular r:id="rId16"/>
      <p:italic r:id="rId17"/>
    </p:embeddedFont>
    <p:embeddedFont>
      <p:font typeface="Maven Pro" pitchFamily="2" charset="77"/>
      <p:regular r:id="rId18"/>
      <p:bold r:id="rId19"/>
    </p:embeddedFont>
    <p:embeddedFont>
      <p:font typeface="Nunito Light" panose="020F0302020204030204" pitchFamily="34" charset="0"/>
      <p:regular r:id="rId20"/>
      <p:italic r:id="rId21"/>
    </p:embeddedFont>
    <p:embeddedFont>
      <p:font typeface="Share Tech" pitchFamily="2" charset="77"/>
      <p:regular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9270"/>
    <a:srgbClr val="EA8F70"/>
    <a:srgbClr val="FF9973"/>
    <a:srgbClr val="E94573"/>
    <a:srgbClr val="F19872"/>
    <a:srgbClr val="D3A329"/>
    <a:srgbClr val="C27F9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4A91868-E7E1-4EC7-B24C-D8BCF1EC342E}">
  <a:tblStyle styleId="{A4A91868-E7E1-4EC7-B24C-D8BCF1EC342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Sem Estilo, Sem Grelh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4651"/>
  </p:normalViewPr>
  <p:slideViewPr>
    <p:cSldViewPr snapToGrid="0">
      <p:cViewPr varScale="1">
        <p:scale>
          <a:sx n="157" d="100"/>
          <a:sy n="157" d="100"/>
        </p:scale>
        <p:origin x="320"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6c52a2e8d8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6c52a2e8d8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6c60e245bf_1_318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6c60e245bf_1_318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561650" y="751888"/>
            <a:ext cx="60207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solidFill>
                  <a:schemeClr val="lt1"/>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2924250" y="2804488"/>
            <a:ext cx="32955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 name="Google Shape;11;p2"/>
          <p:cNvSpPr/>
          <p:nvPr/>
        </p:nvSpPr>
        <p:spPr>
          <a:xfrm>
            <a:off x="1060456" y="1158638"/>
            <a:ext cx="121198" cy="121434"/>
          </a:xfrm>
          <a:custGeom>
            <a:avLst/>
            <a:gdLst/>
            <a:ahLst/>
            <a:cxnLst/>
            <a:rect l="l" t="t" r="r" b="b"/>
            <a:pathLst>
              <a:path w="4625" h="4634" extrusionOk="0">
                <a:moveTo>
                  <a:pt x="1" y="0"/>
                </a:moveTo>
                <a:lnTo>
                  <a:pt x="1" y="4633"/>
                </a:lnTo>
                <a:lnTo>
                  <a:pt x="4625" y="4633"/>
                </a:lnTo>
                <a:lnTo>
                  <a:pt x="46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7799740" y="916059"/>
            <a:ext cx="121434" cy="121434"/>
          </a:xfrm>
          <a:custGeom>
            <a:avLst/>
            <a:gdLst/>
            <a:ahLst/>
            <a:cxnLst/>
            <a:rect l="l" t="t" r="r" b="b"/>
            <a:pathLst>
              <a:path w="4634" h="4634" extrusionOk="0">
                <a:moveTo>
                  <a:pt x="0" y="1"/>
                </a:moveTo>
                <a:lnTo>
                  <a:pt x="0" y="4634"/>
                </a:lnTo>
                <a:lnTo>
                  <a:pt x="4633" y="4634"/>
                </a:lnTo>
                <a:lnTo>
                  <a:pt x="463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5257933" y="2452405"/>
            <a:ext cx="57599" cy="57599"/>
          </a:xfrm>
          <a:custGeom>
            <a:avLst/>
            <a:gdLst/>
            <a:ahLst/>
            <a:cxnLst/>
            <a:rect l="l" t="t" r="r" b="b"/>
            <a:pathLst>
              <a:path w="2198" h="2198" fill="none" extrusionOk="0">
                <a:moveTo>
                  <a:pt x="1" y="1"/>
                </a:moveTo>
                <a:lnTo>
                  <a:pt x="2198" y="1"/>
                </a:lnTo>
                <a:lnTo>
                  <a:pt x="2198" y="2198"/>
                </a:lnTo>
                <a:lnTo>
                  <a:pt x="1" y="2198"/>
                </a:lnTo>
                <a:close/>
              </a:path>
            </a:pathLst>
          </a:custGeom>
          <a:noFill/>
          <a:ln w="1375" cap="flat" cmpd="sng">
            <a:solidFill>
              <a:schemeClr val="accent1"/>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710023" y="4821495"/>
            <a:ext cx="98059" cy="98295"/>
          </a:xfrm>
          <a:custGeom>
            <a:avLst/>
            <a:gdLst/>
            <a:ahLst/>
            <a:cxnLst/>
            <a:rect l="l" t="t" r="r" b="b"/>
            <a:pathLst>
              <a:path w="3742" h="3751" fill="none" extrusionOk="0">
                <a:moveTo>
                  <a:pt x="1" y="0"/>
                </a:moveTo>
                <a:lnTo>
                  <a:pt x="3742" y="0"/>
                </a:lnTo>
                <a:lnTo>
                  <a:pt x="3742" y="3750"/>
                </a:lnTo>
                <a:lnTo>
                  <a:pt x="1" y="3750"/>
                </a:lnTo>
                <a:close/>
              </a:path>
            </a:pathLst>
          </a:custGeom>
          <a:noFill/>
          <a:ln w="2975" cap="flat" cmpd="sng">
            <a:solidFill>
              <a:schemeClr val="accent1"/>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75669" y="1557059"/>
            <a:ext cx="57834" cy="57599"/>
          </a:xfrm>
          <a:custGeom>
            <a:avLst/>
            <a:gdLst/>
            <a:ahLst/>
            <a:cxnLst/>
            <a:rect l="l" t="t" r="r" b="b"/>
            <a:pathLst>
              <a:path w="2207" h="2198" fill="none" extrusionOk="0">
                <a:moveTo>
                  <a:pt x="0" y="0"/>
                </a:moveTo>
                <a:lnTo>
                  <a:pt x="2207" y="0"/>
                </a:lnTo>
                <a:lnTo>
                  <a:pt x="2207" y="2197"/>
                </a:lnTo>
                <a:lnTo>
                  <a:pt x="0" y="2197"/>
                </a:lnTo>
                <a:close/>
              </a:path>
            </a:pathLst>
          </a:custGeom>
          <a:noFill/>
          <a:ln w="2975" cap="flat" cmpd="sng">
            <a:solidFill>
              <a:schemeClr val="accent2"/>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263673" y="2953681"/>
            <a:ext cx="104086" cy="104322"/>
          </a:xfrm>
          <a:custGeom>
            <a:avLst/>
            <a:gdLst/>
            <a:ahLst/>
            <a:cxnLst/>
            <a:rect l="l" t="t" r="r" b="b"/>
            <a:pathLst>
              <a:path w="3972" h="3981" extrusionOk="0">
                <a:moveTo>
                  <a:pt x="0" y="1"/>
                </a:moveTo>
                <a:lnTo>
                  <a:pt x="0" y="3981"/>
                </a:lnTo>
                <a:lnTo>
                  <a:pt x="3972" y="3981"/>
                </a:lnTo>
                <a:lnTo>
                  <a:pt x="397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17;p2"/>
          <p:cNvGrpSpPr/>
          <p:nvPr/>
        </p:nvGrpSpPr>
        <p:grpSpPr>
          <a:xfrm>
            <a:off x="8263682" y="-434366"/>
            <a:ext cx="188886" cy="1181531"/>
            <a:chOff x="2877432" y="975334"/>
            <a:chExt cx="188886" cy="1181531"/>
          </a:xfrm>
        </p:grpSpPr>
        <p:sp>
          <p:nvSpPr>
            <p:cNvPr id="18" name="Google Shape;18;p2"/>
            <p:cNvSpPr/>
            <p:nvPr/>
          </p:nvSpPr>
          <p:spPr>
            <a:xfrm>
              <a:off x="2877432" y="1968242"/>
              <a:ext cx="188886" cy="188624"/>
            </a:xfrm>
            <a:custGeom>
              <a:avLst/>
              <a:gdLst/>
              <a:ahLst/>
              <a:cxnLst/>
              <a:rect l="l" t="t" r="r" b="b"/>
              <a:pathLst>
                <a:path w="7208" h="7198" fill="none" extrusionOk="0">
                  <a:moveTo>
                    <a:pt x="1" y="0"/>
                  </a:moveTo>
                  <a:lnTo>
                    <a:pt x="7208" y="0"/>
                  </a:lnTo>
                  <a:lnTo>
                    <a:pt x="7208" y="7198"/>
                  </a:lnTo>
                  <a:lnTo>
                    <a:pt x="1" y="7198"/>
                  </a:lnTo>
                  <a:close/>
                </a:path>
              </a:pathLst>
            </a:custGeom>
            <a:noFill/>
            <a:ln w="5750" cap="flat" cmpd="sng">
              <a:solidFill>
                <a:schemeClr val="accent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2905393" y="1452501"/>
              <a:ext cx="133226" cy="133252"/>
            </a:xfrm>
            <a:custGeom>
              <a:avLst/>
              <a:gdLst/>
              <a:ahLst/>
              <a:cxnLst/>
              <a:rect l="l" t="t" r="r" b="b"/>
              <a:pathLst>
                <a:path w="5084" h="5085" fill="none" extrusionOk="0">
                  <a:moveTo>
                    <a:pt x="0" y="1"/>
                  </a:moveTo>
                  <a:lnTo>
                    <a:pt x="5083" y="1"/>
                  </a:lnTo>
                  <a:lnTo>
                    <a:pt x="5083" y="5084"/>
                  </a:lnTo>
                  <a:lnTo>
                    <a:pt x="0" y="5084"/>
                  </a:lnTo>
                  <a:close/>
                </a:path>
              </a:pathLst>
            </a:custGeom>
            <a:noFill/>
            <a:ln w="4125" cap="flat" cmpd="sng">
              <a:solidFill>
                <a:schemeClr val="accent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2931651" y="975334"/>
              <a:ext cx="80476" cy="80711"/>
            </a:xfrm>
            <a:custGeom>
              <a:avLst/>
              <a:gdLst/>
              <a:ahLst/>
              <a:cxnLst/>
              <a:rect l="l" t="t" r="r" b="b"/>
              <a:pathLst>
                <a:path w="3071" h="3080" fill="none" extrusionOk="0">
                  <a:moveTo>
                    <a:pt x="0" y="0"/>
                  </a:moveTo>
                  <a:lnTo>
                    <a:pt x="3070" y="0"/>
                  </a:lnTo>
                  <a:lnTo>
                    <a:pt x="3070" y="3080"/>
                  </a:lnTo>
                  <a:lnTo>
                    <a:pt x="0" y="3080"/>
                  </a:lnTo>
                  <a:close/>
                </a:path>
              </a:pathLst>
            </a:custGeom>
            <a:noFill/>
            <a:ln w="2525" cap="flat" cmpd="sng">
              <a:solidFill>
                <a:schemeClr val="accent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2"/>
          <p:cNvSpPr/>
          <p:nvPr/>
        </p:nvSpPr>
        <p:spPr>
          <a:xfrm>
            <a:off x="8485996" y="1614632"/>
            <a:ext cx="80502" cy="80476"/>
          </a:xfrm>
          <a:custGeom>
            <a:avLst/>
            <a:gdLst/>
            <a:ahLst/>
            <a:cxnLst/>
            <a:rect l="l" t="t" r="r" b="b"/>
            <a:pathLst>
              <a:path w="3072" h="3071" extrusionOk="0">
                <a:moveTo>
                  <a:pt x="1" y="0"/>
                </a:moveTo>
                <a:lnTo>
                  <a:pt x="1" y="3070"/>
                </a:lnTo>
                <a:lnTo>
                  <a:pt x="3071" y="3070"/>
                </a:lnTo>
                <a:lnTo>
                  <a:pt x="307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 name="Google Shape;22;p2"/>
          <p:cNvGrpSpPr/>
          <p:nvPr/>
        </p:nvGrpSpPr>
        <p:grpSpPr>
          <a:xfrm>
            <a:off x="3090746" y="-533657"/>
            <a:ext cx="98059" cy="1147596"/>
            <a:chOff x="3347921" y="16006"/>
            <a:chExt cx="98059" cy="1147596"/>
          </a:xfrm>
        </p:grpSpPr>
        <p:sp>
          <p:nvSpPr>
            <p:cNvPr id="23" name="Google Shape;23;p2"/>
            <p:cNvSpPr/>
            <p:nvPr/>
          </p:nvSpPr>
          <p:spPr>
            <a:xfrm>
              <a:off x="3347921" y="1065280"/>
              <a:ext cx="98059" cy="98321"/>
            </a:xfrm>
            <a:custGeom>
              <a:avLst/>
              <a:gdLst/>
              <a:ahLst/>
              <a:cxnLst/>
              <a:rect l="l" t="t" r="r" b="b"/>
              <a:pathLst>
                <a:path w="3742" h="3752" fill="none" extrusionOk="0">
                  <a:moveTo>
                    <a:pt x="0" y="1"/>
                  </a:moveTo>
                  <a:lnTo>
                    <a:pt x="3741" y="1"/>
                  </a:lnTo>
                  <a:lnTo>
                    <a:pt x="3741" y="3751"/>
                  </a:lnTo>
                  <a:lnTo>
                    <a:pt x="0" y="3751"/>
                  </a:lnTo>
                  <a:close/>
                </a:path>
              </a:pathLst>
            </a:custGeom>
            <a:noFill/>
            <a:ln w="2975" cap="flat" cmpd="sng">
              <a:solidFill>
                <a:schemeClr val="accent1"/>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3392705" y="16006"/>
              <a:ext cx="8464" cy="894665"/>
            </a:xfrm>
            <a:custGeom>
              <a:avLst/>
              <a:gdLst/>
              <a:ahLst/>
              <a:cxnLst/>
              <a:rect l="l" t="t" r="r" b="b"/>
              <a:pathLst>
                <a:path w="323" h="34141" extrusionOk="0">
                  <a:moveTo>
                    <a:pt x="157" y="1"/>
                  </a:moveTo>
                  <a:lnTo>
                    <a:pt x="1" y="34141"/>
                  </a:lnTo>
                  <a:lnTo>
                    <a:pt x="323" y="34141"/>
                  </a:lnTo>
                  <a:lnTo>
                    <a:pt x="15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 name="Google Shape;25;p2"/>
          <p:cNvGrpSpPr/>
          <p:nvPr/>
        </p:nvGrpSpPr>
        <p:grpSpPr>
          <a:xfrm>
            <a:off x="4892771" y="-340112"/>
            <a:ext cx="121172" cy="760495"/>
            <a:chOff x="5245196" y="3136513"/>
            <a:chExt cx="121172" cy="760495"/>
          </a:xfrm>
        </p:grpSpPr>
        <p:sp>
          <p:nvSpPr>
            <p:cNvPr id="26" name="Google Shape;26;p2"/>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28;p2"/>
          <p:cNvGrpSpPr/>
          <p:nvPr/>
        </p:nvGrpSpPr>
        <p:grpSpPr>
          <a:xfrm>
            <a:off x="250617" y="2402301"/>
            <a:ext cx="188650" cy="2468354"/>
            <a:chOff x="250617" y="2402301"/>
            <a:chExt cx="188650" cy="2468354"/>
          </a:xfrm>
        </p:grpSpPr>
        <p:sp>
          <p:nvSpPr>
            <p:cNvPr id="29" name="Google Shape;29;p2"/>
            <p:cNvSpPr/>
            <p:nvPr/>
          </p:nvSpPr>
          <p:spPr>
            <a:xfrm>
              <a:off x="250617" y="4681770"/>
              <a:ext cx="188650" cy="188886"/>
            </a:xfrm>
            <a:custGeom>
              <a:avLst/>
              <a:gdLst/>
              <a:ahLst/>
              <a:cxnLst/>
              <a:rect l="l" t="t" r="r" b="b"/>
              <a:pathLst>
                <a:path w="7199" h="7208" fill="none" extrusionOk="0">
                  <a:moveTo>
                    <a:pt x="0" y="1"/>
                  </a:moveTo>
                  <a:lnTo>
                    <a:pt x="7198" y="1"/>
                  </a:lnTo>
                  <a:lnTo>
                    <a:pt x="7198" y="7207"/>
                  </a:lnTo>
                  <a:lnTo>
                    <a:pt x="0" y="7207"/>
                  </a:lnTo>
                  <a:close/>
                </a:path>
              </a:pathLst>
            </a:custGeom>
            <a:noFill/>
            <a:ln w="5750" cap="flat" cmpd="sng">
              <a:solidFill>
                <a:schemeClr val="accent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278316" y="4166291"/>
              <a:ext cx="133226" cy="133226"/>
            </a:xfrm>
            <a:custGeom>
              <a:avLst/>
              <a:gdLst/>
              <a:ahLst/>
              <a:cxnLst/>
              <a:rect l="l" t="t" r="r" b="b"/>
              <a:pathLst>
                <a:path w="5084" h="5084" fill="none" extrusionOk="0">
                  <a:moveTo>
                    <a:pt x="1" y="0"/>
                  </a:moveTo>
                  <a:lnTo>
                    <a:pt x="5084" y="0"/>
                  </a:lnTo>
                  <a:lnTo>
                    <a:pt x="5084" y="5084"/>
                  </a:lnTo>
                  <a:lnTo>
                    <a:pt x="1" y="5084"/>
                  </a:lnTo>
                  <a:close/>
                </a:path>
              </a:pathLst>
            </a:custGeom>
            <a:noFill/>
            <a:ln w="4125" cap="flat" cmpd="sng">
              <a:solidFill>
                <a:schemeClr val="accent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304573" y="3689098"/>
              <a:ext cx="80476" cy="80476"/>
            </a:xfrm>
            <a:custGeom>
              <a:avLst/>
              <a:gdLst/>
              <a:ahLst/>
              <a:cxnLst/>
              <a:rect l="l" t="t" r="r" b="b"/>
              <a:pathLst>
                <a:path w="3071" h="3071" fill="none" extrusionOk="0">
                  <a:moveTo>
                    <a:pt x="1" y="0"/>
                  </a:moveTo>
                  <a:lnTo>
                    <a:pt x="3071" y="0"/>
                  </a:lnTo>
                  <a:lnTo>
                    <a:pt x="3071" y="3071"/>
                  </a:lnTo>
                  <a:lnTo>
                    <a:pt x="1" y="3071"/>
                  </a:lnTo>
                  <a:close/>
                </a:path>
              </a:pathLst>
            </a:custGeom>
            <a:noFill/>
            <a:ln w="2525" cap="flat" cmpd="sng">
              <a:solidFill>
                <a:schemeClr val="accent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340710" y="2402301"/>
              <a:ext cx="8464" cy="1011487"/>
            </a:xfrm>
            <a:custGeom>
              <a:avLst/>
              <a:gdLst/>
              <a:ahLst/>
              <a:cxnLst/>
              <a:rect l="l" t="t" r="r" b="b"/>
              <a:pathLst>
                <a:path w="323" h="38599" extrusionOk="0">
                  <a:moveTo>
                    <a:pt x="157" y="1"/>
                  </a:moveTo>
                  <a:lnTo>
                    <a:pt x="0" y="38599"/>
                  </a:lnTo>
                  <a:lnTo>
                    <a:pt x="322" y="38599"/>
                  </a:lnTo>
                  <a:lnTo>
                    <a:pt x="15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 name="Google Shape;33;p2"/>
          <p:cNvSpPr/>
          <p:nvPr/>
        </p:nvSpPr>
        <p:spPr>
          <a:xfrm>
            <a:off x="8935726" y="10"/>
            <a:ext cx="8464" cy="2519637"/>
          </a:xfrm>
          <a:custGeom>
            <a:avLst/>
            <a:gdLst/>
            <a:ahLst/>
            <a:cxnLst/>
            <a:rect l="l" t="t" r="r" b="b"/>
            <a:pathLst>
              <a:path w="323" h="96151" extrusionOk="0">
                <a:moveTo>
                  <a:pt x="166" y="0"/>
                </a:moveTo>
                <a:lnTo>
                  <a:pt x="1" y="96150"/>
                </a:lnTo>
                <a:lnTo>
                  <a:pt x="323" y="96150"/>
                </a:lnTo>
                <a:lnTo>
                  <a:pt x="16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646863" y="21446"/>
            <a:ext cx="8464" cy="1689069"/>
          </a:xfrm>
          <a:custGeom>
            <a:avLst/>
            <a:gdLst/>
            <a:ahLst/>
            <a:cxnLst/>
            <a:rect l="l" t="t" r="r" b="b"/>
            <a:pathLst>
              <a:path w="323" h="64456" extrusionOk="0">
                <a:moveTo>
                  <a:pt x="166" y="0"/>
                </a:moveTo>
                <a:lnTo>
                  <a:pt x="1" y="64456"/>
                </a:lnTo>
                <a:lnTo>
                  <a:pt x="322" y="64456"/>
                </a:lnTo>
                <a:lnTo>
                  <a:pt x="16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 name="Google Shape;35;p2"/>
          <p:cNvGrpSpPr/>
          <p:nvPr/>
        </p:nvGrpSpPr>
        <p:grpSpPr>
          <a:xfrm>
            <a:off x="2038689" y="173907"/>
            <a:ext cx="57599" cy="831799"/>
            <a:chOff x="2038689" y="173907"/>
            <a:chExt cx="57599" cy="831799"/>
          </a:xfrm>
        </p:grpSpPr>
        <p:sp>
          <p:nvSpPr>
            <p:cNvPr id="36" name="Google Shape;36;p2"/>
            <p:cNvSpPr/>
            <p:nvPr/>
          </p:nvSpPr>
          <p:spPr>
            <a:xfrm>
              <a:off x="2038689" y="947872"/>
              <a:ext cx="57599" cy="57834"/>
            </a:xfrm>
            <a:custGeom>
              <a:avLst/>
              <a:gdLst/>
              <a:ahLst/>
              <a:cxnLst/>
              <a:rect l="l" t="t" r="r" b="b"/>
              <a:pathLst>
                <a:path w="2198" h="2207" fill="none" extrusionOk="0">
                  <a:moveTo>
                    <a:pt x="1" y="0"/>
                  </a:moveTo>
                  <a:lnTo>
                    <a:pt x="2197" y="0"/>
                  </a:lnTo>
                  <a:lnTo>
                    <a:pt x="2197" y="2206"/>
                  </a:lnTo>
                  <a:lnTo>
                    <a:pt x="1" y="2206"/>
                  </a:lnTo>
                  <a:close/>
                </a:path>
              </a:pathLst>
            </a:custGeom>
            <a:noFill/>
            <a:ln w="2975" cap="flat" cmpd="sng">
              <a:solidFill>
                <a:schemeClr val="accent2"/>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2063269" y="173907"/>
              <a:ext cx="8438" cy="692074"/>
            </a:xfrm>
            <a:custGeom>
              <a:avLst/>
              <a:gdLst/>
              <a:ahLst/>
              <a:cxnLst/>
              <a:rect l="l" t="t" r="r" b="b"/>
              <a:pathLst>
                <a:path w="322" h="26410" extrusionOk="0">
                  <a:moveTo>
                    <a:pt x="166" y="1"/>
                  </a:moveTo>
                  <a:lnTo>
                    <a:pt x="0" y="26410"/>
                  </a:lnTo>
                  <a:lnTo>
                    <a:pt x="322" y="26410"/>
                  </a:lnTo>
                  <a:lnTo>
                    <a:pt x="16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8"/>
        <p:cNvGrpSpPr/>
        <p:nvPr/>
      </p:nvGrpSpPr>
      <p:grpSpPr>
        <a:xfrm>
          <a:off x="0" y="0"/>
          <a:ext cx="0" cy="0"/>
          <a:chOff x="0" y="0"/>
          <a:chExt cx="0" cy="0"/>
        </a:xfrm>
      </p:grpSpPr>
      <p:sp>
        <p:nvSpPr>
          <p:cNvPr id="79" name="Google Shape;79;p5"/>
          <p:cNvSpPr txBox="1">
            <a:spLocks noGrp="1"/>
          </p:cNvSpPr>
          <p:nvPr>
            <p:ph type="ctrTitle"/>
          </p:nvPr>
        </p:nvSpPr>
        <p:spPr>
          <a:xfrm>
            <a:off x="923625" y="1196026"/>
            <a:ext cx="982200" cy="5778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rgbClr val="000000"/>
              </a:buClr>
              <a:buSzPts val="1800"/>
              <a:buFont typeface="Fira Sans Condensed Medium"/>
              <a:buNone/>
              <a:defRPr sz="2400">
                <a:solidFill>
                  <a:schemeClr val="lt1"/>
                </a:solidFill>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80" name="Google Shape;80;p5"/>
          <p:cNvSpPr txBox="1">
            <a:spLocks noGrp="1"/>
          </p:cNvSpPr>
          <p:nvPr>
            <p:ph type="subTitle" idx="1"/>
          </p:nvPr>
        </p:nvSpPr>
        <p:spPr>
          <a:xfrm>
            <a:off x="923637" y="1684093"/>
            <a:ext cx="2620500" cy="111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000"/>
              <a:buNone/>
              <a:defRPr sz="14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81" name="Google Shape;81;p5"/>
          <p:cNvSpPr txBox="1">
            <a:spLocks noGrp="1"/>
          </p:cNvSpPr>
          <p:nvPr>
            <p:ph type="ctrTitle" idx="2"/>
          </p:nvPr>
        </p:nvSpPr>
        <p:spPr>
          <a:xfrm>
            <a:off x="7050379" y="1196025"/>
            <a:ext cx="1137300" cy="577800"/>
          </a:xfrm>
          <a:prstGeom prst="rect">
            <a:avLst/>
          </a:prstGeom>
          <a:ln>
            <a:noFill/>
          </a:ln>
        </p:spPr>
        <p:txBody>
          <a:bodyPr spcFirstLastPara="1" wrap="square" lIns="91425" tIns="91425" rIns="91425" bIns="91425" anchor="b" anchorCtr="0">
            <a:noAutofit/>
          </a:bodyPr>
          <a:lstStyle>
            <a:lvl1pPr lvl="0" algn="r" rtl="0">
              <a:spcBef>
                <a:spcPts val="0"/>
              </a:spcBef>
              <a:spcAft>
                <a:spcPts val="0"/>
              </a:spcAft>
              <a:buClr>
                <a:srgbClr val="000000"/>
              </a:buClr>
              <a:buSzPts val="1800"/>
              <a:buFont typeface="Fira Sans Condensed Medium"/>
              <a:buNone/>
              <a:defRPr sz="2400">
                <a:solidFill>
                  <a:schemeClr val="lt1"/>
                </a:solidFill>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82" name="Google Shape;82;p5"/>
          <p:cNvSpPr txBox="1">
            <a:spLocks noGrp="1"/>
          </p:cNvSpPr>
          <p:nvPr>
            <p:ph type="subTitle" idx="3"/>
          </p:nvPr>
        </p:nvSpPr>
        <p:spPr>
          <a:xfrm>
            <a:off x="5450166" y="1684093"/>
            <a:ext cx="2737500" cy="111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000000"/>
              </a:buClr>
              <a:buSzPts val="1000"/>
              <a:buNone/>
              <a:defRPr sz="14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83" name="Google Shape;83;p5"/>
          <p:cNvSpPr txBox="1">
            <a:spLocks noGrp="1"/>
          </p:cNvSpPr>
          <p:nvPr>
            <p:ph type="ctrTitle" idx="4"/>
          </p:nvPr>
        </p:nvSpPr>
        <p:spPr>
          <a:xfrm>
            <a:off x="618825" y="411675"/>
            <a:ext cx="46182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endParaRPr/>
          </a:p>
        </p:txBody>
      </p:sp>
      <p:sp>
        <p:nvSpPr>
          <p:cNvPr id="84" name="Google Shape;84;p5"/>
          <p:cNvSpPr/>
          <p:nvPr/>
        </p:nvSpPr>
        <p:spPr>
          <a:xfrm>
            <a:off x="7131388" y="365350"/>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5"/>
          <p:cNvSpPr/>
          <p:nvPr/>
        </p:nvSpPr>
        <p:spPr>
          <a:xfrm>
            <a:off x="8403188" y="218375"/>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5"/>
          <p:cNvSpPr/>
          <p:nvPr/>
        </p:nvSpPr>
        <p:spPr>
          <a:xfrm>
            <a:off x="7776788" y="362575"/>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5"/>
          <p:cNvSpPr/>
          <p:nvPr/>
        </p:nvSpPr>
        <p:spPr>
          <a:xfrm>
            <a:off x="8539438" y="540950"/>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 name="Google Shape;88;p5"/>
          <p:cNvGrpSpPr/>
          <p:nvPr/>
        </p:nvGrpSpPr>
        <p:grpSpPr>
          <a:xfrm>
            <a:off x="6626134" y="-164562"/>
            <a:ext cx="121172" cy="760495"/>
            <a:chOff x="5245196" y="3136513"/>
            <a:chExt cx="121172" cy="760495"/>
          </a:xfrm>
        </p:grpSpPr>
        <p:sp>
          <p:nvSpPr>
            <p:cNvPr id="89" name="Google Shape;89;p5"/>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5"/>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 name="Google Shape;91;p5"/>
          <p:cNvSpPr/>
          <p:nvPr/>
        </p:nvSpPr>
        <p:spPr>
          <a:xfrm>
            <a:off x="318213" y="4418900"/>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5"/>
          <p:cNvSpPr/>
          <p:nvPr/>
        </p:nvSpPr>
        <p:spPr>
          <a:xfrm>
            <a:off x="454463" y="4741475"/>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3"/>
        <p:cNvGrpSpPr/>
        <p:nvPr/>
      </p:nvGrpSpPr>
      <p:grpSpPr>
        <a:xfrm>
          <a:off x="0" y="0"/>
          <a:ext cx="0" cy="0"/>
          <a:chOff x="0" y="0"/>
          <a:chExt cx="0" cy="0"/>
        </a:xfrm>
      </p:grpSpPr>
      <p:sp>
        <p:nvSpPr>
          <p:cNvPr id="94" name="Google Shape;94;p6"/>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endParaRPr/>
          </a:p>
        </p:txBody>
      </p:sp>
      <p:sp>
        <p:nvSpPr>
          <p:cNvPr id="95" name="Google Shape;95;p6"/>
          <p:cNvSpPr/>
          <p:nvPr/>
        </p:nvSpPr>
        <p:spPr>
          <a:xfrm>
            <a:off x="7573050" y="277375"/>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6"/>
          <p:cNvSpPr/>
          <p:nvPr/>
        </p:nvSpPr>
        <p:spPr>
          <a:xfrm>
            <a:off x="8985850" y="411675"/>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6"/>
          <p:cNvSpPr/>
          <p:nvPr/>
        </p:nvSpPr>
        <p:spPr>
          <a:xfrm>
            <a:off x="8359450" y="555875"/>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6"/>
          <p:cNvSpPr/>
          <p:nvPr/>
        </p:nvSpPr>
        <p:spPr>
          <a:xfrm>
            <a:off x="9122100" y="734250"/>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6"/>
          <p:cNvSpPr/>
          <p:nvPr/>
        </p:nvSpPr>
        <p:spPr>
          <a:xfrm>
            <a:off x="8798600" y="1088650"/>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6"/>
          <p:cNvSpPr/>
          <p:nvPr/>
        </p:nvSpPr>
        <p:spPr>
          <a:xfrm>
            <a:off x="6099342" y="-150600"/>
            <a:ext cx="96045" cy="95462"/>
          </a:xfrm>
          <a:custGeom>
            <a:avLst/>
            <a:gdLst/>
            <a:ahLst/>
            <a:cxnLst/>
            <a:rect l="l" t="t" r="r" b="b"/>
            <a:pathLst>
              <a:path w="3128" h="3109" extrusionOk="0">
                <a:moveTo>
                  <a:pt x="2678" y="431"/>
                </a:moveTo>
                <a:lnTo>
                  <a:pt x="2678" y="2659"/>
                </a:lnTo>
                <a:lnTo>
                  <a:pt x="450" y="2659"/>
                </a:lnTo>
                <a:lnTo>
                  <a:pt x="450" y="431"/>
                </a:lnTo>
                <a:close/>
                <a:moveTo>
                  <a:pt x="0" y="0"/>
                </a:moveTo>
                <a:lnTo>
                  <a:pt x="0" y="3109"/>
                </a:lnTo>
                <a:lnTo>
                  <a:pt x="3128" y="3109"/>
                </a:lnTo>
                <a:lnTo>
                  <a:pt x="312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6"/>
          <p:cNvSpPr/>
          <p:nvPr/>
        </p:nvSpPr>
        <p:spPr>
          <a:xfrm>
            <a:off x="6702523" y="444536"/>
            <a:ext cx="95493" cy="95462"/>
          </a:xfrm>
          <a:custGeom>
            <a:avLst/>
            <a:gdLst/>
            <a:ahLst/>
            <a:cxnLst/>
            <a:rect l="l" t="t" r="r" b="b"/>
            <a:pathLst>
              <a:path w="3110" h="3109" extrusionOk="0">
                <a:moveTo>
                  <a:pt x="2678" y="450"/>
                </a:moveTo>
                <a:lnTo>
                  <a:pt x="2678" y="2678"/>
                </a:lnTo>
                <a:lnTo>
                  <a:pt x="450" y="2678"/>
                </a:lnTo>
                <a:lnTo>
                  <a:pt x="450" y="450"/>
                </a:lnTo>
                <a:close/>
                <a:moveTo>
                  <a:pt x="1" y="0"/>
                </a:moveTo>
                <a:lnTo>
                  <a:pt x="1" y="3109"/>
                </a:lnTo>
                <a:lnTo>
                  <a:pt x="3109" y="3109"/>
                </a:lnTo>
                <a:lnTo>
                  <a:pt x="310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a:off x="5904975" y="143222"/>
            <a:ext cx="82259" cy="82259"/>
          </a:xfrm>
          <a:custGeom>
            <a:avLst/>
            <a:gdLst/>
            <a:ahLst/>
            <a:cxnLst/>
            <a:rect l="l" t="t" r="r" b="b"/>
            <a:pathLst>
              <a:path w="2679" h="2679" extrusionOk="0">
                <a:moveTo>
                  <a:pt x="1" y="1"/>
                </a:moveTo>
                <a:lnTo>
                  <a:pt x="1" y="2679"/>
                </a:lnTo>
                <a:lnTo>
                  <a:pt x="2679" y="2679"/>
                </a:lnTo>
                <a:lnTo>
                  <a:pt x="267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6"/>
          <p:cNvSpPr/>
          <p:nvPr/>
        </p:nvSpPr>
        <p:spPr>
          <a:xfrm>
            <a:off x="303600" y="4401725"/>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6"/>
          <p:cNvSpPr/>
          <p:nvPr/>
        </p:nvSpPr>
        <p:spPr>
          <a:xfrm>
            <a:off x="564075" y="4753900"/>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69"/>
        <p:cNvGrpSpPr/>
        <p:nvPr/>
      </p:nvGrpSpPr>
      <p:grpSpPr>
        <a:xfrm>
          <a:off x="0" y="0"/>
          <a:ext cx="0" cy="0"/>
          <a:chOff x="0" y="0"/>
          <a:chExt cx="0" cy="0"/>
        </a:xfrm>
      </p:grpSpPr>
      <p:sp>
        <p:nvSpPr>
          <p:cNvPr id="170" name="Google Shape;170;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171" name="Google Shape;171;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72" name="Google Shape;172;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list">
  <p:cSld name="CUSTOM_4">
    <p:spTree>
      <p:nvGrpSpPr>
        <p:cNvPr id="1" name="Shape 410"/>
        <p:cNvGrpSpPr/>
        <p:nvPr/>
      </p:nvGrpSpPr>
      <p:grpSpPr>
        <a:xfrm>
          <a:off x="0" y="0"/>
          <a:ext cx="0" cy="0"/>
          <a:chOff x="0" y="0"/>
          <a:chExt cx="0" cy="0"/>
        </a:xfrm>
      </p:grpSpPr>
      <p:sp>
        <p:nvSpPr>
          <p:cNvPr id="411" name="Google Shape;411;p20"/>
          <p:cNvSpPr txBox="1">
            <a:spLocks noGrp="1"/>
          </p:cNvSpPr>
          <p:nvPr>
            <p:ph type="body" idx="1"/>
          </p:nvPr>
        </p:nvSpPr>
        <p:spPr>
          <a:xfrm>
            <a:off x="597375" y="1063525"/>
            <a:ext cx="3908700" cy="3786900"/>
          </a:xfrm>
          <a:prstGeom prst="rect">
            <a:avLst/>
          </a:prstGeom>
        </p:spPr>
        <p:txBody>
          <a:bodyPr spcFirstLastPara="1" wrap="square" lIns="91425" tIns="91425" rIns="91425" bIns="91425" anchor="t" anchorCtr="0">
            <a:noAutofit/>
          </a:bodyPr>
          <a:lstStyle>
            <a:lvl1pPr marL="457200" lvl="0" indent="-292100" rtl="0">
              <a:lnSpc>
                <a:spcPct val="100000"/>
              </a:lnSpc>
              <a:spcBef>
                <a:spcPts val="0"/>
              </a:spcBef>
              <a:spcAft>
                <a:spcPts val="0"/>
              </a:spcAft>
              <a:buSzPts val="1000"/>
              <a:buFont typeface="Livvic Light"/>
              <a:buChar char="●"/>
              <a:defRPr sz="1200"/>
            </a:lvl1pPr>
            <a:lvl2pPr marL="914400" lvl="1" indent="-292100" rtl="0">
              <a:spcBef>
                <a:spcPts val="1600"/>
              </a:spcBef>
              <a:spcAft>
                <a:spcPts val="0"/>
              </a:spcAft>
              <a:buSzPts val="1000"/>
              <a:buFont typeface="Nunito Light"/>
              <a:buChar char="○"/>
              <a:defRPr/>
            </a:lvl2pPr>
            <a:lvl3pPr marL="1371600" lvl="2" indent="-292100" rtl="0">
              <a:spcBef>
                <a:spcPts val="1600"/>
              </a:spcBef>
              <a:spcAft>
                <a:spcPts val="0"/>
              </a:spcAft>
              <a:buSzPts val="1000"/>
              <a:buFont typeface="Nunito Light"/>
              <a:buChar char="■"/>
              <a:defRPr/>
            </a:lvl3pPr>
            <a:lvl4pPr marL="1828800" lvl="3" indent="-292100" rtl="0">
              <a:spcBef>
                <a:spcPts val="1600"/>
              </a:spcBef>
              <a:spcAft>
                <a:spcPts val="0"/>
              </a:spcAft>
              <a:buSzPts val="1000"/>
              <a:buFont typeface="Nunito Light"/>
              <a:buChar char="●"/>
              <a:defRPr/>
            </a:lvl4pPr>
            <a:lvl5pPr marL="2286000" lvl="4" indent="-292100" rtl="0">
              <a:spcBef>
                <a:spcPts val="1600"/>
              </a:spcBef>
              <a:spcAft>
                <a:spcPts val="0"/>
              </a:spcAft>
              <a:buSzPts val="1000"/>
              <a:buFont typeface="Nunito Light"/>
              <a:buChar char="○"/>
              <a:defRPr/>
            </a:lvl5pPr>
            <a:lvl6pPr marL="2743200" lvl="5" indent="-292100" rtl="0">
              <a:spcBef>
                <a:spcPts val="1600"/>
              </a:spcBef>
              <a:spcAft>
                <a:spcPts val="0"/>
              </a:spcAft>
              <a:buSzPts val="1000"/>
              <a:buFont typeface="Nunito Light"/>
              <a:buChar char="■"/>
              <a:defRPr/>
            </a:lvl6pPr>
            <a:lvl7pPr marL="3200400" lvl="6" indent="-292100" rtl="0">
              <a:spcBef>
                <a:spcPts val="1600"/>
              </a:spcBef>
              <a:spcAft>
                <a:spcPts val="0"/>
              </a:spcAft>
              <a:buSzPts val="1000"/>
              <a:buFont typeface="Nunito Light"/>
              <a:buChar char="●"/>
              <a:defRPr/>
            </a:lvl7pPr>
            <a:lvl8pPr marL="3657600" lvl="7" indent="-292100" rtl="0">
              <a:spcBef>
                <a:spcPts val="1600"/>
              </a:spcBef>
              <a:spcAft>
                <a:spcPts val="0"/>
              </a:spcAft>
              <a:buSzPts val="1000"/>
              <a:buFont typeface="Nunito Light"/>
              <a:buChar char="○"/>
              <a:defRPr/>
            </a:lvl8pPr>
            <a:lvl9pPr marL="4114800" lvl="8" indent="-292100" rtl="0">
              <a:spcBef>
                <a:spcPts val="1600"/>
              </a:spcBef>
              <a:spcAft>
                <a:spcPts val="1600"/>
              </a:spcAft>
              <a:buSzPts val="1000"/>
              <a:buFont typeface="Nunito Light"/>
              <a:buChar char="■"/>
              <a:defRPr/>
            </a:lvl9pPr>
          </a:lstStyle>
          <a:p>
            <a:endParaRPr/>
          </a:p>
        </p:txBody>
      </p:sp>
      <p:sp>
        <p:nvSpPr>
          <p:cNvPr id="412" name="Google Shape;412;p20"/>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endParaRPr/>
          </a:p>
        </p:txBody>
      </p:sp>
      <p:sp>
        <p:nvSpPr>
          <p:cNvPr id="413" name="Google Shape;413;p20"/>
          <p:cNvSpPr txBox="1">
            <a:spLocks noGrp="1"/>
          </p:cNvSpPr>
          <p:nvPr>
            <p:ph type="body" idx="2"/>
          </p:nvPr>
        </p:nvSpPr>
        <p:spPr>
          <a:xfrm>
            <a:off x="4690125" y="1063525"/>
            <a:ext cx="3908700" cy="3786900"/>
          </a:xfrm>
          <a:prstGeom prst="rect">
            <a:avLst/>
          </a:prstGeom>
        </p:spPr>
        <p:txBody>
          <a:bodyPr spcFirstLastPara="1" wrap="square" lIns="91425" tIns="91425" rIns="91425" bIns="91425" anchor="t" anchorCtr="0">
            <a:noAutofit/>
          </a:bodyPr>
          <a:lstStyle>
            <a:lvl1pPr marL="457200" lvl="0" indent="-292100" rtl="0">
              <a:lnSpc>
                <a:spcPct val="100000"/>
              </a:lnSpc>
              <a:spcBef>
                <a:spcPts val="0"/>
              </a:spcBef>
              <a:spcAft>
                <a:spcPts val="0"/>
              </a:spcAft>
              <a:buClr>
                <a:srgbClr val="EC5D37"/>
              </a:buClr>
              <a:buSzPts val="1000"/>
              <a:buFont typeface="Livvic Light"/>
              <a:buChar char="●"/>
              <a:defRPr sz="1200"/>
            </a:lvl1pPr>
            <a:lvl2pPr marL="914400" lvl="1" indent="-292100" rtl="0">
              <a:spcBef>
                <a:spcPts val="1600"/>
              </a:spcBef>
              <a:spcAft>
                <a:spcPts val="0"/>
              </a:spcAft>
              <a:buClr>
                <a:srgbClr val="FFC800"/>
              </a:buClr>
              <a:buSzPts val="1000"/>
              <a:buFont typeface="Nunito Light"/>
              <a:buChar char="○"/>
              <a:defRPr/>
            </a:lvl2pPr>
            <a:lvl3pPr marL="1371600" lvl="2" indent="-292100" rtl="0">
              <a:spcBef>
                <a:spcPts val="1600"/>
              </a:spcBef>
              <a:spcAft>
                <a:spcPts val="0"/>
              </a:spcAft>
              <a:buClr>
                <a:srgbClr val="FFC800"/>
              </a:buClr>
              <a:buSzPts val="1000"/>
              <a:buFont typeface="Nunito Light"/>
              <a:buChar char="■"/>
              <a:defRPr/>
            </a:lvl3pPr>
            <a:lvl4pPr marL="1828800" lvl="3" indent="-292100" rtl="0">
              <a:spcBef>
                <a:spcPts val="1600"/>
              </a:spcBef>
              <a:spcAft>
                <a:spcPts val="0"/>
              </a:spcAft>
              <a:buClr>
                <a:srgbClr val="FFC800"/>
              </a:buClr>
              <a:buSzPts val="1000"/>
              <a:buFont typeface="Nunito Light"/>
              <a:buChar char="●"/>
              <a:defRPr/>
            </a:lvl4pPr>
            <a:lvl5pPr marL="2286000" lvl="4" indent="-292100" rtl="0">
              <a:spcBef>
                <a:spcPts val="1600"/>
              </a:spcBef>
              <a:spcAft>
                <a:spcPts val="0"/>
              </a:spcAft>
              <a:buClr>
                <a:srgbClr val="434343"/>
              </a:buClr>
              <a:buSzPts val="1000"/>
              <a:buFont typeface="Nunito Light"/>
              <a:buChar char="○"/>
              <a:defRPr/>
            </a:lvl5pPr>
            <a:lvl6pPr marL="2743200" lvl="5" indent="-292100" rtl="0">
              <a:spcBef>
                <a:spcPts val="1600"/>
              </a:spcBef>
              <a:spcAft>
                <a:spcPts val="0"/>
              </a:spcAft>
              <a:buClr>
                <a:srgbClr val="434343"/>
              </a:buClr>
              <a:buSzPts val="1000"/>
              <a:buFont typeface="Nunito Light"/>
              <a:buChar char="■"/>
              <a:defRPr/>
            </a:lvl6pPr>
            <a:lvl7pPr marL="3200400" lvl="6" indent="-292100" rtl="0">
              <a:spcBef>
                <a:spcPts val="1600"/>
              </a:spcBef>
              <a:spcAft>
                <a:spcPts val="0"/>
              </a:spcAft>
              <a:buClr>
                <a:srgbClr val="434343"/>
              </a:buClr>
              <a:buSzPts val="1000"/>
              <a:buFont typeface="Nunito Light"/>
              <a:buChar char="●"/>
              <a:defRPr/>
            </a:lvl7pPr>
            <a:lvl8pPr marL="3657600" lvl="7" indent="-292100" rtl="0">
              <a:spcBef>
                <a:spcPts val="1600"/>
              </a:spcBef>
              <a:spcAft>
                <a:spcPts val="0"/>
              </a:spcAft>
              <a:buClr>
                <a:srgbClr val="434343"/>
              </a:buClr>
              <a:buSzPts val="1000"/>
              <a:buFont typeface="Nunito Light"/>
              <a:buChar char="○"/>
              <a:defRPr/>
            </a:lvl8pPr>
            <a:lvl9pPr marL="4114800" lvl="8" indent="-292100" rtl="0">
              <a:spcBef>
                <a:spcPts val="1600"/>
              </a:spcBef>
              <a:spcAft>
                <a:spcPts val="1600"/>
              </a:spcAft>
              <a:buClr>
                <a:srgbClr val="434343"/>
              </a:buClr>
              <a:buSzPts val="1000"/>
              <a:buFont typeface="Nunito Light"/>
              <a:buChar char="■"/>
              <a:defRPr/>
            </a:lvl9pPr>
          </a:lstStyle>
          <a:p>
            <a:endParaRPr/>
          </a:p>
        </p:txBody>
      </p:sp>
      <p:sp>
        <p:nvSpPr>
          <p:cNvPr id="414" name="Google Shape;414;p20"/>
          <p:cNvSpPr/>
          <p:nvPr/>
        </p:nvSpPr>
        <p:spPr>
          <a:xfrm>
            <a:off x="8829925" y="1123700"/>
            <a:ext cx="108650" cy="108625"/>
          </a:xfrm>
          <a:custGeom>
            <a:avLst/>
            <a:gdLst/>
            <a:ahLst/>
            <a:cxnLst/>
            <a:rect l="l" t="t" r="r" b="b"/>
            <a:pathLst>
              <a:path w="4346" h="4345" extrusionOk="0">
                <a:moveTo>
                  <a:pt x="4027" y="337"/>
                </a:moveTo>
                <a:lnTo>
                  <a:pt x="4027" y="4008"/>
                </a:lnTo>
                <a:lnTo>
                  <a:pt x="338" y="4008"/>
                </a:lnTo>
                <a:lnTo>
                  <a:pt x="338" y="337"/>
                </a:lnTo>
                <a:close/>
                <a:moveTo>
                  <a:pt x="1" y="0"/>
                </a:moveTo>
                <a:lnTo>
                  <a:pt x="1" y="4345"/>
                </a:lnTo>
                <a:lnTo>
                  <a:pt x="4346" y="4345"/>
                </a:lnTo>
                <a:lnTo>
                  <a:pt x="434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0"/>
          <p:cNvSpPr/>
          <p:nvPr/>
        </p:nvSpPr>
        <p:spPr>
          <a:xfrm>
            <a:off x="9156250" y="1340450"/>
            <a:ext cx="111450" cy="110975"/>
          </a:xfrm>
          <a:custGeom>
            <a:avLst/>
            <a:gdLst/>
            <a:ahLst/>
            <a:cxnLst/>
            <a:rect l="l" t="t" r="r" b="b"/>
            <a:pathLst>
              <a:path w="4458" h="4439" extrusionOk="0">
                <a:moveTo>
                  <a:pt x="4008" y="431"/>
                </a:moveTo>
                <a:lnTo>
                  <a:pt x="4008" y="4008"/>
                </a:lnTo>
                <a:lnTo>
                  <a:pt x="431" y="4008"/>
                </a:lnTo>
                <a:lnTo>
                  <a:pt x="431" y="431"/>
                </a:lnTo>
                <a:close/>
                <a:moveTo>
                  <a:pt x="0" y="1"/>
                </a:moveTo>
                <a:lnTo>
                  <a:pt x="0" y="4439"/>
                </a:lnTo>
                <a:lnTo>
                  <a:pt x="4457" y="4439"/>
                </a:lnTo>
                <a:lnTo>
                  <a:pt x="445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0"/>
          <p:cNvSpPr/>
          <p:nvPr/>
        </p:nvSpPr>
        <p:spPr>
          <a:xfrm>
            <a:off x="5809850" y="214400"/>
            <a:ext cx="108625" cy="108625"/>
          </a:xfrm>
          <a:custGeom>
            <a:avLst/>
            <a:gdLst/>
            <a:ahLst/>
            <a:cxnLst/>
            <a:rect l="l" t="t" r="r" b="b"/>
            <a:pathLst>
              <a:path w="4345" h="4345" extrusionOk="0">
                <a:moveTo>
                  <a:pt x="4008" y="337"/>
                </a:moveTo>
                <a:lnTo>
                  <a:pt x="4008" y="4008"/>
                </a:lnTo>
                <a:lnTo>
                  <a:pt x="337" y="4008"/>
                </a:lnTo>
                <a:lnTo>
                  <a:pt x="337" y="337"/>
                </a:lnTo>
                <a:close/>
                <a:moveTo>
                  <a:pt x="0" y="0"/>
                </a:moveTo>
                <a:lnTo>
                  <a:pt x="0" y="4345"/>
                </a:lnTo>
                <a:lnTo>
                  <a:pt x="4345" y="4345"/>
                </a:lnTo>
                <a:lnTo>
                  <a:pt x="434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0"/>
          <p:cNvSpPr/>
          <p:nvPr/>
        </p:nvSpPr>
        <p:spPr>
          <a:xfrm>
            <a:off x="7079800" y="420088"/>
            <a:ext cx="164825" cy="164375"/>
          </a:xfrm>
          <a:custGeom>
            <a:avLst/>
            <a:gdLst/>
            <a:ahLst/>
            <a:cxnLst/>
            <a:rect l="l" t="t" r="r" b="b"/>
            <a:pathLst>
              <a:path w="6593" h="6575" extrusionOk="0">
                <a:moveTo>
                  <a:pt x="6256" y="338"/>
                </a:moveTo>
                <a:lnTo>
                  <a:pt x="6256" y="6237"/>
                </a:lnTo>
                <a:lnTo>
                  <a:pt x="338" y="6237"/>
                </a:lnTo>
                <a:lnTo>
                  <a:pt x="338" y="338"/>
                </a:lnTo>
                <a:close/>
                <a:moveTo>
                  <a:pt x="1" y="1"/>
                </a:moveTo>
                <a:lnTo>
                  <a:pt x="1" y="6574"/>
                </a:lnTo>
                <a:lnTo>
                  <a:pt x="6593" y="6574"/>
                </a:lnTo>
                <a:lnTo>
                  <a:pt x="659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0"/>
          <p:cNvSpPr/>
          <p:nvPr/>
        </p:nvSpPr>
        <p:spPr>
          <a:xfrm>
            <a:off x="7952700" y="278513"/>
            <a:ext cx="44975" cy="44500"/>
          </a:xfrm>
          <a:custGeom>
            <a:avLst/>
            <a:gdLst/>
            <a:ahLst/>
            <a:cxnLst/>
            <a:rect l="l" t="t" r="r" b="b"/>
            <a:pathLst>
              <a:path w="1799" h="1780" extrusionOk="0">
                <a:moveTo>
                  <a:pt x="1" y="1"/>
                </a:moveTo>
                <a:lnTo>
                  <a:pt x="1" y="1780"/>
                </a:lnTo>
                <a:lnTo>
                  <a:pt x="1798" y="1780"/>
                </a:lnTo>
                <a:lnTo>
                  <a:pt x="179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0"/>
          <p:cNvSpPr/>
          <p:nvPr/>
        </p:nvSpPr>
        <p:spPr>
          <a:xfrm>
            <a:off x="7372450" y="-69325"/>
            <a:ext cx="155925" cy="155925"/>
          </a:xfrm>
          <a:custGeom>
            <a:avLst/>
            <a:gdLst/>
            <a:ahLst/>
            <a:cxnLst/>
            <a:rect l="l" t="t" r="r" b="b"/>
            <a:pathLst>
              <a:path w="6237" h="6237" extrusionOk="0">
                <a:moveTo>
                  <a:pt x="0" y="0"/>
                </a:moveTo>
                <a:lnTo>
                  <a:pt x="0" y="6236"/>
                </a:lnTo>
                <a:lnTo>
                  <a:pt x="6236" y="6236"/>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0"/>
          <p:cNvSpPr/>
          <p:nvPr/>
        </p:nvSpPr>
        <p:spPr>
          <a:xfrm>
            <a:off x="8464275" y="355050"/>
            <a:ext cx="155925" cy="156400"/>
          </a:xfrm>
          <a:custGeom>
            <a:avLst/>
            <a:gdLst/>
            <a:ahLst/>
            <a:cxnLst/>
            <a:rect l="l" t="t" r="r" b="b"/>
            <a:pathLst>
              <a:path w="6237" h="6256" extrusionOk="0">
                <a:moveTo>
                  <a:pt x="1" y="1"/>
                </a:moveTo>
                <a:lnTo>
                  <a:pt x="1" y="6256"/>
                </a:lnTo>
                <a:lnTo>
                  <a:pt x="6237" y="6256"/>
                </a:lnTo>
                <a:lnTo>
                  <a:pt x="623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0"/>
          <p:cNvSpPr/>
          <p:nvPr/>
        </p:nvSpPr>
        <p:spPr>
          <a:xfrm>
            <a:off x="7264275" y="607363"/>
            <a:ext cx="122675" cy="122675"/>
          </a:xfrm>
          <a:custGeom>
            <a:avLst/>
            <a:gdLst/>
            <a:ahLst/>
            <a:cxnLst/>
            <a:rect l="l" t="t" r="r" b="b"/>
            <a:pathLst>
              <a:path w="4907" h="4907" extrusionOk="0">
                <a:moveTo>
                  <a:pt x="0" y="1"/>
                </a:moveTo>
                <a:lnTo>
                  <a:pt x="0" y="4907"/>
                </a:lnTo>
                <a:lnTo>
                  <a:pt x="4907" y="4907"/>
                </a:lnTo>
                <a:lnTo>
                  <a:pt x="49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0"/>
          <p:cNvSpPr/>
          <p:nvPr/>
        </p:nvSpPr>
        <p:spPr>
          <a:xfrm>
            <a:off x="6298850" y="907625"/>
            <a:ext cx="155925" cy="155900"/>
          </a:xfrm>
          <a:custGeom>
            <a:avLst/>
            <a:gdLst/>
            <a:ahLst/>
            <a:cxnLst/>
            <a:rect l="l" t="t" r="r" b="b"/>
            <a:pathLst>
              <a:path w="6237" h="6236" extrusionOk="0">
                <a:moveTo>
                  <a:pt x="1" y="0"/>
                </a:moveTo>
                <a:lnTo>
                  <a:pt x="1" y="6236"/>
                </a:lnTo>
                <a:lnTo>
                  <a:pt x="6237" y="6236"/>
                </a:lnTo>
                <a:lnTo>
                  <a:pt x="62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0"/>
          <p:cNvSpPr/>
          <p:nvPr/>
        </p:nvSpPr>
        <p:spPr>
          <a:xfrm>
            <a:off x="-83000" y="4540463"/>
            <a:ext cx="164825" cy="164375"/>
          </a:xfrm>
          <a:custGeom>
            <a:avLst/>
            <a:gdLst/>
            <a:ahLst/>
            <a:cxnLst/>
            <a:rect l="l" t="t" r="r" b="b"/>
            <a:pathLst>
              <a:path w="6593" h="6575" extrusionOk="0">
                <a:moveTo>
                  <a:pt x="6256" y="338"/>
                </a:moveTo>
                <a:lnTo>
                  <a:pt x="6256" y="6237"/>
                </a:lnTo>
                <a:lnTo>
                  <a:pt x="338" y="6237"/>
                </a:lnTo>
                <a:lnTo>
                  <a:pt x="338" y="338"/>
                </a:lnTo>
                <a:close/>
                <a:moveTo>
                  <a:pt x="1" y="1"/>
                </a:moveTo>
                <a:lnTo>
                  <a:pt x="1" y="6574"/>
                </a:lnTo>
                <a:lnTo>
                  <a:pt x="6593" y="6574"/>
                </a:lnTo>
                <a:lnTo>
                  <a:pt x="659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0"/>
          <p:cNvSpPr/>
          <p:nvPr/>
        </p:nvSpPr>
        <p:spPr>
          <a:xfrm>
            <a:off x="101475" y="4727738"/>
            <a:ext cx="122675" cy="122675"/>
          </a:xfrm>
          <a:custGeom>
            <a:avLst/>
            <a:gdLst/>
            <a:ahLst/>
            <a:cxnLst/>
            <a:rect l="l" t="t" r="r" b="b"/>
            <a:pathLst>
              <a:path w="4907" h="4907" extrusionOk="0">
                <a:moveTo>
                  <a:pt x="0" y="1"/>
                </a:moveTo>
                <a:lnTo>
                  <a:pt x="0" y="4907"/>
                </a:lnTo>
                <a:lnTo>
                  <a:pt x="4907" y="4907"/>
                </a:lnTo>
                <a:lnTo>
                  <a:pt x="49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CUSTOM_5">
    <p:spTree>
      <p:nvGrpSpPr>
        <p:cNvPr id="1" name="Shape 425"/>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2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1pPr>
            <a:lvl2pPr lvl="1">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2pPr>
            <a:lvl3pPr lvl="2">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3pPr>
            <a:lvl4pPr lvl="3">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4pPr>
            <a:lvl5pPr lvl="4">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5pPr>
            <a:lvl6pPr lvl="5">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6pPr>
            <a:lvl7pPr lvl="6">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7pPr>
            <a:lvl8pPr lvl="7">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8pPr>
            <a:lvl9pPr lvl="8">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lt1"/>
              </a:buClr>
              <a:buSzPts val="1800"/>
              <a:buFont typeface="Maven Pro"/>
              <a:buChar char="●"/>
              <a:defRPr sz="1800">
                <a:solidFill>
                  <a:schemeClr val="lt1"/>
                </a:solidFill>
                <a:latin typeface="Maven Pro"/>
                <a:ea typeface="Maven Pro"/>
                <a:cs typeface="Maven Pro"/>
                <a:sym typeface="Maven Pro"/>
              </a:defRPr>
            </a:lvl1pPr>
            <a:lvl2pPr marL="914400" lvl="1"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2pPr>
            <a:lvl3pPr marL="1371600" lvl="2"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3pPr>
            <a:lvl4pPr marL="1828800" lvl="3"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4pPr>
            <a:lvl5pPr marL="2286000" lvl="4"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5pPr>
            <a:lvl6pPr marL="2743200" lvl="5"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6pPr>
            <a:lvl7pPr marL="3200400" lvl="6"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7pPr>
            <a:lvl8pPr marL="3657600" lvl="7"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8pPr>
            <a:lvl9pPr marL="4114800" lvl="8" indent="-317500">
              <a:lnSpc>
                <a:spcPct val="115000"/>
              </a:lnSpc>
              <a:spcBef>
                <a:spcPts val="1600"/>
              </a:spcBef>
              <a:spcAft>
                <a:spcPts val="1600"/>
              </a:spcAft>
              <a:buClr>
                <a:schemeClr val="lt1"/>
              </a:buClr>
              <a:buSzPts val="1400"/>
              <a:buFont typeface="Maven Pro"/>
              <a:buChar char="■"/>
              <a:defRPr>
                <a:solidFill>
                  <a:schemeClr val="lt1"/>
                </a:solidFill>
                <a:latin typeface="Maven Pro"/>
                <a:ea typeface="Maven Pro"/>
                <a:cs typeface="Maven Pro"/>
                <a:sym typeface="Maven Pr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5" r:id="rId4"/>
    <p:sldLayoutId id="2147483666" r:id="rId5"/>
    <p:sldLayoutId id="2147483667" r:id="rId6"/>
    <p:sldLayoutId id="2147483668" r:id="rId7"/>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blog.devgenius.io/mastering-the-rush-hour-puzzle-how-bfs-can-help-you-find-the-shortest-solution-f2107eb6f19" TargetMode="External"/><Relationship Id="rId7" Type="http://schemas.openxmlformats.org/officeDocument/2006/relationships/hyperlink" Target="https://github.com/KaKariki02/rushHour" TargetMode="External"/><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hyperlink" Target="https://ursinus-cs477-f2021.github.io/CoursePage/index.html" TargetMode="External"/><Relationship Id="rId5" Type="http://schemas.openxmlformats.org/officeDocument/2006/relationships/hyperlink" Target="https://chat.openai.com/" TargetMode="External"/><Relationship Id="rId4" Type="http://schemas.openxmlformats.org/officeDocument/2006/relationships/hyperlink" Target="https://ursinus-cs477-f2021.github.io/CoursePage/Assignments/HW2_RushHou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25"/>
          <p:cNvSpPr txBox="1">
            <a:spLocks noGrp="1"/>
          </p:cNvSpPr>
          <p:nvPr>
            <p:ph type="subTitle" idx="1"/>
          </p:nvPr>
        </p:nvSpPr>
        <p:spPr>
          <a:xfrm>
            <a:off x="2381042" y="3318109"/>
            <a:ext cx="3295500" cy="91719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tabLst>
                <a:tab pos="1077913" algn="l"/>
              </a:tabLst>
            </a:pPr>
            <a:r>
              <a:rPr lang="en" sz="1200" dirty="0"/>
              <a:t>Beatriz Pereira	202304769</a:t>
            </a:r>
          </a:p>
          <a:p>
            <a:pPr marL="0" lvl="0" indent="0" algn="l" rtl="0">
              <a:spcBef>
                <a:spcPts val="0"/>
              </a:spcBef>
              <a:spcAft>
                <a:spcPts val="0"/>
              </a:spcAft>
              <a:buNone/>
              <a:tabLst>
                <a:tab pos="1077913" algn="l"/>
              </a:tabLst>
            </a:pPr>
            <a:r>
              <a:rPr lang="en" sz="1200" dirty="0"/>
              <a:t>Carolina Leite	202307856</a:t>
            </a:r>
          </a:p>
          <a:p>
            <a:pPr marL="0" lvl="0" indent="0" algn="l" rtl="0">
              <a:spcBef>
                <a:spcPts val="0"/>
              </a:spcBef>
              <a:spcAft>
                <a:spcPts val="0"/>
              </a:spcAft>
              <a:buNone/>
              <a:tabLst>
                <a:tab pos="1077913" algn="l"/>
              </a:tabLst>
            </a:pPr>
            <a:r>
              <a:rPr lang="en" sz="1200" dirty="0"/>
              <a:t>Inês Santos	202305589</a:t>
            </a:r>
            <a:endParaRPr sz="1200" dirty="0"/>
          </a:p>
        </p:txBody>
      </p:sp>
      <p:sp>
        <p:nvSpPr>
          <p:cNvPr id="436" name="Google Shape;436;p25"/>
          <p:cNvSpPr txBox="1">
            <a:spLocks noGrp="1"/>
          </p:cNvSpPr>
          <p:nvPr>
            <p:ph type="ctrTitle"/>
          </p:nvPr>
        </p:nvSpPr>
        <p:spPr>
          <a:xfrm>
            <a:off x="1613695" y="416036"/>
            <a:ext cx="60207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Rush Hour Puzzle</a:t>
            </a:r>
            <a:endParaRPr dirty="0"/>
          </a:p>
        </p:txBody>
      </p:sp>
      <p:sp>
        <p:nvSpPr>
          <p:cNvPr id="437" name="Google Shape;437;p25"/>
          <p:cNvSpPr/>
          <p:nvPr/>
        </p:nvSpPr>
        <p:spPr>
          <a:xfrm>
            <a:off x="1917281" y="4715495"/>
            <a:ext cx="121434" cy="121434"/>
          </a:xfrm>
          <a:custGeom>
            <a:avLst/>
            <a:gdLst/>
            <a:ahLst/>
            <a:cxnLst/>
            <a:rect l="l" t="t" r="r" b="b"/>
            <a:pathLst>
              <a:path w="4634" h="4634" extrusionOk="0">
                <a:moveTo>
                  <a:pt x="1" y="0"/>
                </a:moveTo>
                <a:lnTo>
                  <a:pt x="1" y="4633"/>
                </a:lnTo>
                <a:lnTo>
                  <a:pt x="4634" y="4633"/>
                </a:lnTo>
                <a:lnTo>
                  <a:pt x="46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5"/>
          <p:cNvSpPr/>
          <p:nvPr/>
        </p:nvSpPr>
        <p:spPr>
          <a:xfrm>
            <a:off x="7047944" y="3537816"/>
            <a:ext cx="57834" cy="57834"/>
          </a:xfrm>
          <a:custGeom>
            <a:avLst/>
            <a:gdLst/>
            <a:ahLst/>
            <a:cxnLst/>
            <a:rect l="l" t="t" r="r" b="b"/>
            <a:pathLst>
              <a:path w="2207" h="2207" fill="none" extrusionOk="0">
                <a:moveTo>
                  <a:pt x="0" y="1"/>
                </a:moveTo>
                <a:lnTo>
                  <a:pt x="2206" y="1"/>
                </a:lnTo>
                <a:lnTo>
                  <a:pt x="2206" y="2207"/>
                </a:lnTo>
                <a:lnTo>
                  <a:pt x="0" y="2207"/>
                </a:lnTo>
                <a:close/>
              </a:path>
            </a:pathLst>
          </a:custGeom>
          <a:noFill/>
          <a:ln w="1375" cap="flat" cmpd="sng">
            <a:solidFill>
              <a:schemeClr val="accent1"/>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5"/>
          <p:cNvSpPr/>
          <p:nvPr/>
        </p:nvSpPr>
        <p:spPr>
          <a:xfrm>
            <a:off x="1672156" y="2613041"/>
            <a:ext cx="104086" cy="104322"/>
          </a:xfrm>
          <a:custGeom>
            <a:avLst/>
            <a:gdLst/>
            <a:ahLst/>
            <a:cxnLst/>
            <a:rect l="l" t="t" r="r" b="b"/>
            <a:pathLst>
              <a:path w="3972" h="3981" fill="none" extrusionOk="0">
                <a:moveTo>
                  <a:pt x="1" y="1"/>
                </a:moveTo>
                <a:lnTo>
                  <a:pt x="3972" y="1"/>
                </a:lnTo>
                <a:lnTo>
                  <a:pt x="3972" y="3981"/>
                </a:lnTo>
                <a:lnTo>
                  <a:pt x="1" y="3981"/>
                </a:lnTo>
                <a:close/>
              </a:path>
            </a:pathLst>
          </a:custGeom>
          <a:noFill/>
          <a:ln w="2975" cap="flat" cmpd="sng">
            <a:solidFill>
              <a:schemeClr val="accent2"/>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5"/>
          <p:cNvSpPr/>
          <p:nvPr/>
        </p:nvSpPr>
        <p:spPr>
          <a:xfrm>
            <a:off x="7105778" y="751888"/>
            <a:ext cx="80476" cy="80476"/>
          </a:xfrm>
          <a:custGeom>
            <a:avLst/>
            <a:gdLst/>
            <a:ahLst/>
            <a:cxnLst/>
            <a:rect l="l" t="t" r="r" b="b"/>
            <a:pathLst>
              <a:path w="3071" h="3071" extrusionOk="0">
                <a:moveTo>
                  <a:pt x="1" y="1"/>
                </a:moveTo>
                <a:lnTo>
                  <a:pt x="1" y="3071"/>
                </a:lnTo>
                <a:lnTo>
                  <a:pt x="3071" y="3071"/>
                </a:lnTo>
                <a:lnTo>
                  <a:pt x="307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5"/>
          <p:cNvSpPr/>
          <p:nvPr/>
        </p:nvSpPr>
        <p:spPr>
          <a:xfrm>
            <a:off x="7312359" y="2744505"/>
            <a:ext cx="119993" cy="119966"/>
          </a:xfrm>
          <a:custGeom>
            <a:avLst/>
            <a:gdLst/>
            <a:ahLst/>
            <a:cxnLst/>
            <a:rect l="l" t="t" r="r" b="b"/>
            <a:pathLst>
              <a:path w="4579" h="4578" extrusionOk="0">
                <a:moveTo>
                  <a:pt x="1" y="0"/>
                </a:moveTo>
                <a:lnTo>
                  <a:pt x="1" y="4578"/>
                </a:lnTo>
                <a:lnTo>
                  <a:pt x="4578" y="4578"/>
                </a:lnTo>
                <a:lnTo>
                  <a:pt x="457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5"/>
          <p:cNvSpPr/>
          <p:nvPr/>
        </p:nvSpPr>
        <p:spPr>
          <a:xfrm>
            <a:off x="2924242" y="4302208"/>
            <a:ext cx="119993" cy="119993"/>
          </a:xfrm>
          <a:custGeom>
            <a:avLst/>
            <a:gdLst/>
            <a:ahLst/>
            <a:cxnLst/>
            <a:rect l="l" t="t" r="r" b="b"/>
            <a:pathLst>
              <a:path w="4579" h="4579" extrusionOk="0">
                <a:moveTo>
                  <a:pt x="0" y="1"/>
                </a:moveTo>
                <a:lnTo>
                  <a:pt x="0" y="4578"/>
                </a:lnTo>
                <a:lnTo>
                  <a:pt x="4578" y="4578"/>
                </a:lnTo>
                <a:lnTo>
                  <a:pt x="45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3" name="Google Shape;443;p25"/>
          <p:cNvGrpSpPr/>
          <p:nvPr/>
        </p:nvGrpSpPr>
        <p:grpSpPr>
          <a:xfrm>
            <a:off x="6232314" y="3696331"/>
            <a:ext cx="121434" cy="1073147"/>
            <a:chOff x="6232314" y="3696331"/>
            <a:chExt cx="121434" cy="1073147"/>
          </a:xfrm>
        </p:grpSpPr>
        <p:sp>
          <p:nvSpPr>
            <p:cNvPr id="444" name="Google Shape;444;p25"/>
            <p:cNvSpPr/>
            <p:nvPr/>
          </p:nvSpPr>
          <p:spPr>
            <a:xfrm>
              <a:off x="6232314" y="4648280"/>
              <a:ext cx="121434" cy="121198"/>
            </a:xfrm>
            <a:custGeom>
              <a:avLst/>
              <a:gdLst/>
              <a:ahLst/>
              <a:cxnLst/>
              <a:rect l="l" t="t" r="r" b="b"/>
              <a:pathLst>
                <a:path w="4634" h="4625" extrusionOk="0">
                  <a:moveTo>
                    <a:pt x="0" y="1"/>
                  </a:moveTo>
                  <a:lnTo>
                    <a:pt x="0" y="4624"/>
                  </a:lnTo>
                  <a:lnTo>
                    <a:pt x="4633" y="4624"/>
                  </a:lnTo>
                  <a:lnTo>
                    <a:pt x="463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5"/>
            <p:cNvSpPr/>
            <p:nvPr/>
          </p:nvSpPr>
          <p:spPr>
            <a:xfrm>
              <a:off x="6288681" y="3696331"/>
              <a:ext cx="8700" cy="872731"/>
            </a:xfrm>
            <a:custGeom>
              <a:avLst/>
              <a:gdLst/>
              <a:ahLst/>
              <a:cxnLst/>
              <a:rect l="l" t="t" r="r" b="b"/>
              <a:pathLst>
                <a:path w="332" h="33304" extrusionOk="0">
                  <a:moveTo>
                    <a:pt x="166" y="0"/>
                  </a:moveTo>
                  <a:lnTo>
                    <a:pt x="0" y="33304"/>
                  </a:lnTo>
                  <a:lnTo>
                    <a:pt x="331" y="33304"/>
                  </a:lnTo>
                  <a:lnTo>
                    <a:pt x="16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3" name="Google Shape;453;p25"/>
          <p:cNvSpPr/>
          <p:nvPr/>
        </p:nvSpPr>
        <p:spPr>
          <a:xfrm>
            <a:off x="2355692" y="3696328"/>
            <a:ext cx="8464" cy="2519663"/>
          </a:xfrm>
          <a:custGeom>
            <a:avLst/>
            <a:gdLst/>
            <a:ahLst/>
            <a:cxnLst/>
            <a:rect l="l" t="t" r="r" b="b"/>
            <a:pathLst>
              <a:path w="323" h="96152" extrusionOk="0">
                <a:moveTo>
                  <a:pt x="166" y="1"/>
                </a:moveTo>
                <a:lnTo>
                  <a:pt x="1" y="96151"/>
                </a:lnTo>
                <a:lnTo>
                  <a:pt x="322" y="96151"/>
                </a:lnTo>
                <a:lnTo>
                  <a:pt x="16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5"/>
          <p:cNvSpPr/>
          <p:nvPr/>
        </p:nvSpPr>
        <p:spPr>
          <a:xfrm>
            <a:off x="7446601" y="3454956"/>
            <a:ext cx="8464" cy="1689096"/>
          </a:xfrm>
          <a:custGeom>
            <a:avLst/>
            <a:gdLst/>
            <a:ahLst/>
            <a:cxnLst/>
            <a:rect l="l" t="t" r="r" b="b"/>
            <a:pathLst>
              <a:path w="323" h="64457" extrusionOk="0">
                <a:moveTo>
                  <a:pt x="157" y="1"/>
                </a:moveTo>
                <a:lnTo>
                  <a:pt x="0" y="64456"/>
                </a:lnTo>
                <a:lnTo>
                  <a:pt x="322" y="64456"/>
                </a:lnTo>
                <a:lnTo>
                  <a:pt x="15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5" name="Google Shape;455;p25"/>
          <p:cNvGrpSpPr/>
          <p:nvPr/>
        </p:nvGrpSpPr>
        <p:grpSpPr>
          <a:xfrm>
            <a:off x="8008096" y="2108910"/>
            <a:ext cx="199001" cy="2139769"/>
            <a:chOff x="8008096" y="2108910"/>
            <a:chExt cx="199001" cy="2139769"/>
          </a:xfrm>
        </p:grpSpPr>
        <p:sp>
          <p:nvSpPr>
            <p:cNvPr id="456" name="Google Shape;456;p25"/>
            <p:cNvSpPr/>
            <p:nvPr/>
          </p:nvSpPr>
          <p:spPr>
            <a:xfrm>
              <a:off x="8008096" y="4049705"/>
              <a:ext cx="199001" cy="198975"/>
            </a:xfrm>
            <a:custGeom>
              <a:avLst/>
              <a:gdLst/>
              <a:ahLst/>
              <a:cxnLst/>
              <a:rect l="l" t="t" r="r" b="b"/>
              <a:pathLst>
                <a:path w="7594" h="7593" extrusionOk="0">
                  <a:moveTo>
                    <a:pt x="1" y="0"/>
                  </a:moveTo>
                  <a:lnTo>
                    <a:pt x="1" y="7593"/>
                  </a:lnTo>
                  <a:lnTo>
                    <a:pt x="7593" y="7593"/>
                  </a:lnTo>
                  <a:lnTo>
                    <a:pt x="759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5"/>
            <p:cNvSpPr/>
            <p:nvPr/>
          </p:nvSpPr>
          <p:spPr>
            <a:xfrm>
              <a:off x="8103246" y="2108910"/>
              <a:ext cx="8464" cy="1793863"/>
            </a:xfrm>
            <a:custGeom>
              <a:avLst/>
              <a:gdLst/>
              <a:ahLst/>
              <a:cxnLst/>
              <a:rect l="l" t="t" r="r" b="b"/>
              <a:pathLst>
                <a:path w="323" h="68455" extrusionOk="0">
                  <a:moveTo>
                    <a:pt x="166" y="1"/>
                  </a:moveTo>
                  <a:lnTo>
                    <a:pt x="0" y="68455"/>
                  </a:lnTo>
                  <a:lnTo>
                    <a:pt x="322" y="68455"/>
                  </a:lnTo>
                  <a:lnTo>
                    <a:pt x="16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8" name="Google Shape;458;p25"/>
          <p:cNvGrpSpPr/>
          <p:nvPr/>
        </p:nvGrpSpPr>
        <p:grpSpPr>
          <a:xfrm>
            <a:off x="4472500" y="3928605"/>
            <a:ext cx="199001" cy="867198"/>
            <a:chOff x="4475150" y="4052605"/>
            <a:chExt cx="199001" cy="867198"/>
          </a:xfrm>
        </p:grpSpPr>
        <p:sp>
          <p:nvSpPr>
            <p:cNvPr id="459" name="Google Shape;459;p25"/>
            <p:cNvSpPr/>
            <p:nvPr/>
          </p:nvSpPr>
          <p:spPr>
            <a:xfrm>
              <a:off x="4475150" y="4052605"/>
              <a:ext cx="199001" cy="220121"/>
            </a:xfrm>
            <a:custGeom>
              <a:avLst/>
              <a:gdLst/>
              <a:ahLst/>
              <a:cxnLst/>
              <a:rect l="l" t="t" r="r" b="b"/>
              <a:pathLst>
                <a:path w="7594" h="7593" extrusionOk="0">
                  <a:moveTo>
                    <a:pt x="1" y="0"/>
                  </a:moveTo>
                  <a:lnTo>
                    <a:pt x="1" y="7593"/>
                  </a:lnTo>
                  <a:lnTo>
                    <a:pt x="7593" y="7593"/>
                  </a:lnTo>
                  <a:lnTo>
                    <a:pt x="759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5"/>
            <p:cNvSpPr/>
            <p:nvPr/>
          </p:nvSpPr>
          <p:spPr>
            <a:xfrm>
              <a:off x="4522600" y="4494201"/>
              <a:ext cx="104095" cy="115148"/>
            </a:xfrm>
            <a:custGeom>
              <a:avLst/>
              <a:gdLst/>
              <a:ahLst/>
              <a:cxnLst/>
              <a:rect l="l" t="t" r="r" b="b"/>
              <a:pathLst>
                <a:path w="7594" h="7593" extrusionOk="0">
                  <a:moveTo>
                    <a:pt x="1" y="0"/>
                  </a:moveTo>
                  <a:lnTo>
                    <a:pt x="1" y="7593"/>
                  </a:lnTo>
                  <a:lnTo>
                    <a:pt x="7593" y="7593"/>
                  </a:lnTo>
                  <a:lnTo>
                    <a:pt x="759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5"/>
            <p:cNvSpPr/>
            <p:nvPr/>
          </p:nvSpPr>
          <p:spPr>
            <a:xfrm>
              <a:off x="4534403" y="4830814"/>
              <a:ext cx="80477" cy="88990"/>
            </a:xfrm>
            <a:custGeom>
              <a:avLst/>
              <a:gdLst/>
              <a:ahLst/>
              <a:cxnLst/>
              <a:rect l="l" t="t" r="r" b="b"/>
              <a:pathLst>
                <a:path w="7594" h="7593" extrusionOk="0">
                  <a:moveTo>
                    <a:pt x="1" y="0"/>
                  </a:moveTo>
                  <a:lnTo>
                    <a:pt x="1" y="7593"/>
                  </a:lnTo>
                  <a:lnTo>
                    <a:pt x="7593" y="7593"/>
                  </a:lnTo>
                  <a:lnTo>
                    <a:pt x="759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435;p25">
            <a:extLst>
              <a:ext uri="{FF2B5EF4-FFF2-40B4-BE49-F238E27FC236}">
                <a16:creationId xmlns:a16="http://schemas.microsoft.com/office/drawing/2014/main" id="{307B33ED-39FC-E27B-4D5B-B2EDD1E29877}"/>
              </a:ext>
            </a:extLst>
          </p:cNvPr>
          <p:cNvSpPr txBox="1">
            <a:spLocks/>
          </p:cNvSpPr>
          <p:nvPr/>
        </p:nvSpPr>
        <p:spPr>
          <a:xfrm>
            <a:off x="2355692" y="2545437"/>
            <a:ext cx="4545911" cy="6321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lt1"/>
              </a:buClr>
              <a:buSzPts val="2800"/>
              <a:buFont typeface="Maven Pro"/>
              <a:buNone/>
              <a:defRPr sz="1800" b="0" i="0" u="none" strike="noStrike" cap="none">
                <a:solidFill>
                  <a:schemeClr val="lt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9pPr>
          </a:lstStyle>
          <a:p>
            <a:pPr marL="0" indent="0" algn="l"/>
            <a:r>
              <a:rPr lang="pt-PT" sz="1600" dirty="0">
                <a:latin typeface="Share Tech" panose="020B0604020202020204" charset="0"/>
              </a:rPr>
              <a:t>Elementos de Inteligência Artificial e Ciência de Dados</a:t>
            </a:r>
          </a:p>
          <a:p>
            <a:pPr marL="0" indent="0" algn="l"/>
            <a:r>
              <a:rPr lang="pt-PT" sz="1200" dirty="0">
                <a:latin typeface="Share Tech" panose="020B0604020202020204" charset="0"/>
              </a:rPr>
              <a:t>abril.2024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5E6B58C6-49E2-4824-FD19-73F1320198FF}"/>
              </a:ext>
            </a:extLst>
          </p:cNvPr>
          <p:cNvSpPr>
            <a:spLocks noGrp="1"/>
          </p:cNvSpPr>
          <p:nvPr>
            <p:ph type="subTitle" idx="1"/>
          </p:nvPr>
        </p:nvSpPr>
        <p:spPr>
          <a:xfrm>
            <a:off x="618825" y="1269892"/>
            <a:ext cx="4618200" cy="3461933"/>
          </a:xfrm>
        </p:spPr>
        <p:txBody>
          <a:bodyPr/>
          <a:lstStyle/>
          <a:p>
            <a:pPr marL="0" indent="0" algn="just"/>
            <a:r>
              <a:rPr lang="pt-PT" dirty="0"/>
              <a:t>In </a:t>
            </a:r>
            <a:r>
              <a:rPr lang="pt-PT" dirty="0" err="1"/>
              <a:t>the</a:t>
            </a:r>
            <a:r>
              <a:rPr lang="pt-PT" dirty="0"/>
              <a:t> </a:t>
            </a:r>
            <a:r>
              <a:rPr lang="pt-PT" dirty="0" err="1"/>
              <a:t>Rush</a:t>
            </a:r>
            <a:r>
              <a:rPr lang="pt-PT" dirty="0"/>
              <a:t> </a:t>
            </a:r>
            <a:r>
              <a:rPr lang="pt-PT" dirty="0" err="1"/>
              <a:t>Hour</a:t>
            </a:r>
            <a:r>
              <a:rPr lang="pt-PT" dirty="0"/>
              <a:t> game, </a:t>
            </a:r>
            <a:r>
              <a:rPr lang="pt-PT" dirty="0" err="1"/>
              <a:t>the</a:t>
            </a:r>
            <a:r>
              <a:rPr lang="pt-PT" dirty="0"/>
              <a:t> </a:t>
            </a:r>
            <a:r>
              <a:rPr lang="pt-PT" dirty="0" err="1"/>
              <a:t>goal</a:t>
            </a:r>
            <a:r>
              <a:rPr lang="pt-PT" dirty="0"/>
              <a:t> </a:t>
            </a:r>
            <a:r>
              <a:rPr lang="pt-PT" dirty="0" err="1"/>
              <a:t>is</a:t>
            </a:r>
            <a:r>
              <a:rPr lang="pt-PT" dirty="0"/>
              <a:t> to remove </a:t>
            </a:r>
            <a:r>
              <a:rPr lang="pt-PT" dirty="0" err="1"/>
              <a:t>the</a:t>
            </a:r>
            <a:r>
              <a:rPr lang="pt-PT" dirty="0"/>
              <a:t> </a:t>
            </a:r>
            <a:r>
              <a:rPr lang="pt-PT" dirty="0" err="1"/>
              <a:t>red</a:t>
            </a:r>
            <a:r>
              <a:rPr lang="pt-PT" dirty="0"/>
              <a:t> </a:t>
            </a:r>
            <a:r>
              <a:rPr lang="pt-PT" dirty="0" err="1"/>
              <a:t>car</a:t>
            </a:r>
            <a:r>
              <a:rPr lang="pt-PT" dirty="0"/>
              <a:t> </a:t>
            </a:r>
            <a:r>
              <a:rPr lang="pt-PT" dirty="0" err="1"/>
              <a:t>from</a:t>
            </a:r>
            <a:r>
              <a:rPr lang="pt-PT" dirty="0"/>
              <a:t> </a:t>
            </a:r>
            <a:r>
              <a:rPr lang="pt-PT" dirty="0" err="1"/>
              <a:t>the</a:t>
            </a:r>
            <a:r>
              <a:rPr lang="pt-PT" dirty="0"/>
              <a:t> </a:t>
            </a:r>
            <a:r>
              <a:rPr lang="pt-PT" dirty="0" err="1"/>
              <a:t>board</a:t>
            </a:r>
            <a:r>
              <a:rPr lang="pt-PT" dirty="0"/>
              <a:t>. For </a:t>
            </a:r>
            <a:r>
              <a:rPr lang="pt-PT" dirty="0" err="1"/>
              <a:t>that</a:t>
            </a:r>
            <a:r>
              <a:rPr lang="pt-PT" dirty="0"/>
              <a:t>, </a:t>
            </a:r>
            <a:r>
              <a:rPr lang="pt-PT" dirty="0" err="1"/>
              <a:t>the</a:t>
            </a:r>
            <a:r>
              <a:rPr lang="pt-PT" dirty="0"/>
              <a:t> </a:t>
            </a:r>
            <a:r>
              <a:rPr lang="pt-PT" dirty="0" err="1"/>
              <a:t>player</a:t>
            </a:r>
            <a:r>
              <a:rPr lang="pt-PT" dirty="0"/>
              <a:t> needs to move </a:t>
            </a:r>
            <a:r>
              <a:rPr lang="pt-PT" dirty="0" err="1"/>
              <a:t>the</a:t>
            </a:r>
            <a:r>
              <a:rPr lang="pt-PT" dirty="0"/>
              <a:t> other </a:t>
            </a:r>
            <a:r>
              <a:rPr lang="pt-PT" dirty="0" err="1"/>
              <a:t>vehicles</a:t>
            </a:r>
            <a:r>
              <a:rPr lang="pt-PT" dirty="0"/>
              <a:t> to clear </a:t>
            </a:r>
            <a:r>
              <a:rPr lang="pt-PT" dirty="0" err="1"/>
              <a:t>the</a:t>
            </a:r>
            <a:r>
              <a:rPr lang="pt-PT" dirty="0"/>
              <a:t> </a:t>
            </a:r>
            <a:r>
              <a:rPr lang="pt-PT" dirty="0" err="1"/>
              <a:t>path</a:t>
            </a:r>
            <a:r>
              <a:rPr lang="pt-PT" dirty="0"/>
              <a:t>.</a:t>
            </a:r>
          </a:p>
          <a:p>
            <a:pPr marL="0" indent="0" algn="just">
              <a:buNone/>
            </a:pPr>
            <a:r>
              <a:rPr lang="pt-PT" dirty="0" err="1"/>
              <a:t>The</a:t>
            </a:r>
            <a:r>
              <a:rPr lang="pt-PT" dirty="0"/>
              <a:t> game </a:t>
            </a:r>
            <a:r>
              <a:rPr lang="pt-PT" dirty="0" err="1"/>
              <a:t>has</a:t>
            </a:r>
            <a:r>
              <a:rPr lang="pt-PT" dirty="0"/>
              <a:t> </a:t>
            </a:r>
            <a:r>
              <a:rPr lang="pt-PT" dirty="0" err="1"/>
              <a:t>the</a:t>
            </a:r>
            <a:r>
              <a:rPr lang="pt-PT" dirty="0"/>
              <a:t> </a:t>
            </a:r>
            <a:r>
              <a:rPr lang="pt-PT" dirty="0" err="1"/>
              <a:t>following</a:t>
            </a:r>
            <a:r>
              <a:rPr lang="pt-PT" dirty="0"/>
              <a:t> rules:</a:t>
            </a:r>
          </a:p>
          <a:p>
            <a:pPr marL="285750" indent="-285750" algn="just">
              <a:buClr>
                <a:schemeClr val="bg1"/>
              </a:buClr>
              <a:buSzPct val="100000"/>
              <a:buFont typeface="Arial" panose="020B0604020202020204" pitchFamily="34" charset="0"/>
              <a:buChar char="•"/>
            </a:pPr>
            <a:r>
              <a:rPr lang="pt-PT" dirty="0"/>
              <a:t>3 </a:t>
            </a:r>
            <a:r>
              <a:rPr lang="pt-PT" dirty="0" err="1"/>
              <a:t>levels</a:t>
            </a:r>
            <a:r>
              <a:rPr lang="pt-PT" dirty="0"/>
              <a:t> </a:t>
            </a:r>
            <a:r>
              <a:rPr lang="pt-PT" dirty="0" err="1"/>
              <a:t>of</a:t>
            </a:r>
            <a:r>
              <a:rPr lang="pt-PT" dirty="0"/>
              <a:t> </a:t>
            </a:r>
            <a:r>
              <a:rPr lang="pt-PT" dirty="0" err="1"/>
              <a:t>difficulty</a:t>
            </a:r>
            <a:r>
              <a:rPr lang="pt-PT" dirty="0"/>
              <a:t>: 6x6 </a:t>
            </a:r>
            <a:r>
              <a:rPr lang="pt-PT" dirty="0" err="1"/>
              <a:t>board</a:t>
            </a:r>
            <a:r>
              <a:rPr lang="pt-PT" dirty="0"/>
              <a:t> (</a:t>
            </a:r>
            <a:r>
              <a:rPr lang="pt-PT" dirty="0" err="1"/>
              <a:t>beginner</a:t>
            </a:r>
            <a:r>
              <a:rPr lang="pt-PT" dirty="0"/>
              <a:t>, </a:t>
            </a:r>
            <a:r>
              <a:rPr lang="pt-PT" dirty="0" err="1"/>
              <a:t>intermediate</a:t>
            </a:r>
            <a:r>
              <a:rPr lang="pt-PT" dirty="0"/>
              <a:t>, </a:t>
            </a:r>
            <a:r>
              <a:rPr lang="pt-PT" dirty="0" err="1"/>
              <a:t>advanced</a:t>
            </a:r>
            <a:r>
              <a:rPr lang="pt-PT" dirty="0"/>
              <a:t>, expert), 9x9 </a:t>
            </a:r>
            <a:r>
              <a:rPr lang="pt-PT" dirty="0" err="1"/>
              <a:t>board</a:t>
            </a:r>
            <a:r>
              <a:rPr lang="pt-PT" dirty="0"/>
              <a:t>, 12x12 </a:t>
            </a:r>
            <a:r>
              <a:rPr lang="pt-PT" dirty="0" err="1"/>
              <a:t>board</a:t>
            </a:r>
            <a:r>
              <a:rPr lang="pt-PT" dirty="0"/>
              <a:t>;</a:t>
            </a:r>
          </a:p>
          <a:p>
            <a:pPr marL="285750" indent="-285750" algn="just">
              <a:buClr>
                <a:schemeClr val="bg1"/>
              </a:buClr>
              <a:buSzPct val="100000"/>
              <a:buFont typeface="Arial" panose="020B0604020202020204" pitchFamily="34" charset="0"/>
              <a:buChar char="•"/>
            </a:pPr>
            <a:r>
              <a:rPr lang="pt-PT" dirty="0"/>
              <a:t>16 </a:t>
            </a:r>
            <a:r>
              <a:rPr lang="pt-PT" dirty="0" err="1"/>
              <a:t>vehicles</a:t>
            </a:r>
            <a:r>
              <a:rPr lang="pt-PT" dirty="0"/>
              <a:t>: 12 </a:t>
            </a:r>
            <a:r>
              <a:rPr lang="pt-PT" dirty="0" err="1"/>
              <a:t>cars</a:t>
            </a:r>
            <a:r>
              <a:rPr lang="pt-PT" dirty="0"/>
              <a:t> </a:t>
            </a:r>
            <a:r>
              <a:rPr lang="pt-PT" dirty="0" err="1"/>
              <a:t>and</a:t>
            </a:r>
            <a:r>
              <a:rPr lang="pt-PT" dirty="0"/>
              <a:t> 4 </a:t>
            </a:r>
            <a:r>
              <a:rPr lang="pt-PT" dirty="0" err="1"/>
              <a:t>trucks</a:t>
            </a:r>
            <a:r>
              <a:rPr lang="pt-PT" dirty="0"/>
              <a:t>;</a:t>
            </a:r>
          </a:p>
          <a:p>
            <a:pPr marL="285750" indent="-285750" algn="just">
              <a:buClr>
                <a:schemeClr val="bg1"/>
              </a:buClr>
              <a:buSzPct val="100000"/>
              <a:buFont typeface="Arial" panose="020B0604020202020204" pitchFamily="34" charset="0"/>
              <a:buChar char="•"/>
            </a:pPr>
            <a:r>
              <a:rPr lang="pt-PT" dirty="0" err="1"/>
              <a:t>Each</a:t>
            </a:r>
            <a:r>
              <a:rPr lang="pt-PT" dirty="0"/>
              <a:t> </a:t>
            </a:r>
            <a:r>
              <a:rPr lang="pt-PT" dirty="0" err="1"/>
              <a:t>car</a:t>
            </a:r>
            <a:r>
              <a:rPr lang="pt-PT" dirty="0"/>
              <a:t> </a:t>
            </a:r>
            <a:r>
              <a:rPr lang="pt-PT" dirty="0" err="1"/>
              <a:t>occupies</a:t>
            </a:r>
            <a:r>
              <a:rPr lang="pt-PT" dirty="0"/>
              <a:t> 2 </a:t>
            </a:r>
            <a:r>
              <a:rPr lang="pt-PT" dirty="0" err="1"/>
              <a:t>squares</a:t>
            </a:r>
            <a:r>
              <a:rPr lang="pt-PT" dirty="0"/>
              <a:t> </a:t>
            </a:r>
            <a:r>
              <a:rPr lang="pt-PT" dirty="0" err="1"/>
              <a:t>while</a:t>
            </a:r>
            <a:r>
              <a:rPr lang="pt-PT" dirty="0"/>
              <a:t> a </a:t>
            </a:r>
            <a:r>
              <a:rPr lang="pt-PT" dirty="0" err="1"/>
              <a:t>truck</a:t>
            </a:r>
            <a:r>
              <a:rPr lang="pt-PT" dirty="0"/>
              <a:t> </a:t>
            </a:r>
            <a:r>
              <a:rPr lang="pt-PT" dirty="0" err="1"/>
              <a:t>ocupies</a:t>
            </a:r>
            <a:r>
              <a:rPr lang="pt-PT" dirty="0"/>
              <a:t> 3 </a:t>
            </a:r>
            <a:r>
              <a:rPr lang="pt-PT" dirty="0" err="1"/>
              <a:t>squares</a:t>
            </a:r>
            <a:r>
              <a:rPr lang="pt-PT" dirty="0"/>
              <a:t>;</a:t>
            </a:r>
          </a:p>
          <a:p>
            <a:pPr marL="285750" indent="-285750" algn="just">
              <a:buClr>
                <a:schemeClr val="bg1"/>
              </a:buClr>
              <a:buSzPct val="100000"/>
              <a:buFont typeface="Arial" panose="020B0604020202020204" pitchFamily="34" charset="0"/>
              <a:buChar char="•"/>
            </a:pPr>
            <a:r>
              <a:rPr lang="pt-PT" dirty="0" err="1"/>
              <a:t>Rottion</a:t>
            </a:r>
            <a:r>
              <a:rPr lang="pt-PT" dirty="0"/>
              <a:t> </a:t>
            </a:r>
            <a:r>
              <a:rPr lang="pt-PT" dirty="0" err="1"/>
              <a:t>is</a:t>
            </a:r>
            <a:r>
              <a:rPr lang="pt-PT" dirty="0"/>
              <a:t> </a:t>
            </a:r>
            <a:r>
              <a:rPr lang="pt-PT" dirty="0" err="1"/>
              <a:t>not</a:t>
            </a:r>
            <a:r>
              <a:rPr lang="pt-PT" dirty="0"/>
              <a:t> </a:t>
            </a:r>
            <a:r>
              <a:rPr lang="pt-PT" dirty="0" err="1"/>
              <a:t>allowed</a:t>
            </a:r>
            <a:r>
              <a:rPr lang="pt-PT" dirty="0"/>
              <a:t>, </a:t>
            </a:r>
            <a:r>
              <a:rPr lang="pt-PT" dirty="0" err="1"/>
              <a:t>only</a:t>
            </a:r>
            <a:r>
              <a:rPr lang="pt-PT" dirty="0"/>
              <a:t> </a:t>
            </a:r>
            <a:r>
              <a:rPr lang="pt-PT" dirty="0" err="1"/>
              <a:t>moving</a:t>
            </a:r>
            <a:r>
              <a:rPr lang="pt-PT" dirty="0"/>
              <a:t> </a:t>
            </a:r>
            <a:r>
              <a:rPr lang="pt-PT" dirty="0" err="1"/>
              <a:t>the</a:t>
            </a:r>
            <a:r>
              <a:rPr lang="pt-PT" dirty="0"/>
              <a:t> </a:t>
            </a:r>
            <a:r>
              <a:rPr lang="pt-PT" dirty="0" err="1"/>
              <a:t>vehicles</a:t>
            </a:r>
            <a:r>
              <a:rPr lang="pt-PT" dirty="0"/>
              <a:t> </a:t>
            </a:r>
            <a:r>
              <a:rPr lang="pt-PT" dirty="0" err="1"/>
              <a:t>vertically</a:t>
            </a:r>
            <a:r>
              <a:rPr lang="pt-PT" dirty="0"/>
              <a:t> </a:t>
            </a:r>
            <a:r>
              <a:rPr lang="pt-PT" dirty="0" err="1"/>
              <a:t>and</a:t>
            </a:r>
            <a:r>
              <a:rPr lang="pt-PT" dirty="0"/>
              <a:t> </a:t>
            </a:r>
            <a:r>
              <a:rPr lang="pt-PT" dirty="0" err="1"/>
              <a:t>horizontally</a:t>
            </a:r>
            <a:endParaRPr lang="pt-PT" dirty="0"/>
          </a:p>
          <a:p>
            <a:pPr marL="0" indent="0" algn="just">
              <a:buClr>
                <a:schemeClr val="bg1"/>
              </a:buClr>
              <a:buSzPct val="40000"/>
            </a:pPr>
            <a:r>
              <a:rPr lang="pt-PT" dirty="0" err="1"/>
              <a:t>We</a:t>
            </a:r>
            <a:r>
              <a:rPr lang="pt-PT" dirty="0"/>
              <a:t> </a:t>
            </a:r>
            <a:r>
              <a:rPr lang="pt-PT" dirty="0" err="1"/>
              <a:t>will</a:t>
            </a:r>
            <a:r>
              <a:rPr lang="pt-PT" dirty="0"/>
              <a:t> </a:t>
            </a:r>
            <a:r>
              <a:rPr lang="pt-PT" dirty="0" err="1"/>
              <a:t>try</a:t>
            </a:r>
            <a:r>
              <a:rPr lang="pt-PT" dirty="0"/>
              <a:t> to solve </a:t>
            </a:r>
            <a:r>
              <a:rPr lang="pt-PT" dirty="0" err="1"/>
              <a:t>it</a:t>
            </a:r>
            <a:r>
              <a:rPr lang="pt-PT" dirty="0"/>
              <a:t> by </a:t>
            </a:r>
            <a:r>
              <a:rPr lang="pt-PT" dirty="0" err="1"/>
              <a:t>implementing</a:t>
            </a:r>
            <a:r>
              <a:rPr lang="pt-PT" dirty="0"/>
              <a:t> 3 </a:t>
            </a:r>
            <a:r>
              <a:rPr lang="pt-PT" dirty="0" err="1"/>
              <a:t>different</a:t>
            </a:r>
            <a:r>
              <a:rPr lang="pt-PT" dirty="0"/>
              <a:t> </a:t>
            </a:r>
            <a:r>
              <a:rPr lang="pt-PT" dirty="0" err="1"/>
              <a:t>algorithms</a:t>
            </a:r>
            <a:r>
              <a:rPr lang="pt-PT" dirty="0"/>
              <a:t>: </a:t>
            </a:r>
          </a:p>
          <a:p>
            <a:pPr marL="0" indent="0" algn="just">
              <a:buClr>
                <a:schemeClr val="bg1"/>
              </a:buClr>
              <a:buSzPct val="40000"/>
            </a:pPr>
            <a:r>
              <a:rPr lang="pt-PT" dirty="0" err="1"/>
              <a:t>Depth-first</a:t>
            </a:r>
            <a:r>
              <a:rPr lang="pt-PT" dirty="0"/>
              <a:t> </a:t>
            </a:r>
            <a:r>
              <a:rPr lang="pt-PT" dirty="0" err="1"/>
              <a:t>search</a:t>
            </a:r>
            <a:r>
              <a:rPr lang="pt-PT" dirty="0"/>
              <a:t>, </a:t>
            </a:r>
            <a:r>
              <a:rPr lang="pt-PT" dirty="0" err="1"/>
              <a:t>Breadth-first</a:t>
            </a:r>
            <a:r>
              <a:rPr lang="pt-PT" dirty="0"/>
              <a:t> </a:t>
            </a:r>
            <a:r>
              <a:rPr lang="pt-PT" dirty="0" err="1"/>
              <a:t>search</a:t>
            </a:r>
            <a:r>
              <a:rPr lang="pt-PT" dirty="0"/>
              <a:t>, A* </a:t>
            </a:r>
            <a:r>
              <a:rPr lang="pt-PT" dirty="0" err="1"/>
              <a:t>Algorithm</a:t>
            </a:r>
            <a:r>
              <a:rPr lang="pt-PT" dirty="0"/>
              <a:t>.</a:t>
            </a:r>
          </a:p>
          <a:p>
            <a:pPr marL="0" indent="0" algn="just"/>
            <a:endParaRPr lang="pt-PT" dirty="0"/>
          </a:p>
          <a:p>
            <a:endParaRPr lang="pt-PT" dirty="0"/>
          </a:p>
        </p:txBody>
      </p:sp>
      <p:sp>
        <p:nvSpPr>
          <p:cNvPr id="6" name="Título 5">
            <a:extLst>
              <a:ext uri="{FF2B5EF4-FFF2-40B4-BE49-F238E27FC236}">
                <a16:creationId xmlns:a16="http://schemas.microsoft.com/office/drawing/2014/main" id="{32C41503-808E-9361-C98D-6F70B66A3325}"/>
              </a:ext>
            </a:extLst>
          </p:cNvPr>
          <p:cNvSpPr>
            <a:spLocks noGrp="1"/>
          </p:cNvSpPr>
          <p:nvPr>
            <p:ph type="ctrTitle" idx="4"/>
          </p:nvPr>
        </p:nvSpPr>
        <p:spPr/>
        <p:txBody>
          <a:bodyPr/>
          <a:lstStyle/>
          <a:p>
            <a:r>
              <a:rPr lang="pt-PT" sz="3200" dirty="0" err="1"/>
              <a:t>Rush</a:t>
            </a:r>
            <a:r>
              <a:rPr lang="pt-PT" sz="3200" dirty="0"/>
              <a:t> </a:t>
            </a:r>
            <a:r>
              <a:rPr lang="pt-PT" sz="3200" dirty="0" err="1"/>
              <a:t>Hour</a:t>
            </a:r>
            <a:r>
              <a:rPr lang="pt-PT" sz="3200" dirty="0"/>
              <a:t> Puzzle</a:t>
            </a:r>
          </a:p>
        </p:txBody>
      </p:sp>
      <p:pic>
        <p:nvPicPr>
          <p:cNvPr id="2052" name="Picture 4">
            <a:extLst>
              <a:ext uri="{FF2B5EF4-FFF2-40B4-BE49-F238E27FC236}">
                <a16:creationId xmlns:a16="http://schemas.microsoft.com/office/drawing/2014/main" id="{9C151872-259B-2185-EA78-485F4E10269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1999" t="5985" r="12743" b="4892"/>
          <a:stretch/>
        </p:blipFill>
        <p:spPr bwMode="auto">
          <a:xfrm>
            <a:off x="5713613" y="1327041"/>
            <a:ext cx="2712671" cy="30003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05677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7607A7FC-4ACB-2296-D76A-7E7239906B62}"/>
              </a:ext>
            </a:extLst>
          </p:cNvPr>
          <p:cNvSpPr txBox="1"/>
          <p:nvPr/>
        </p:nvSpPr>
        <p:spPr>
          <a:xfrm>
            <a:off x="0" y="206815"/>
            <a:ext cx="9143999" cy="1138773"/>
          </a:xfrm>
          <a:prstGeom prst="rect">
            <a:avLst/>
          </a:prstGeom>
          <a:noFill/>
        </p:spPr>
        <p:txBody>
          <a:bodyPr wrap="square" rtlCol="0">
            <a:spAutoFit/>
          </a:bodyPr>
          <a:lstStyle/>
          <a:p>
            <a:r>
              <a:rPr lang="pt-PT" sz="3400" dirty="0" err="1">
                <a:solidFill>
                  <a:schemeClr val="lt1"/>
                </a:solidFill>
                <a:latin typeface="Share Tech"/>
                <a:sym typeface="Share Tech"/>
              </a:rPr>
              <a:t>Formulation</a:t>
            </a:r>
            <a:r>
              <a:rPr lang="pt-PT" sz="3400" dirty="0">
                <a:solidFill>
                  <a:schemeClr val="lt1"/>
                </a:solidFill>
                <a:latin typeface="Share Tech"/>
                <a:sym typeface="Share Tech"/>
              </a:rPr>
              <a:t> </a:t>
            </a:r>
            <a:r>
              <a:rPr lang="pt-PT" sz="3400" dirty="0" err="1">
                <a:solidFill>
                  <a:schemeClr val="lt1"/>
                </a:solidFill>
                <a:latin typeface="Share Tech"/>
                <a:sym typeface="Share Tech"/>
              </a:rPr>
              <a:t>of</a:t>
            </a:r>
            <a:r>
              <a:rPr lang="pt-PT" sz="3400" dirty="0">
                <a:solidFill>
                  <a:schemeClr val="lt1"/>
                </a:solidFill>
                <a:latin typeface="Share Tech"/>
                <a:sym typeface="Share Tech"/>
              </a:rPr>
              <a:t> </a:t>
            </a:r>
            <a:r>
              <a:rPr lang="pt-PT" sz="3400" dirty="0" err="1">
                <a:solidFill>
                  <a:schemeClr val="lt1"/>
                </a:solidFill>
                <a:latin typeface="Share Tech"/>
                <a:sym typeface="Share Tech"/>
              </a:rPr>
              <a:t>the</a:t>
            </a:r>
            <a:r>
              <a:rPr lang="pt-PT" sz="3400" dirty="0">
                <a:solidFill>
                  <a:schemeClr val="lt1"/>
                </a:solidFill>
                <a:latin typeface="Share Tech"/>
                <a:sym typeface="Share Tech"/>
              </a:rPr>
              <a:t> </a:t>
            </a:r>
            <a:r>
              <a:rPr lang="pt-PT" sz="3400" dirty="0" err="1">
                <a:solidFill>
                  <a:schemeClr val="lt1"/>
                </a:solidFill>
                <a:latin typeface="Share Tech"/>
                <a:sym typeface="Share Tech"/>
              </a:rPr>
              <a:t>problem</a:t>
            </a:r>
            <a:r>
              <a:rPr lang="pt-PT" sz="3400" dirty="0">
                <a:solidFill>
                  <a:schemeClr val="lt1"/>
                </a:solidFill>
                <a:latin typeface="Share Tech"/>
                <a:sym typeface="Share Tech"/>
              </a:rPr>
              <a:t> as a </a:t>
            </a:r>
            <a:r>
              <a:rPr lang="pt-PT" sz="3400" dirty="0" err="1">
                <a:solidFill>
                  <a:schemeClr val="lt1"/>
                </a:solidFill>
                <a:latin typeface="Share Tech"/>
                <a:sym typeface="Share Tech"/>
              </a:rPr>
              <a:t>search</a:t>
            </a:r>
            <a:r>
              <a:rPr lang="pt-PT" sz="3400" dirty="0">
                <a:solidFill>
                  <a:schemeClr val="lt1"/>
                </a:solidFill>
                <a:latin typeface="Share Tech"/>
                <a:sym typeface="Share Tech"/>
              </a:rPr>
              <a:t> </a:t>
            </a:r>
            <a:r>
              <a:rPr lang="pt-PT" sz="3400" dirty="0" err="1">
                <a:solidFill>
                  <a:schemeClr val="lt1"/>
                </a:solidFill>
                <a:latin typeface="Share Tech"/>
                <a:sym typeface="Share Tech"/>
              </a:rPr>
              <a:t>problem</a:t>
            </a:r>
            <a:endParaRPr lang="pt-PT" sz="3400" dirty="0">
              <a:solidFill>
                <a:schemeClr val="lt1"/>
              </a:solidFill>
              <a:latin typeface="Share Tech"/>
              <a:sym typeface="Share Tech"/>
            </a:endParaRPr>
          </a:p>
          <a:p>
            <a:endParaRPr lang="pt-PT" sz="3400" dirty="0"/>
          </a:p>
        </p:txBody>
      </p:sp>
      <p:grpSp>
        <p:nvGrpSpPr>
          <p:cNvPr id="4" name="Google Shape;13768;p64">
            <a:extLst>
              <a:ext uri="{FF2B5EF4-FFF2-40B4-BE49-F238E27FC236}">
                <a16:creationId xmlns:a16="http://schemas.microsoft.com/office/drawing/2014/main" id="{B10D04B7-B621-11C8-0E9C-3F2F3F605295}"/>
              </a:ext>
            </a:extLst>
          </p:cNvPr>
          <p:cNvGrpSpPr/>
          <p:nvPr/>
        </p:nvGrpSpPr>
        <p:grpSpPr>
          <a:xfrm>
            <a:off x="122596" y="2493489"/>
            <a:ext cx="454202" cy="307777"/>
            <a:chOff x="7009649" y="1541981"/>
            <a:chExt cx="524940" cy="320655"/>
          </a:xfrm>
        </p:grpSpPr>
        <p:sp>
          <p:nvSpPr>
            <p:cNvPr id="5" name="Google Shape;13769;p64">
              <a:extLst>
                <a:ext uri="{FF2B5EF4-FFF2-40B4-BE49-F238E27FC236}">
                  <a16:creationId xmlns:a16="http://schemas.microsoft.com/office/drawing/2014/main" id="{29CB7EB3-5A91-D337-40FA-E8EC78D0397C}"/>
                </a:ext>
              </a:extLst>
            </p:cNvPr>
            <p:cNvSpPr/>
            <p:nvPr/>
          </p:nvSpPr>
          <p:spPr>
            <a:xfrm>
              <a:off x="7009649" y="1541981"/>
              <a:ext cx="524940" cy="320655"/>
            </a:xfrm>
            <a:custGeom>
              <a:avLst/>
              <a:gdLst/>
              <a:ahLst/>
              <a:cxnLst/>
              <a:rect l="l" t="t" r="r" b="b"/>
              <a:pathLst>
                <a:path w="16492" h="10074" extrusionOk="0">
                  <a:moveTo>
                    <a:pt x="13979" y="1227"/>
                  </a:moveTo>
                  <a:lnTo>
                    <a:pt x="13979" y="6764"/>
                  </a:lnTo>
                  <a:lnTo>
                    <a:pt x="11348" y="6764"/>
                  </a:lnTo>
                  <a:cubicBezTo>
                    <a:pt x="11205" y="6764"/>
                    <a:pt x="11109" y="6871"/>
                    <a:pt x="11109" y="7002"/>
                  </a:cubicBezTo>
                  <a:cubicBezTo>
                    <a:pt x="11109" y="7145"/>
                    <a:pt x="11205" y="7240"/>
                    <a:pt x="11348" y="7240"/>
                  </a:cubicBezTo>
                  <a:lnTo>
                    <a:pt x="13979" y="7240"/>
                  </a:lnTo>
                  <a:lnTo>
                    <a:pt x="13979" y="7514"/>
                  </a:lnTo>
                  <a:lnTo>
                    <a:pt x="2537" y="7514"/>
                  </a:lnTo>
                  <a:lnTo>
                    <a:pt x="2537" y="7240"/>
                  </a:lnTo>
                  <a:lnTo>
                    <a:pt x="10336" y="7240"/>
                  </a:lnTo>
                  <a:cubicBezTo>
                    <a:pt x="10466" y="7240"/>
                    <a:pt x="10574" y="7145"/>
                    <a:pt x="10574" y="7002"/>
                  </a:cubicBezTo>
                  <a:cubicBezTo>
                    <a:pt x="10574" y="6871"/>
                    <a:pt x="10466" y="6764"/>
                    <a:pt x="10336" y="6764"/>
                  </a:cubicBezTo>
                  <a:lnTo>
                    <a:pt x="7014" y="6764"/>
                  </a:lnTo>
                  <a:lnTo>
                    <a:pt x="7014" y="1227"/>
                  </a:lnTo>
                  <a:close/>
                  <a:moveTo>
                    <a:pt x="14169" y="7990"/>
                  </a:moveTo>
                  <a:lnTo>
                    <a:pt x="14943" y="8287"/>
                  </a:lnTo>
                  <a:lnTo>
                    <a:pt x="1537" y="8287"/>
                  </a:lnTo>
                  <a:lnTo>
                    <a:pt x="2323" y="7990"/>
                  </a:lnTo>
                  <a:close/>
                  <a:moveTo>
                    <a:pt x="10240" y="8776"/>
                  </a:moveTo>
                  <a:lnTo>
                    <a:pt x="10014" y="9002"/>
                  </a:lnTo>
                  <a:lnTo>
                    <a:pt x="6526" y="9002"/>
                  </a:lnTo>
                  <a:lnTo>
                    <a:pt x="6299" y="8776"/>
                  </a:lnTo>
                  <a:close/>
                  <a:moveTo>
                    <a:pt x="16003" y="8776"/>
                  </a:moveTo>
                  <a:lnTo>
                    <a:pt x="16003" y="8823"/>
                  </a:lnTo>
                  <a:lnTo>
                    <a:pt x="16015" y="8823"/>
                  </a:lnTo>
                  <a:cubicBezTo>
                    <a:pt x="16015" y="9252"/>
                    <a:pt x="15658" y="9609"/>
                    <a:pt x="15229" y="9609"/>
                  </a:cubicBezTo>
                  <a:lnTo>
                    <a:pt x="1287" y="9609"/>
                  </a:lnTo>
                  <a:cubicBezTo>
                    <a:pt x="846" y="9609"/>
                    <a:pt x="489" y="9252"/>
                    <a:pt x="489" y="8823"/>
                  </a:cubicBezTo>
                  <a:lnTo>
                    <a:pt x="489" y="8776"/>
                  </a:lnTo>
                  <a:lnTo>
                    <a:pt x="5633" y="8776"/>
                  </a:lnTo>
                  <a:lnTo>
                    <a:pt x="6252" y="9407"/>
                  </a:lnTo>
                  <a:cubicBezTo>
                    <a:pt x="6299" y="9454"/>
                    <a:pt x="6359" y="9478"/>
                    <a:pt x="6418" y="9478"/>
                  </a:cubicBezTo>
                  <a:lnTo>
                    <a:pt x="10121" y="9478"/>
                  </a:lnTo>
                  <a:cubicBezTo>
                    <a:pt x="10181" y="9478"/>
                    <a:pt x="10240" y="9454"/>
                    <a:pt x="10288" y="9407"/>
                  </a:cubicBezTo>
                  <a:lnTo>
                    <a:pt x="10907" y="8776"/>
                  </a:lnTo>
                  <a:close/>
                  <a:moveTo>
                    <a:pt x="2811" y="1"/>
                  </a:moveTo>
                  <a:cubicBezTo>
                    <a:pt x="2382" y="1"/>
                    <a:pt x="2037" y="346"/>
                    <a:pt x="2037" y="775"/>
                  </a:cubicBezTo>
                  <a:lnTo>
                    <a:pt x="2037" y="3799"/>
                  </a:lnTo>
                  <a:cubicBezTo>
                    <a:pt x="2037" y="3930"/>
                    <a:pt x="2144" y="4037"/>
                    <a:pt x="2275" y="4037"/>
                  </a:cubicBezTo>
                  <a:cubicBezTo>
                    <a:pt x="2418" y="4037"/>
                    <a:pt x="2513" y="3930"/>
                    <a:pt x="2513" y="3799"/>
                  </a:cubicBezTo>
                  <a:lnTo>
                    <a:pt x="2513" y="1215"/>
                  </a:lnTo>
                  <a:lnTo>
                    <a:pt x="6526" y="1215"/>
                  </a:lnTo>
                  <a:lnTo>
                    <a:pt x="6526" y="6752"/>
                  </a:lnTo>
                  <a:lnTo>
                    <a:pt x="2513" y="6752"/>
                  </a:lnTo>
                  <a:lnTo>
                    <a:pt x="2513" y="4763"/>
                  </a:lnTo>
                  <a:cubicBezTo>
                    <a:pt x="2513" y="4632"/>
                    <a:pt x="2418" y="4525"/>
                    <a:pt x="2275" y="4525"/>
                  </a:cubicBezTo>
                  <a:cubicBezTo>
                    <a:pt x="2144" y="4525"/>
                    <a:pt x="2037" y="4632"/>
                    <a:pt x="2037" y="4763"/>
                  </a:cubicBezTo>
                  <a:lnTo>
                    <a:pt x="2037" y="7573"/>
                  </a:lnTo>
                  <a:lnTo>
                    <a:pt x="156" y="8299"/>
                  </a:lnTo>
                  <a:cubicBezTo>
                    <a:pt x="60" y="8335"/>
                    <a:pt x="1" y="8430"/>
                    <a:pt x="1" y="8526"/>
                  </a:cubicBezTo>
                  <a:lnTo>
                    <a:pt x="1" y="8811"/>
                  </a:lnTo>
                  <a:cubicBezTo>
                    <a:pt x="1" y="9502"/>
                    <a:pt x="572" y="10073"/>
                    <a:pt x="1263" y="10073"/>
                  </a:cubicBezTo>
                  <a:lnTo>
                    <a:pt x="15217" y="10073"/>
                  </a:lnTo>
                  <a:cubicBezTo>
                    <a:pt x="15908" y="10073"/>
                    <a:pt x="16479" y="9502"/>
                    <a:pt x="16479" y="8811"/>
                  </a:cubicBezTo>
                  <a:lnTo>
                    <a:pt x="16479" y="8526"/>
                  </a:lnTo>
                  <a:cubicBezTo>
                    <a:pt x="16491" y="8430"/>
                    <a:pt x="16432" y="8347"/>
                    <a:pt x="16348" y="8323"/>
                  </a:cubicBezTo>
                  <a:lnTo>
                    <a:pt x="14467" y="7585"/>
                  </a:lnTo>
                  <a:lnTo>
                    <a:pt x="14467" y="775"/>
                  </a:lnTo>
                  <a:cubicBezTo>
                    <a:pt x="14467" y="346"/>
                    <a:pt x="14122" y="1"/>
                    <a:pt x="13693" y="1"/>
                  </a:cubicBezTo>
                  <a:lnTo>
                    <a:pt x="11550" y="1"/>
                  </a:lnTo>
                  <a:cubicBezTo>
                    <a:pt x="11419" y="1"/>
                    <a:pt x="11312" y="108"/>
                    <a:pt x="11312" y="239"/>
                  </a:cubicBezTo>
                  <a:cubicBezTo>
                    <a:pt x="11312" y="370"/>
                    <a:pt x="11419" y="477"/>
                    <a:pt x="11550" y="477"/>
                  </a:cubicBezTo>
                  <a:lnTo>
                    <a:pt x="13693" y="477"/>
                  </a:lnTo>
                  <a:cubicBezTo>
                    <a:pt x="13848" y="477"/>
                    <a:pt x="13967" y="596"/>
                    <a:pt x="13979" y="739"/>
                  </a:cubicBezTo>
                  <a:lnTo>
                    <a:pt x="2537" y="739"/>
                  </a:lnTo>
                  <a:cubicBezTo>
                    <a:pt x="2549" y="596"/>
                    <a:pt x="2668" y="477"/>
                    <a:pt x="2811" y="477"/>
                  </a:cubicBezTo>
                  <a:lnTo>
                    <a:pt x="10586" y="477"/>
                  </a:lnTo>
                  <a:cubicBezTo>
                    <a:pt x="10717" y="477"/>
                    <a:pt x="10824" y="370"/>
                    <a:pt x="10824" y="239"/>
                  </a:cubicBezTo>
                  <a:cubicBezTo>
                    <a:pt x="10824" y="108"/>
                    <a:pt x="10717" y="1"/>
                    <a:pt x="10586" y="1"/>
                  </a:cubicBezTo>
                  <a:close/>
                </a:path>
              </a:pathLst>
            </a:custGeom>
            <a:solidFill>
              <a:srgbClr val="657E93"/>
            </a:solidFill>
            <a:ln>
              <a:solidFill>
                <a:srgbClr val="00B05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3770;p64">
              <a:extLst>
                <a:ext uri="{FF2B5EF4-FFF2-40B4-BE49-F238E27FC236}">
                  <a16:creationId xmlns:a16="http://schemas.microsoft.com/office/drawing/2014/main" id="{6EAB07DD-DD7E-78BD-D11B-B828D4FF672F}"/>
                </a:ext>
              </a:extLst>
            </p:cNvPr>
            <p:cNvSpPr/>
            <p:nvPr/>
          </p:nvSpPr>
          <p:spPr>
            <a:xfrm>
              <a:off x="7110104" y="1604909"/>
              <a:ext cx="61782" cy="41697"/>
            </a:xfrm>
            <a:custGeom>
              <a:avLst/>
              <a:gdLst/>
              <a:ahLst/>
              <a:cxnLst/>
              <a:rect l="l" t="t" r="r" b="b"/>
              <a:pathLst>
                <a:path w="1941" h="1310" extrusionOk="0">
                  <a:moveTo>
                    <a:pt x="1441" y="488"/>
                  </a:moveTo>
                  <a:lnTo>
                    <a:pt x="1441" y="834"/>
                  </a:lnTo>
                  <a:lnTo>
                    <a:pt x="488" y="834"/>
                  </a:lnTo>
                  <a:lnTo>
                    <a:pt x="488" y="488"/>
                  </a:lnTo>
                  <a:close/>
                  <a:moveTo>
                    <a:pt x="238" y="0"/>
                  </a:moveTo>
                  <a:cubicBezTo>
                    <a:pt x="107" y="0"/>
                    <a:pt x="0" y="107"/>
                    <a:pt x="0" y="238"/>
                  </a:cubicBezTo>
                  <a:lnTo>
                    <a:pt x="0" y="1072"/>
                  </a:lnTo>
                  <a:cubicBezTo>
                    <a:pt x="0" y="1203"/>
                    <a:pt x="107" y="1310"/>
                    <a:pt x="238" y="1310"/>
                  </a:cubicBezTo>
                  <a:lnTo>
                    <a:pt x="1679" y="1310"/>
                  </a:lnTo>
                  <a:cubicBezTo>
                    <a:pt x="1822" y="1310"/>
                    <a:pt x="1917" y="1203"/>
                    <a:pt x="1917" y="1072"/>
                  </a:cubicBezTo>
                  <a:lnTo>
                    <a:pt x="1917" y="238"/>
                  </a:lnTo>
                  <a:cubicBezTo>
                    <a:pt x="1941" y="119"/>
                    <a:pt x="1822" y="0"/>
                    <a:pt x="1679" y="0"/>
                  </a:cubicBezTo>
                  <a:close/>
                </a:path>
              </a:pathLst>
            </a:custGeom>
            <a:solidFill>
              <a:srgbClr val="657E93"/>
            </a:solidFill>
            <a:ln>
              <a:solidFill>
                <a:srgbClr val="00B05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3771;p64">
              <a:extLst>
                <a:ext uri="{FF2B5EF4-FFF2-40B4-BE49-F238E27FC236}">
                  <a16:creationId xmlns:a16="http://schemas.microsoft.com/office/drawing/2014/main" id="{E835437E-50C2-6E22-3FE7-A6718A595F27}"/>
                </a:ext>
              </a:extLst>
            </p:cNvPr>
            <p:cNvSpPr/>
            <p:nvPr/>
          </p:nvSpPr>
          <p:spPr>
            <a:xfrm>
              <a:off x="7110455" y="1655296"/>
              <a:ext cx="96700" cy="15183"/>
            </a:xfrm>
            <a:custGeom>
              <a:avLst/>
              <a:gdLst/>
              <a:ahLst/>
              <a:cxnLst/>
              <a:rect l="l" t="t" r="r" b="b"/>
              <a:pathLst>
                <a:path w="3038" h="477" extrusionOk="0">
                  <a:moveTo>
                    <a:pt x="239" y="1"/>
                  </a:moveTo>
                  <a:cubicBezTo>
                    <a:pt x="108" y="1"/>
                    <a:pt x="1" y="96"/>
                    <a:pt x="1" y="239"/>
                  </a:cubicBezTo>
                  <a:cubicBezTo>
                    <a:pt x="1" y="370"/>
                    <a:pt x="108" y="477"/>
                    <a:pt x="239" y="477"/>
                  </a:cubicBezTo>
                  <a:lnTo>
                    <a:pt x="2799" y="477"/>
                  </a:lnTo>
                  <a:cubicBezTo>
                    <a:pt x="2942" y="477"/>
                    <a:pt x="3037" y="370"/>
                    <a:pt x="3037" y="239"/>
                  </a:cubicBezTo>
                  <a:cubicBezTo>
                    <a:pt x="3037" y="96"/>
                    <a:pt x="2942" y="1"/>
                    <a:pt x="2799" y="1"/>
                  </a:cubicBezTo>
                  <a:close/>
                </a:path>
              </a:pathLst>
            </a:custGeom>
            <a:solidFill>
              <a:srgbClr val="657E93"/>
            </a:solidFill>
            <a:ln>
              <a:solidFill>
                <a:srgbClr val="00B05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3772;p64">
              <a:extLst>
                <a:ext uri="{FF2B5EF4-FFF2-40B4-BE49-F238E27FC236}">
                  <a16:creationId xmlns:a16="http://schemas.microsoft.com/office/drawing/2014/main" id="{399AA25D-B74F-DED1-C163-0DEF017A0537}"/>
                </a:ext>
              </a:extLst>
            </p:cNvPr>
            <p:cNvSpPr/>
            <p:nvPr/>
          </p:nvSpPr>
          <p:spPr>
            <a:xfrm>
              <a:off x="7146104" y="1676909"/>
              <a:ext cx="61050" cy="41729"/>
            </a:xfrm>
            <a:custGeom>
              <a:avLst/>
              <a:gdLst/>
              <a:ahLst/>
              <a:cxnLst/>
              <a:rect l="l" t="t" r="r" b="b"/>
              <a:pathLst>
                <a:path w="1918" h="1311" extrusionOk="0">
                  <a:moveTo>
                    <a:pt x="1441" y="489"/>
                  </a:moveTo>
                  <a:lnTo>
                    <a:pt x="1441" y="834"/>
                  </a:lnTo>
                  <a:lnTo>
                    <a:pt x="488" y="834"/>
                  </a:lnTo>
                  <a:lnTo>
                    <a:pt x="488" y="489"/>
                  </a:lnTo>
                  <a:close/>
                  <a:moveTo>
                    <a:pt x="238" y="0"/>
                  </a:moveTo>
                  <a:cubicBezTo>
                    <a:pt x="107" y="0"/>
                    <a:pt x="0" y="108"/>
                    <a:pt x="0" y="239"/>
                  </a:cubicBezTo>
                  <a:lnTo>
                    <a:pt x="0" y="1072"/>
                  </a:lnTo>
                  <a:cubicBezTo>
                    <a:pt x="0" y="1203"/>
                    <a:pt x="107" y="1310"/>
                    <a:pt x="238" y="1310"/>
                  </a:cubicBezTo>
                  <a:lnTo>
                    <a:pt x="1679" y="1310"/>
                  </a:lnTo>
                  <a:cubicBezTo>
                    <a:pt x="1822" y="1310"/>
                    <a:pt x="1917" y="1203"/>
                    <a:pt x="1917" y="1072"/>
                  </a:cubicBezTo>
                  <a:lnTo>
                    <a:pt x="1917" y="239"/>
                  </a:lnTo>
                  <a:cubicBezTo>
                    <a:pt x="1917" y="108"/>
                    <a:pt x="1822" y="0"/>
                    <a:pt x="1679" y="0"/>
                  </a:cubicBezTo>
                  <a:close/>
                </a:path>
              </a:pathLst>
            </a:custGeom>
            <a:solidFill>
              <a:srgbClr val="657E93"/>
            </a:solidFill>
            <a:ln>
              <a:solidFill>
                <a:srgbClr val="00B05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3773;p64">
              <a:extLst>
                <a:ext uri="{FF2B5EF4-FFF2-40B4-BE49-F238E27FC236}">
                  <a16:creationId xmlns:a16="http://schemas.microsoft.com/office/drawing/2014/main" id="{3FB6612B-F535-3E8D-C409-E922E01847D8}"/>
                </a:ext>
              </a:extLst>
            </p:cNvPr>
            <p:cNvSpPr/>
            <p:nvPr/>
          </p:nvSpPr>
          <p:spPr>
            <a:xfrm>
              <a:off x="7110455" y="1726563"/>
              <a:ext cx="96700" cy="15183"/>
            </a:xfrm>
            <a:custGeom>
              <a:avLst/>
              <a:gdLst/>
              <a:ahLst/>
              <a:cxnLst/>
              <a:rect l="l" t="t" r="r" b="b"/>
              <a:pathLst>
                <a:path w="3038" h="477" extrusionOk="0">
                  <a:moveTo>
                    <a:pt x="239" y="0"/>
                  </a:moveTo>
                  <a:cubicBezTo>
                    <a:pt x="108" y="0"/>
                    <a:pt x="1" y="107"/>
                    <a:pt x="1" y="238"/>
                  </a:cubicBezTo>
                  <a:cubicBezTo>
                    <a:pt x="1" y="381"/>
                    <a:pt x="108" y="476"/>
                    <a:pt x="239" y="476"/>
                  </a:cubicBezTo>
                  <a:lnTo>
                    <a:pt x="2799" y="476"/>
                  </a:lnTo>
                  <a:cubicBezTo>
                    <a:pt x="2942" y="476"/>
                    <a:pt x="3037" y="381"/>
                    <a:pt x="3037" y="238"/>
                  </a:cubicBezTo>
                  <a:cubicBezTo>
                    <a:pt x="3037" y="107"/>
                    <a:pt x="2942" y="0"/>
                    <a:pt x="2799" y="0"/>
                  </a:cubicBezTo>
                  <a:close/>
                </a:path>
              </a:pathLst>
            </a:custGeom>
            <a:solidFill>
              <a:srgbClr val="657E93"/>
            </a:solidFill>
            <a:ln>
              <a:solidFill>
                <a:srgbClr val="00B05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3774;p64">
              <a:extLst>
                <a:ext uri="{FF2B5EF4-FFF2-40B4-BE49-F238E27FC236}">
                  <a16:creationId xmlns:a16="http://schemas.microsoft.com/office/drawing/2014/main" id="{B25F331E-6EA0-E1D2-5891-B685ED15F2E2}"/>
                </a:ext>
              </a:extLst>
            </p:cNvPr>
            <p:cNvSpPr/>
            <p:nvPr/>
          </p:nvSpPr>
          <p:spPr>
            <a:xfrm>
              <a:off x="7262825" y="1636739"/>
              <a:ext cx="48541" cy="80371"/>
            </a:xfrm>
            <a:custGeom>
              <a:avLst/>
              <a:gdLst/>
              <a:ahLst/>
              <a:cxnLst/>
              <a:rect l="l" t="t" r="r" b="b"/>
              <a:pathLst>
                <a:path w="1525" h="2525" extrusionOk="0">
                  <a:moveTo>
                    <a:pt x="1268" y="0"/>
                  </a:moveTo>
                  <a:cubicBezTo>
                    <a:pt x="1206" y="0"/>
                    <a:pt x="1143" y="24"/>
                    <a:pt x="1096" y="72"/>
                  </a:cubicBezTo>
                  <a:lnTo>
                    <a:pt x="72" y="1096"/>
                  </a:lnTo>
                  <a:cubicBezTo>
                    <a:pt x="24" y="1143"/>
                    <a:pt x="0" y="1203"/>
                    <a:pt x="0" y="1262"/>
                  </a:cubicBezTo>
                  <a:cubicBezTo>
                    <a:pt x="0" y="1322"/>
                    <a:pt x="24" y="1381"/>
                    <a:pt x="72" y="1429"/>
                  </a:cubicBezTo>
                  <a:lnTo>
                    <a:pt x="1096" y="2453"/>
                  </a:lnTo>
                  <a:cubicBezTo>
                    <a:pt x="1143" y="2501"/>
                    <a:pt x="1203" y="2524"/>
                    <a:pt x="1262" y="2524"/>
                  </a:cubicBezTo>
                  <a:cubicBezTo>
                    <a:pt x="1322" y="2524"/>
                    <a:pt x="1381" y="2501"/>
                    <a:pt x="1429" y="2453"/>
                  </a:cubicBezTo>
                  <a:cubicBezTo>
                    <a:pt x="1524" y="2370"/>
                    <a:pt x="1524" y="2215"/>
                    <a:pt x="1441" y="2108"/>
                  </a:cubicBezTo>
                  <a:lnTo>
                    <a:pt x="596" y="1262"/>
                  </a:lnTo>
                  <a:lnTo>
                    <a:pt x="1441" y="417"/>
                  </a:lnTo>
                  <a:cubicBezTo>
                    <a:pt x="1524" y="322"/>
                    <a:pt x="1524" y="167"/>
                    <a:pt x="1441" y="72"/>
                  </a:cubicBezTo>
                  <a:cubicBezTo>
                    <a:pt x="1393" y="24"/>
                    <a:pt x="1331" y="0"/>
                    <a:pt x="1268" y="0"/>
                  </a:cubicBezTo>
                  <a:close/>
                </a:path>
              </a:pathLst>
            </a:custGeom>
            <a:solidFill>
              <a:srgbClr val="657E93"/>
            </a:solidFill>
            <a:ln>
              <a:solidFill>
                <a:srgbClr val="00B05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3775;p64">
              <a:extLst>
                <a:ext uri="{FF2B5EF4-FFF2-40B4-BE49-F238E27FC236}">
                  <a16:creationId xmlns:a16="http://schemas.microsoft.com/office/drawing/2014/main" id="{2BAE9EAB-235D-74AF-7785-4C7BBE16A2C8}"/>
                </a:ext>
              </a:extLst>
            </p:cNvPr>
            <p:cNvSpPr/>
            <p:nvPr/>
          </p:nvSpPr>
          <p:spPr>
            <a:xfrm>
              <a:off x="7380691" y="1636357"/>
              <a:ext cx="48891" cy="80371"/>
            </a:xfrm>
            <a:custGeom>
              <a:avLst/>
              <a:gdLst/>
              <a:ahLst/>
              <a:cxnLst/>
              <a:rect l="l" t="t" r="r" b="b"/>
              <a:pathLst>
                <a:path w="1536" h="2525" extrusionOk="0">
                  <a:moveTo>
                    <a:pt x="261" y="0"/>
                  </a:moveTo>
                  <a:cubicBezTo>
                    <a:pt x="197" y="0"/>
                    <a:pt x="131" y="24"/>
                    <a:pt x="83" y="72"/>
                  </a:cubicBezTo>
                  <a:cubicBezTo>
                    <a:pt x="0" y="155"/>
                    <a:pt x="0" y="322"/>
                    <a:pt x="83" y="417"/>
                  </a:cubicBezTo>
                  <a:lnTo>
                    <a:pt x="941" y="1262"/>
                  </a:lnTo>
                  <a:lnTo>
                    <a:pt x="83" y="2108"/>
                  </a:lnTo>
                  <a:cubicBezTo>
                    <a:pt x="0" y="2203"/>
                    <a:pt x="0" y="2358"/>
                    <a:pt x="83" y="2453"/>
                  </a:cubicBezTo>
                  <a:cubicBezTo>
                    <a:pt x="131" y="2501"/>
                    <a:pt x="191" y="2525"/>
                    <a:pt x="250" y="2525"/>
                  </a:cubicBezTo>
                  <a:cubicBezTo>
                    <a:pt x="310" y="2525"/>
                    <a:pt x="369" y="2501"/>
                    <a:pt x="417" y="2453"/>
                  </a:cubicBezTo>
                  <a:lnTo>
                    <a:pt x="1441" y="1429"/>
                  </a:lnTo>
                  <a:cubicBezTo>
                    <a:pt x="1488" y="1382"/>
                    <a:pt x="1512" y="1322"/>
                    <a:pt x="1512" y="1262"/>
                  </a:cubicBezTo>
                  <a:cubicBezTo>
                    <a:pt x="1536" y="1203"/>
                    <a:pt x="1500" y="1143"/>
                    <a:pt x="1453" y="1096"/>
                  </a:cubicBezTo>
                  <a:lnTo>
                    <a:pt x="429" y="72"/>
                  </a:lnTo>
                  <a:cubicBezTo>
                    <a:pt x="387" y="24"/>
                    <a:pt x="325" y="0"/>
                    <a:pt x="261" y="0"/>
                  </a:cubicBezTo>
                  <a:close/>
                </a:path>
              </a:pathLst>
            </a:custGeom>
            <a:solidFill>
              <a:srgbClr val="657E93"/>
            </a:solidFill>
            <a:ln>
              <a:solidFill>
                <a:srgbClr val="00B05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3776;p64">
              <a:extLst>
                <a:ext uri="{FF2B5EF4-FFF2-40B4-BE49-F238E27FC236}">
                  <a16:creationId xmlns:a16="http://schemas.microsoft.com/office/drawing/2014/main" id="{724928AA-5302-1663-9AA2-EA5EC3602EC2}"/>
                </a:ext>
              </a:extLst>
            </p:cNvPr>
            <p:cNvSpPr/>
            <p:nvPr/>
          </p:nvSpPr>
          <p:spPr>
            <a:xfrm>
              <a:off x="7321933" y="1626744"/>
              <a:ext cx="48923" cy="99851"/>
            </a:xfrm>
            <a:custGeom>
              <a:avLst/>
              <a:gdLst/>
              <a:ahLst/>
              <a:cxnLst/>
              <a:rect l="l" t="t" r="r" b="b"/>
              <a:pathLst>
                <a:path w="1537" h="3137" extrusionOk="0">
                  <a:moveTo>
                    <a:pt x="1249" y="0"/>
                  </a:moveTo>
                  <a:cubicBezTo>
                    <a:pt x="1154" y="0"/>
                    <a:pt x="1061" y="59"/>
                    <a:pt x="1025" y="160"/>
                  </a:cubicBezTo>
                  <a:lnTo>
                    <a:pt x="48" y="2815"/>
                  </a:lnTo>
                  <a:cubicBezTo>
                    <a:pt x="1" y="2934"/>
                    <a:pt x="60" y="3077"/>
                    <a:pt x="191" y="3124"/>
                  </a:cubicBezTo>
                  <a:cubicBezTo>
                    <a:pt x="227" y="3136"/>
                    <a:pt x="251" y="3136"/>
                    <a:pt x="286" y="3136"/>
                  </a:cubicBezTo>
                  <a:cubicBezTo>
                    <a:pt x="382" y="3136"/>
                    <a:pt x="477" y="3077"/>
                    <a:pt x="501" y="2981"/>
                  </a:cubicBezTo>
                  <a:lnTo>
                    <a:pt x="1489" y="326"/>
                  </a:lnTo>
                  <a:cubicBezTo>
                    <a:pt x="1537" y="207"/>
                    <a:pt x="1477" y="64"/>
                    <a:pt x="1334" y="17"/>
                  </a:cubicBezTo>
                  <a:cubicBezTo>
                    <a:pt x="1307" y="6"/>
                    <a:pt x="1278" y="0"/>
                    <a:pt x="1249" y="0"/>
                  </a:cubicBezTo>
                  <a:close/>
                </a:path>
              </a:pathLst>
            </a:custGeom>
            <a:solidFill>
              <a:srgbClr val="657E93"/>
            </a:solidFill>
            <a:ln>
              <a:solidFill>
                <a:srgbClr val="00B05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 name="Google Shape;13299;p64">
            <a:extLst>
              <a:ext uri="{FF2B5EF4-FFF2-40B4-BE49-F238E27FC236}">
                <a16:creationId xmlns:a16="http://schemas.microsoft.com/office/drawing/2014/main" id="{6D333A30-50BC-0B90-F248-C201965E4902}"/>
              </a:ext>
            </a:extLst>
          </p:cNvPr>
          <p:cNvSpPr/>
          <p:nvPr/>
        </p:nvSpPr>
        <p:spPr>
          <a:xfrm>
            <a:off x="117512" y="3573367"/>
            <a:ext cx="478431" cy="469780"/>
          </a:xfrm>
          <a:custGeom>
            <a:avLst/>
            <a:gdLst/>
            <a:ahLst/>
            <a:cxnLst/>
            <a:rect l="l" t="t" r="r" b="b"/>
            <a:pathLst>
              <a:path w="10919" h="10884" extrusionOk="0">
                <a:moveTo>
                  <a:pt x="9561" y="561"/>
                </a:moveTo>
                <a:lnTo>
                  <a:pt x="9561" y="1203"/>
                </a:lnTo>
                <a:cubicBezTo>
                  <a:pt x="9561" y="1299"/>
                  <a:pt x="9633" y="1370"/>
                  <a:pt x="9728" y="1370"/>
                </a:cubicBezTo>
                <a:lnTo>
                  <a:pt x="10359" y="1370"/>
                </a:lnTo>
                <a:lnTo>
                  <a:pt x="8966" y="2739"/>
                </a:lnTo>
                <a:lnTo>
                  <a:pt x="8394" y="2739"/>
                </a:lnTo>
                <a:lnTo>
                  <a:pt x="9323" y="1811"/>
                </a:lnTo>
                <a:cubicBezTo>
                  <a:pt x="9383" y="1751"/>
                  <a:pt x="9383" y="1644"/>
                  <a:pt x="9323" y="1584"/>
                </a:cubicBezTo>
                <a:cubicBezTo>
                  <a:pt x="9293" y="1555"/>
                  <a:pt x="9252" y="1540"/>
                  <a:pt x="9210" y="1540"/>
                </a:cubicBezTo>
                <a:cubicBezTo>
                  <a:pt x="9168" y="1540"/>
                  <a:pt x="9127" y="1555"/>
                  <a:pt x="9097" y="1584"/>
                </a:cubicBezTo>
                <a:lnTo>
                  <a:pt x="8180" y="2513"/>
                </a:lnTo>
                <a:lnTo>
                  <a:pt x="8180" y="1954"/>
                </a:lnTo>
                <a:lnTo>
                  <a:pt x="9561" y="561"/>
                </a:lnTo>
                <a:close/>
                <a:moveTo>
                  <a:pt x="4441" y="2382"/>
                </a:moveTo>
                <a:cubicBezTo>
                  <a:pt x="5513" y="2382"/>
                  <a:pt x="6489" y="2799"/>
                  <a:pt x="7228" y="3466"/>
                </a:cubicBezTo>
                <a:lnTo>
                  <a:pt x="4334" y="6347"/>
                </a:lnTo>
                <a:cubicBezTo>
                  <a:pt x="4275" y="6406"/>
                  <a:pt x="4275" y="6514"/>
                  <a:pt x="4334" y="6573"/>
                </a:cubicBezTo>
                <a:cubicBezTo>
                  <a:pt x="4370" y="6609"/>
                  <a:pt x="4406" y="6621"/>
                  <a:pt x="4453" y="6621"/>
                </a:cubicBezTo>
                <a:cubicBezTo>
                  <a:pt x="4501" y="6621"/>
                  <a:pt x="4525" y="6609"/>
                  <a:pt x="4572" y="6573"/>
                </a:cubicBezTo>
                <a:lnTo>
                  <a:pt x="5287" y="5859"/>
                </a:lnTo>
                <a:cubicBezTo>
                  <a:pt x="5418" y="6037"/>
                  <a:pt x="5477" y="6252"/>
                  <a:pt x="5477" y="6478"/>
                </a:cubicBezTo>
                <a:cubicBezTo>
                  <a:pt x="5477" y="7038"/>
                  <a:pt x="5013" y="7502"/>
                  <a:pt x="4453" y="7502"/>
                </a:cubicBezTo>
                <a:cubicBezTo>
                  <a:pt x="3894" y="7502"/>
                  <a:pt x="3429" y="7038"/>
                  <a:pt x="3429" y="6478"/>
                </a:cubicBezTo>
                <a:cubicBezTo>
                  <a:pt x="3429" y="5906"/>
                  <a:pt x="3894" y="5442"/>
                  <a:pt x="4453" y="5442"/>
                </a:cubicBezTo>
                <a:cubicBezTo>
                  <a:pt x="4513" y="5442"/>
                  <a:pt x="4584" y="5442"/>
                  <a:pt x="4644" y="5466"/>
                </a:cubicBezTo>
                <a:cubicBezTo>
                  <a:pt x="4652" y="5467"/>
                  <a:pt x="4660" y="5467"/>
                  <a:pt x="4668" y="5467"/>
                </a:cubicBezTo>
                <a:cubicBezTo>
                  <a:pt x="4751" y="5467"/>
                  <a:pt x="4813" y="5410"/>
                  <a:pt x="4834" y="5323"/>
                </a:cubicBezTo>
                <a:cubicBezTo>
                  <a:pt x="4858" y="5240"/>
                  <a:pt x="4799" y="5168"/>
                  <a:pt x="4703" y="5133"/>
                </a:cubicBezTo>
                <a:cubicBezTo>
                  <a:pt x="4620" y="5121"/>
                  <a:pt x="4537" y="5109"/>
                  <a:pt x="4453" y="5109"/>
                </a:cubicBezTo>
                <a:cubicBezTo>
                  <a:pt x="3703" y="5109"/>
                  <a:pt x="3096" y="5716"/>
                  <a:pt x="3096" y="6454"/>
                </a:cubicBezTo>
                <a:cubicBezTo>
                  <a:pt x="3096" y="7204"/>
                  <a:pt x="3703" y="7811"/>
                  <a:pt x="4453" y="7811"/>
                </a:cubicBezTo>
                <a:cubicBezTo>
                  <a:pt x="5192" y="7811"/>
                  <a:pt x="5811" y="7204"/>
                  <a:pt x="5811" y="6454"/>
                </a:cubicBezTo>
                <a:cubicBezTo>
                  <a:pt x="5811" y="6145"/>
                  <a:pt x="5704" y="5859"/>
                  <a:pt x="5525" y="5621"/>
                </a:cubicBezTo>
                <a:lnTo>
                  <a:pt x="6025" y="5121"/>
                </a:lnTo>
                <a:cubicBezTo>
                  <a:pt x="6346" y="5490"/>
                  <a:pt x="6525" y="5966"/>
                  <a:pt x="6525" y="6454"/>
                </a:cubicBezTo>
                <a:cubicBezTo>
                  <a:pt x="6525" y="7585"/>
                  <a:pt x="5596" y="8514"/>
                  <a:pt x="4465" y="8514"/>
                </a:cubicBezTo>
                <a:cubicBezTo>
                  <a:pt x="3334" y="8514"/>
                  <a:pt x="2417" y="7585"/>
                  <a:pt x="2417" y="6454"/>
                </a:cubicBezTo>
                <a:cubicBezTo>
                  <a:pt x="2417" y="5323"/>
                  <a:pt x="3334" y="4406"/>
                  <a:pt x="4465" y="4406"/>
                </a:cubicBezTo>
                <a:cubicBezTo>
                  <a:pt x="4811" y="4406"/>
                  <a:pt x="5156" y="4490"/>
                  <a:pt x="5453" y="4656"/>
                </a:cubicBezTo>
                <a:cubicBezTo>
                  <a:pt x="5476" y="4671"/>
                  <a:pt x="5502" y="4678"/>
                  <a:pt x="5528" y="4678"/>
                </a:cubicBezTo>
                <a:cubicBezTo>
                  <a:pt x="5585" y="4678"/>
                  <a:pt x="5643" y="4646"/>
                  <a:pt x="5668" y="4597"/>
                </a:cubicBezTo>
                <a:cubicBezTo>
                  <a:pt x="5715" y="4525"/>
                  <a:pt x="5692" y="4418"/>
                  <a:pt x="5608" y="4371"/>
                </a:cubicBezTo>
                <a:cubicBezTo>
                  <a:pt x="5275" y="4180"/>
                  <a:pt x="4882" y="4097"/>
                  <a:pt x="4477" y="4097"/>
                </a:cubicBezTo>
                <a:cubicBezTo>
                  <a:pt x="3167" y="4097"/>
                  <a:pt x="2120" y="5168"/>
                  <a:pt x="2120" y="6454"/>
                </a:cubicBezTo>
                <a:cubicBezTo>
                  <a:pt x="2120" y="7764"/>
                  <a:pt x="3191" y="8823"/>
                  <a:pt x="4477" y="8823"/>
                </a:cubicBezTo>
                <a:cubicBezTo>
                  <a:pt x="5787" y="8823"/>
                  <a:pt x="6847" y="7752"/>
                  <a:pt x="6847" y="6454"/>
                </a:cubicBezTo>
                <a:cubicBezTo>
                  <a:pt x="6847" y="5883"/>
                  <a:pt x="6644" y="5323"/>
                  <a:pt x="6263" y="4894"/>
                </a:cubicBezTo>
                <a:lnTo>
                  <a:pt x="6763" y="4406"/>
                </a:lnTo>
                <a:cubicBezTo>
                  <a:pt x="7263" y="4966"/>
                  <a:pt x="7549" y="5704"/>
                  <a:pt x="7549" y="6454"/>
                </a:cubicBezTo>
                <a:cubicBezTo>
                  <a:pt x="7549" y="8157"/>
                  <a:pt x="6168" y="9538"/>
                  <a:pt x="4465" y="9538"/>
                </a:cubicBezTo>
                <a:cubicBezTo>
                  <a:pt x="2775" y="9538"/>
                  <a:pt x="1382" y="8157"/>
                  <a:pt x="1382" y="6454"/>
                </a:cubicBezTo>
                <a:cubicBezTo>
                  <a:pt x="1382" y="4763"/>
                  <a:pt x="2775" y="3382"/>
                  <a:pt x="4465" y="3382"/>
                </a:cubicBezTo>
                <a:cubicBezTo>
                  <a:pt x="5061" y="3382"/>
                  <a:pt x="5632" y="3537"/>
                  <a:pt x="6132" y="3870"/>
                </a:cubicBezTo>
                <a:cubicBezTo>
                  <a:pt x="6157" y="3887"/>
                  <a:pt x="6187" y="3895"/>
                  <a:pt x="6217" y="3895"/>
                </a:cubicBezTo>
                <a:cubicBezTo>
                  <a:pt x="6272" y="3895"/>
                  <a:pt x="6328" y="3869"/>
                  <a:pt x="6358" y="3823"/>
                </a:cubicBezTo>
                <a:cubicBezTo>
                  <a:pt x="6406" y="3751"/>
                  <a:pt x="6382" y="3644"/>
                  <a:pt x="6311" y="3597"/>
                </a:cubicBezTo>
                <a:cubicBezTo>
                  <a:pt x="5763" y="3239"/>
                  <a:pt x="5132" y="3061"/>
                  <a:pt x="4477" y="3061"/>
                </a:cubicBezTo>
                <a:cubicBezTo>
                  <a:pt x="2608" y="3061"/>
                  <a:pt x="1084" y="4585"/>
                  <a:pt x="1084" y="6454"/>
                </a:cubicBezTo>
                <a:cubicBezTo>
                  <a:pt x="1084" y="8335"/>
                  <a:pt x="2608" y="9847"/>
                  <a:pt x="4477" y="9847"/>
                </a:cubicBezTo>
                <a:cubicBezTo>
                  <a:pt x="6358" y="9847"/>
                  <a:pt x="7870" y="8335"/>
                  <a:pt x="7870" y="6454"/>
                </a:cubicBezTo>
                <a:cubicBezTo>
                  <a:pt x="7870" y="5609"/>
                  <a:pt x="7561" y="4811"/>
                  <a:pt x="7001" y="4168"/>
                </a:cubicBezTo>
                <a:lnTo>
                  <a:pt x="7489" y="3680"/>
                </a:lnTo>
                <a:cubicBezTo>
                  <a:pt x="8120" y="4418"/>
                  <a:pt x="8537" y="5394"/>
                  <a:pt x="8537" y="6478"/>
                </a:cubicBezTo>
                <a:cubicBezTo>
                  <a:pt x="8537" y="8740"/>
                  <a:pt x="6692" y="10562"/>
                  <a:pt x="4441" y="10562"/>
                </a:cubicBezTo>
                <a:cubicBezTo>
                  <a:pt x="2191" y="10562"/>
                  <a:pt x="346" y="8716"/>
                  <a:pt x="346" y="6478"/>
                </a:cubicBezTo>
                <a:cubicBezTo>
                  <a:pt x="346" y="4228"/>
                  <a:pt x="2191" y="2382"/>
                  <a:pt x="4441" y="2382"/>
                </a:cubicBezTo>
                <a:close/>
                <a:moveTo>
                  <a:pt x="9701" y="1"/>
                </a:moveTo>
                <a:cubicBezTo>
                  <a:pt x="9659" y="1"/>
                  <a:pt x="9617" y="17"/>
                  <a:pt x="9585" y="49"/>
                </a:cubicBezTo>
                <a:lnTo>
                  <a:pt x="7894" y="1739"/>
                </a:lnTo>
                <a:cubicBezTo>
                  <a:pt x="7859" y="1775"/>
                  <a:pt x="7847" y="1811"/>
                  <a:pt x="7847" y="1858"/>
                </a:cubicBezTo>
                <a:lnTo>
                  <a:pt x="7847" y="2811"/>
                </a:lnTo>
                <a:lnTo>
                  <a:pt x="7430" y="3228"/>
                </a:lnTo>
                <a:cubicBezTo>
                  <a:pt x="6644" y="2501"/>
                  <a:pt x="5584" y="2037"/>
                  <a:pt x="4430" y="2037"/>
                </a:cubicBezTo>
                <a:cubicBezTo>
                  <a:pt x="1989" y="2037"/>
                  <a:pt x="0" y="4013"/>
                  <a:pt x="0" y="6454"/>
                </a:cubicBezTo>
                <a:cubicBezTo>
                  <a:pt x="0" y="8895"/>
                  <a:pt x="1989" y="10883"/>
                  <a:pt x="4430" y="10883"/>
                </a:cubicBezTo>
                <a:cubicBezTo>
                  <a:pt x="6870" y="10883"/>
                  <a:pt x="8847" y="8895"/>
                  <a:pt x="8847" y="6454"/>
                </a:cubicBezTo>
                <a:cubicBezTo>
                  <a:pt x="8847" y="5299"/>
                  <a:pt x="8394" y="4240"/>
                  <a:pt x="7656" y="3454"/>
                </a:cubicBezTo>
                <a:lnTo>
                  <a:pt x="8073" y="3037"/>
                </a:lnTo>
                <a:lnTo>
                  <a:pt x="9025" y="3037"/>
                </a:lnTo>
                <a:cubicBezTo>
                  <a:pt x="9073" y="3037"/>
                  <a:pt x="9109" y="3013"/>
                  <a:pt x="9144" y="2989"/>
                </a:cubicBezTo>
                <a:lnTo>
                  <a:pt x="10835" y="1299"/>
                </a:lnTo>
                <a:cubicBezTo>
                  <a:pt x="10895" y="1251"/>
                  <a:pt x="10918" y="1192"/>
                  <a:pt x="10883" y="1132"/>
                </a:cubicBezTo>
                <a:cubicBezTo>
                  <a:pt x="10859" y="1072"/>
                  <a:pt x="10799" y="1025"/>
                  <a:pt x="10740" y="1025"/>
                </a:cubicBezTo>
                <a:lnTo>
                  <a:pt x="9871" y="1025"/>
                </a:lnTo>
                <a:lnTo>
                  <a:pt x="9871" y="168"/>
                </a:lnTo>
                <a:cubicBezTo>
                  <a:pt x="9871" y="108"/>
                  <a:pt x="9823" y="49"/>
                  <a:pt x="9764" y="13"/>
                </a:cubicBezTo>
                <a:cubicBezTo>
                  <a:pt x="9744" y="5"/>
                  <a:pt x="9723" y="1"/>
                  <a:pt x="9701" y="1"/>
                </a:cubicBezTo>
                <a:close/>
              </a:path>
            </a:pathLst>
          </a:custGeom>
          <a:solidFill>
            <a:srgbClr val="657E93"/>
          </a:solidFill>
          <a:ln>
            <a:solidFill>
              <a:srgbClr val="FFC00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74;p27">
            <a:extLst>
              <a:ext uri="{FF2B5EF4-FFF2-40B4-BE49-F238E27FC236}">
                <a16:creationId xmlns:a16="http://schemas.microsoft.com/office/drawing/2014/main" id="{9CF91B13-FF1D-2F05-D7EB-914ED744C1FC}"/>
              </a:ext>
            </a:extLst>
          </p:cNvPr>
          <p:cNvSpPr txBox="1">
            <a:spLocks/>
          </p:cNvSpPr>
          <p:nvPr/>
        </p:nvSpPr>
        <p:spPr>
          <a:xfrm>
            <a:off x="684712" y="2379639"/>
            <a:ext cx="1386600" cy="368737"/>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pt-PT" b="1" cap="small" dirty="0">
                <a:solidFill>
                  <a:schemeClr val="lt1"/>
                </a:solidFill>
                <a:latin typeface="Maven Pro"/>
              </a:rPr>
              <a:t>Inicial</a:t>
            </a:r>
            <a:r>
              <a:rPr lang="pt-PT" sz="1500" b="1" cap="small" dirty="0">
                <a:solidFill>
                  <a:schemeClr val="lt1"/>
                </a:solidFill>
                <a:latin typeface="Maven Pro"/>
              </a:rPr>
              <a:t> </a:t>
            </a:r>
            <a:r>
              <a:rPr lang="pt-PT" sz="1500" b="1" cap="small" dirty="0" err="1">
                <a:solidFill>
                  <a:schemeClr val="lt1"/>
                </a:solidFill>
                <a:latin typeface="Maven Pro"/>
              </a:rPr>
              <a:t>state</a:t>
            </a:r>
            <a:endParaRPr lang="pt-PT" sz="1500" b="1" cap="small" dirty="0">
              <a:solidFill>
                <a:schemeClr val="lt1"/>
              </a:solidFill>
              <a:latin typeface="Maven Pro"/>
            </a:endParaRPr>
          </a:p>
        </p:txBody>
      </p:sp>
      <p:sp>
        <p:nvSpPr>
          <p:cNvPr id="16" name="Google Shape;475;p27">
            <a:extLst>
              <a:ext uri="{FF2B5EF4-FFF2-40B4-BE49-F238E27FC236}">
                <a16:creationId xmlns:a16="http://schemas.microsoft.com/office/drawing/2014/main" id="{666C3CEE-1781-0EE6-F760-52A1BA3B7105}"/>
              </a:ext>
            </a:extLst>
          </p:cNvPr>
          <p:cNvSpPr txBox="1">
            <a:spLocks/>
          </p:cNvSpPr>
          <p:nvPr/>
        </p:nvSpPr>
        <p:spPr>
          <a:xfrm>
            <a:off x="692917" y="985134"/>
            <a:ext cx="2152500" cy="360454"/>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pt-PT" b="1" cap="small" dirty="0" err="1">
                <a:solidFill>
                  <a:schemeClr val="lt1"/>
                </a:solidFill>
                <a:latin typeface="Maven Pro"/>
              </a:rPr>
              <a:t>State</a:t>
            </a:r>
            <a:r>
              <a:rPr lang="pt-PT" b="1" cap="small" dirty="0">
                <a:solidFill>
                  <a:schemeClr val="lt1"/>
                </a:solidFill>
                <a:latin typeface="Maven Pro"/>
              </a:rPr>
              <a:t> </a:t>
            </a:r>
            <a:r>
              <a:rPr lang="pt-PT" b="1" cap="small" dirty="0" err="1">
                <a:solidFill>
                  <a:schemeClr val="lt1"/>
                </a:solidFill>
                <a:latin typeface="Maven Pro"/>
              </a:rPr>
              <a:t>representation</a:t>
            </a:r>
            <a:endParaRPr lang="pt-PT" b="1" cap="small" dirty="0">
              <a:solidFill>
                <a:schemeClr val="lt1"/>
              </a:solidFill>
              <a:latin typeface="Maven Pro"/>
            </a:endParaRPr>
          </a:p>
        </p:txBody>
      </p:sp>
      <p:sp>
        <p:nvSpPr>
          <p:cNvPr id="17" name="Google Shape;472;p27">
            <a:extLst>
              <a:ext uri="{FF2B5EF4-FFF2-40B4-BE49-F238E27FC236}">
                <a16:creationId xmlns:a16="http://schemas.microsoft.com/office/drawing/2014/main" id="{F64591F8-CDFE-723E-6442-FEE1C8B7E2D5}"/>
              </a:ext>
            </a:extLst>
          </p:cNvPr>
          <p:cNvSpPr txBox="1">
            <a:spLocks/>
          </p:cNvSpPr>
          <p:nvPr/>
        </p:nvSpPr>
        <p:spPr>
          <a:xfrm>
            <a:off x="714628" y="3503922"/>
            <a:ext cx="1384800" cy="38122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pt-PT" b="1" cap="small" dirty="0">
                <a:solidFill>
                  <a:schemeClr val="lt1"/>
                </a:solidFill>
                <a:latin typeface="Maven Pro"/>
                <a:sym typeface="Maven Pro"/>
              </a:rPr>
              <a:t>Objetive</a:t>
            </a:r>
            <a:r>
              <a:rPr lang="pt-PT" sz="1500" b="1" cap="small" dirty="0">
                <a:solidFill>
                  <a:schemeClr val="lt1"/>
                </a:solidFill>
                <a:latin typeface="Maven Pro"/>
                <a:sym typeface="Maven Pro"/>
              </a:rPr>
              <a:t> </a:t>
            </a:r>
            <a:r>
              <a:rPr lang="pt-PT" sz="1500" b="1" cap="small" dirty="0" err="1">
                <a:solidFill>
                  <a:schemeClr val="lt1"/>
                </a:solidFill>
                <a:latin typeface="Maven Pro"/>
                <a:sym typeface="Maven Pro"/>
              </a:rPr>
              <a:t>test</a:t>
            </a:r>
            <a:endParaRPr lang="pt-PT" sz="1500" b="1" cap="small" dirty="0">
              <a:solidFill>
                <a:schemeClr val="lt1"/>
              </a:solidFill>
              <a:latin typeface="Maven Pro"/>
              <a:sym typeface="Maven Pro"/>
            </a:endParaRPr>
          </a:p>
        </p:txBody>
      </p:sp>
      <p:sp>
        <p:nvSpPr>
          <p:cNvPr id="19" name="CaixaDeTexto 18">
            <a:extLst>
              <a:ext uri="{FF2B5EF4-FFF2-40B4-BE49-F238E27FC236}">
                <a16:creationId xmlns:a16="http://schemas.microsoft.com/office/drawing/2014/main" id="{F36ABBFA-ABAD-B899-6E7F-98CAD8D5BAE1}"/>
              </a:ext>
            </a:extLst>
          </p:cNvPr>
          <p:cNvSpPr txBox="1"/>
          <p:nvPr/>
        </p:nvSpPr>
        <p:spPr>
          <a:xfrm>
            <a:off x="6803119" y="1018256"/>
            <a:ext cx="1075936" cy="307777"/>
          </a:xfrm>
          <a:prstGeom prst="rect">
            <a:avLst/>
          </a:prstGeom>
          <a:noFill/>
        </p:spPr>
        <p:txBody>
          <a:bodyPr wrap="none" rtlCol="0">
            <a:spAutoFit/>
          </a:bodyPr>
          <a:lstStyle/>
          <a:p>
            <a:r>
              <a:rPr lang="pt-PT" b="1" cap="small" dirty="0" err="1">
                <a:solidFill>
                  <a:schemeClr val="lt1"/>
                </a:solidFill>
                <a:latin typeface="Maven Pro"/>
              </a:rPr>
              <a:t>Operators</a:t>
            </a:r>
            <a:endParaRPr lang="pt-PT" b="1" cap="small" dirty="0">
              <a:solidFill>
                <a:schemeClr val="lt1"/>
              </a:solidFill>
              <a:latin typeface="Maven Pro"/>
            </a:endParaRPr>
          </a:p>
        </p:txBody>
      </p:sp>
      <p:grpSp>
        <p:nvGrpSpPr>
          <p:cNvPr id="33" name="Google Shape;8778;p54">
            <a:extLst>
              <a:ext uri="{FF2B5EF4-FFF2-40B4-BE49-F238E27FC236}">
                <a16:creationId xmlns:a16="http://schemas.microsoft.com/office/drawing/2014/main" id="{ECDD98D6-3C02-3B36-AE9F-B41D19FF4324}"/>
              </a:ext>
            </a:extLst>
          </p:cNvPr>
          <p:cNvGrpSpPr/>
          <p:nvPr/>
        </p:nvGrpSpPr>
        <p:grpSpPr>
          <a:xfrm rot="5400000">
            <a:off x="128159" y="1097849"/>
            <a:ext cx="448317" cy="501651"/>
            <a:chOff x="844912" y="1681380"/>
            <a:chExt cx="935611" cy="787305"/>
          </a:xfrm>
          <a:solidFill>
            <a:schemeClr val="tx2">
              <a:lumMod val="50000"/>
            </a:schemeClr>
          </a:solidFill>
        </p:grpSpPr>
        <p:grpSp>
          <p:nvGrpSpPr>
            <p:cNvPr id="34" name="Google Shape;8779;p54">
              <a:extLst>
                <a:ext uri="{FF2B5EF4-FFF2-40B4-BE49-F238E27FC236}">
                  <a16:creationId xmlns:a16="http://schemas.microsoft.com/office/drawing/2014/main" id="{E22BC1A8-1471-1850-BDB5-9E33B26744E0}"/>
                </a:ext>
              </a:extLst>
            </p:cNvPr>
            <p:cNvGrpSpPr/>
            <p:nvPr/>
          </p:nvGrpSpPr>
          <p:grpSpPr>
            <a:xfrm>
              <a:off x="844912" y="1819635"/>
              <a:ext cx="329836" cy="510016"/>
              <a:chOff x="844912" y="1819635"/>
              <a:chExt cx="329836" cy="510016"/>
            </a:xfrm>
            <a:grpFill/>
          </p:grpSpPr>
          <p:sp>
            <p:nvSpPr>
              <p:cNvPr id="61" name="Google Shape;8780;p54">
                <a:extLst>
                  <a:ext uri="{FF2B5EF4-FFF2-40B4-BE49-F238E27FC236}">
                    <a16:creationId xmlns:a16="http://schemas.microsoft.com/office/drawing/2014/main" id="{95B5DE65-5862-7511-A251-F4A2318D95BD}"/>
                  </a:ext>
                </a:extLst>
              </p:cNvPr>
              <p:cNvSpPr/>
              <p:nvPr/>
            </p:nvSpPr>
            <p:spPr>
              <a:xfrm>
                <a:off x="844912" y="2015566"/>
                <a:ext cx="118283" cy="118477"/>
              </a:xfrm>
              <a:custGeom>
                <a:avLst/>
                <a:gdLst/>
                <a:ahLst/>
                <a:cxnLst/>
                <a:rect l="l" t="t" r="r" b="b"/>
                <a:pathLst>
                  <a:path w="20082" h="20115" extrusionOk="0">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grpFill/>
              <a:ln w="9525" cap="flat" cmpd="sng">
                <a:solidFill>
                  <a:schemeClr val="accent3">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8781;p54">
                <a:extLst>
                  <a:ext uri="{FF2B5EF4-FFF2-40B4-BE49-F238E27FC236}">
                    <a16:creationId xmlns:a16="http://schemas.microsoft.com/office/drawing/2014/main" id="{A1041287-B75F-9164-02EB-1738141F7C1C}"/>
                  </a:ext>
                </a:extLst>
              </p:cNvPr>
              <p:cNvSpPr/>
              <p:nvPr/>
            </p:nvSpPr>
            <p:spPr>
              <a:xfrm>
                <a:off x="1013654" y="2074499"/>
                <a:ext cx="148151" cy="238327"/>
              </a:xfrm>
              <a:custGeom>
                <a:avLst/>
                <a:gdLst/>
                <a:ahLst/>
                <a:cxnLst/>
                <a:rect l="l" t="t" r="r" b="b"/>
                <a:pathLst>
                  <a:path w="25153" h="40463" fill="none" extrusionOk="0">
                    <a:moveTo>
                      <a:pt x="25152" y="40463"/>
                    </a:moveTo>
                    <a:cubicBezTo>
                      <a:pt x="19315" y="40463"/>
                      <a:pt x="14378" y="32724"/>
                      <a:pt x="12777" y="22150"/>
                    </a:cubicBezTo>
                    <a:lnTo>
                      <a:pt x="12810" y="22350"/>
                    </a:lnTo>
                    <a:cubicBezTo>
                      <a:pt x="10542" y="7606"/>
                      <a:pt x="6372" y="1"/>
                      <a:pt x="1" y="1"/>
                    </a:cubicBezTo>
                    <a:lnTo>
                      <a:pt x="1" y="1"/>
                    </a:lnTo>
                  </a:path>
                </a:pathLst>
              </a:custGeom>
              <a:grpFill/>
              <a:ln w="9525" cap="rnd" cmpd="sng">
                <a:solidFill>
                  <a:schemeClr val="accent3">
                    <a:lumMod val="75000"/>
                  </a:schemeClr>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8782;p54">
                <a:extLst>
                  <a:ext uri="{FF2B5EF4-FFF2-40B4-BE49-F238E27FC236}">
                    <a16:creationId xmlns:a16="http://schemas.microsoft.com/office/drawing/2014/main" id="{9B9F0DCB-4FDB-0D00-4089-5A084CE19A46}"/>
                  </a:ext>
                </a:extLst>
              </p:cNvPr>
              <p:cNvSpPr/>
              <p:nvPr/>
            </p:nvSpPr>
            <p:spPr>
              <a:xfrm>
                <a:off x="1013654" y="1836607"/>
                <a:ext cx="148151" cy="238327"/>
              </a:xfrm>
              <a:custGeom>
                <a:avLst/>
                <a:gdLst/>
                <a:ahLst/>
                <a:cxnLst/>
                <a:rect l="l" t="t" r="r" b="b"/>
                <a:pathLst>
                  <a:path w="25153" h="40463" fill="none" extrusionOk="0">
                    <a:moveTo>
                      <a:pt x="25152" y="0"/>
                    </a:moveTo>
                    <a:cubicBezTo>
                      <a:pt x="19315" y="0"/>
                      <a:pt x="14378" y="7706"/>
                      <a:pt x="12777" y="18313"/>
                    </a:cubicBezTo>
                    <a:lnTo>
                      <a:pt x="12810" y="18113"/>
                    </a:lnTo>
                    <a:cubicBezTo>
                      <a:pt x="10542" y="32857"/>
                      <a:pt x="6372" y="40462"/>
                      <a:pt x="1" y="40462"/>
                    </a:cubicBezTo>
                    <a:lnTo>
                      <a:pt x="1" y="40462"/>
                    </a:lnTo>
                  </a:path>
                </a:pathLst>
              </a:custGeom>
              <a:grpFill/>
              <a:ln w="9525" cap="rnd" cmpd="sng">
                <a:solidFill>
                  <a:schemeClr val="accent3">
                    <a:lumMod val="75000"/>
                  </a:schemeClr>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8783;p54">
                <a:extLst>
                  <a:ext uri="{FF2B5EF4-FFF2-40B4-BE49-F238E27FC236}">
                    <a16:creationId xmlns:a16="http://schemas.microsoft.com/office/drawing/2014/main" id="{A87A0E1F-CA3E-9CC3-FA5C-5E78A2086C9A}"/>
                  </a:ext>
                </a:extLst>
              </p:cNvPr>
              <p:cNvSpPr/>
              <p:nvPr/>
            </p:nvSpPr>
            <p:spPr>
              <a:xfrm>
                <a:off x="1004031" y="2056625"/>
                <a:ext cx="35958" cy="35958"/>
              </a:xfrm>
              <a:custGeom>
                <a:avLst/>
                <a:gdLst/>
                <a:ahLst/>
                <a:cxnLst/>
                <a:rect l="l" t="t" r="r" b="b"/>
                <a:pathLst>
                  <a:path w="6105" h="6105" extrusionOk="0">
                    <a:moveTo>
                      <a:pt x="3069" y="0"/>
                    </a:moveTo>
                    <a:cubicBezTo>
                      <a:pt x="1368" y="0"/>
                      <a:pt x="0" y="1368"/>
                      <a:pt x="0" y="3036"/>
                    </a:cubicBezTo>
                    <a:cubicBezTo>
                      <a:pt x="0" y="4737"/>
                      <a:pt x="1368" y="6105"/>
                      <a:pt x="3069" y="6105"/>
                    </a:cubicBezTo>
                    <a:cubicBezTo>
                      <a:pt x="4737" y="6105"/>
                      <a:pt x="6105" y="4737"/>
                      <a:pt x="6105" y="3036"/>
                    </a:cubicBezTo>
                    <a:cubicBezTo>
                      <a:pt x="6105" y="1368"/>
                      <a:pt x="4737" y="0"/>
                      <a:pt x="3069" y="0"/>
                    </a:cubicBezTo>
                    <a:close/>
                  </a:path>
                </a:pathLst>
              </a:cu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8784;p54">
                <a:extLst>
                  <a:ext uri="{FF2B5EF4-FFF2-40B4-BE49-F238E27FC236}">
                    <a16:creationId xmlns:a16="http://schemas.microsoft.com/office/drawing/2014/main" id="{13B7B79E-BC0D-34B4-1662-EE185DF7E1E8}"/>
                  </a:ext>
                </a:extLst>
              </p:cNvPr>
              <p:cNvSpPr/>
              <p:nvPr/>
            </p:nvSpPr>
            <p:spPr>
              <a:xfrm>
                <a:off x="1149398" y="2295742"/>
                <a:ext cx="25351" cy="33909"/>
              </a:xfrm>
              <a:custGeom>
                <a:avLst/>
                <a:gdLst/>
                <a:ahLst/>
                <a:cxnLst/>
                <a:rect l="l" t="t" r="r" b="b"/>
                <a:pathLst>
                  <a:path w="4304" h="5757" extrusionOk="0">
                    <a:moveTo>
                      <a:pt x="509" y="0"/>
                    </a:moveTo>
                    <a:cubicBezTo>
                      <a:pt x="247" y="0"/>
                      <a:pt x="1" y="203"/>
                      <a:pt x="1" y="493"/>
                    </a:cubicBezTo>
                    <a:lnTo>
                      <a:pt x="1" y="5263"/>
                    </a:lnTo>
                    <a:cubicBezTo>
                      <a:pt x="1" y="5554"/>
                      <a:pt x="229" y="5757"/>
                      <a:pt x="482" y="5757"/>
                    </a:cubicBezTo>
                    <a:cubicBezTo>
                      <a:pt x="577" y="5757"/>
                      <a:pt x="676" y="5728"/>
                      <a:pt x="768" y="5664"/>
                    </a:cubicBezTo>
                    <a:lnTo>
                      <a:pt x="4003" y="3395"/>
                    </a:lnTo>
                    <a:cubicBezTo>
                      <a:pt x="4304" y="3195"/>
                      <a:pt x="4304" y="2795"/>
                      <a:pt x="4037" y="2595"/>
                    </a:cubicBezTo>
                    <a:lnTo>
                      <a:pt x="801" y="93"/>
                    </a:lnTo>
                    <a:cubicBezTo>
                      <a:pt x="710" y="29"/>
                      <a:pt x="608" y="0"/>
                      <a:pt x="509" y="0"/>
                    </a:cubicBezTo>
                    <a:close/>
                  </a:path>
                </a:pathLst>
              </a:cu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8785;p54">
                <a:extLst>
                  <a:ext uri="{FF2B5EF4-FFF2-40B4-BE49-F238E27FC236}">
                    <a16:creationId xmlns:a16="http://schemas.microsoft.com/office/drawing/2014/main" id="{1550EB17-8A21-663E-782A-E39A56A5229A}"/>
                  </a:ext>
                </a:extLst>
              </p:cNvPr>
              <p:cNvSpPr/>
              <p:nvPr/>
            </p:nvSpPr>
            <p:spPr>
              <a:xfrm>
                <a:off x="1149398" y="1819635"/>
                <a:ext cx="25351" cy="34032"/>
              </a:xfrm>
              <a:custGeom>
                <a:avLst/>
                <a:gdLst/>
                <a:ahLst/>
                <a:cxnLst/>
                <a:rect l="l" t="t" r="r" b="b"/>
                <a:pathLst>
                  <a:path w="4304" h="5778" extrusionOk="0">
                    <a:moveTo>
                      <a:pt x="489" y="0"/>
                    </a:moveTo>
                    <a:cubicBezTo>
                      <a:pt x="234" y="0"/>
                      <a:pt x="1" y="207"/>
                      <a:pt x="1" y="514"/>
                    </a:cubicBezTo>
                    <a:lnTo>
                      <a:pt x="1" y="5284"/>
                    </a:lnTo>
                    <a:cubicBezTo>
                      <a:pt x="1" y="5574"/>
                      <a:pt x="229" y="5777"/>
                      <a:pt x="482" y="5777"/>
                    </a:cubicBezTo>
                    <a:cubicBezTo>
                      <a:pt x="577" y="5777"/>
                      <a:pt x="676" y="5748"/>
                      <a:pt x="768" y="5684"/>
                    </a:cubicBezTo>
                    <a:lnTo>
                      <a:pt x="4003" y="3382"/>
                    </a:lnTo>
                    <a:cubicBezTo>
                      <a:pt x="4304" y="3182"/>
                      <a:pt x="4304" y="2782"/>
                      <a:pt x="4037" y="2582"/>
                    </a:cubicBezTo>
                    <a:lnTo>
                      <a:pt x="801" y="113"/>
                    </a:lnTo>
                    <a:cubicBezTo>
                      <a:pt x="704" y="35"/>
                      <a:pt x="595" y="0"/>
                      <a:pt x="489" y="0"/>
                    </a:cubicBezTo>
                    <a:close/>
                  </a:path>
                </a:pathLst>
              </a:cu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8786;p54">
              <a:extLst>
                <a:ext uri="{FF2B5EF4-FFF2-40B4-BE49-F238E27FC236}">
                  <a16:creationId xmlns:a16="http://schemas.microsoft.com/office/drawing/2014/main" id="{3C6D6DE8-32EA-76DB-6DD7-E97DE2D616BC}"/>
                </a:ext>
              </a:extLst>
            </p:cNvPr>
            <p:cNvGrpSpPr/>
            <p:nvPr/>
          </p:nvGrpSpPr>
          <p:grpSpPr>
            <a:xfrm>
              <a:off x="1284601" y="2158168"/>
              <a:ext cx="495923" cy="310517"/>
              <a:chOff x="1284601" y="2158168"/>
              <a:chExt cx="495923" cy="310517"/>
            </a:xfrm>
            <a:grpFill/>
          </p:grpSpPr>
          <p:sp>
            <p:nvSpPr>
              <p:cNvPr id="49" name="Google Shape;8787;p54">
                <a:extLst>
                  <a:ext uri="{FF2B5EF4-FFF2-40B4-BE49-F238E27FC236}">
                    <a16:creationId xmlns:a16="http://schemas.microsoft.com/office/drawing/2014/main" id="{672127CF-9AF6-FE66-ACF1-7AA4766248EC}"/>
                  </a:ext>
                </a:extLst>
              </p:cNvPr>
              <p:cNvSpPr/>
              <p:nvPr/>
            </p:nvSpPr>
            <p:spPr>
              <a:xfrm>
                <a:off x="1284601" y="2265773"/>
                <a:ext cx="93683" cy="93836"/>
              </a:xfrm>
              <a:custGeom>
                <a:avLst/>
                <a:gdLst/>
                <a:ahLst/>
                <a:cxnLst/>
                <a:rect l="l" t="t" r="r" b="b"/>
                <a:pathLst>
                  <a:path w="20082" h="20115" extrusionOk="0">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grpFill/>
              <a:ln w="9525" cap="flat" cmpd="sng">
                <a:solidFill>
                  <a:schemeClr val="accent3">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 name="Google Shape;8788;p54">
                <a:extLst>
                  <a:ext uri="{FF2B5EF4-FFF2-40B4-BE49-F238E27FC236}">
                    <a16:creationId xmlns:a16="http://schemas.microsoft.com/office/drawing/2014/main" id="{6A849846-6A21-1E48-525D-C7A1C3C122FC}"/>
                  </a:ext>
                </a:extLst>
              </p:cNvPr>
              <p:cNvGrpSpPr/>
              <p:nvPr/>
            </p:nvGrpSpPr>
            <p:grpSpPr>
              <a:xfrm>
                <a:off x="1507666" y="2158168"/>
                <a:ext cx="272858" cy="310517"/>
                <a:chOff x="1507666" y="2158168"/>
                <a:chExt cx="272858" cy="310517"/>
              </a:xfrm>
              <a:grpFill/>
            </p:grpSpPr>
            <p:grpSp>
              <p:nvGrpSpPr>
                <p:cNvPr id="51" name="Google Shape;8789;p54">
                  <a:extLst>
                    <a:ext uri="{FF2B5EF4-FFF2-40B4-BE49-F238E27FC236}">
                      <a16:creationId xmlns:a16="http://schemas.microsoft.com/office/drawing/2014/main" id="{F30B271C-FD20-69E9-3F3B-152043AA7FC4}"/>
                    </a:ext>
                  </a:extLst>
                </p:cNvPr>
                <p:cNvGrpSpPr/>
                <p:nvPr/>
              </p:nvGrpSpPr>
              <p:grpSpPr>
                <a:xfrm>
                  <a:off x="1507666" y="2176104"/>
                  <a:ext cx="166395" cy="273149"/>
                  <a:chOff x="1507666" y="2176104"/>
                  <a:chExt cx="166395" cy="273149"/>
                </a:xfrm>
                <a:grpFill/>
              </p:grpSpPr>
              <p:sp>
                <p:nvSpPr>
                  <p:cNvPr id="54" name="Google Shape;8790;p54">
                    <a:extLst>
                      <a:ext uri="{FF2B5EF4-FFF2-40B4-BE49-F238E27FC236}">
                        <a16:creationId xmlns:a16="http://schemas.microsoft.com/office/drawing/2014/main" id="{C8999236-7A3E-DBF5-391D-22915BAE7873}"/>
                      </a:ext>
                    </a:extLst>
                  </p:cNvPr>
                  <p:cNvSpPr/>
                  <p:nvPr/>
                </p:nvSpPr>
                <p:spPr>
                  <a:xfrm>
                    <a:off x="1512966" y="2312791"/>
                    <a:ext cx="75451" cy="66021"/>
                  </a:xfrm>
                  <a:custGeom>
                    <a:avLst/>
                    <a:gdLst/>
                    <a:ahLst/>
                    <a:cxnLst/>
                    <a:rect l="l" t="t" r="r" b="b"/>
                    <a:pathLst>
                      <a:path w="12810" h="11209" fill="none" extrusionOk="0">
                        <a:moveTo>
                          <a:pt x="1" y="0"/>
                        </a:moveTo>
                        <a:lnTo>
                          <a:pt x="1" y="0"/>
                        </a:lnTo>
                        <a:cubicBezTo>
                          <a:pt x="6372" y="0"/>
                          <a:pt x="10542" y="3803"/>
                          <a:pt x="12810" y="11208"/>
                        </a:cubicBezTo>
                      </a:path>
                    </a:pathLst>
                  </a:custGeom>
                  <a:grpFill/>
                  <a:ln w="9525" cap="rnd" cmpd="sng">
                    <a:solidFill>
                      <a:schemeClr val="accent3">
                        <a:lumMod val="75000"/>
                      </a:schemeClr>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8791;p54">
                    <a:extLst>
                      <a:ext uri="{FF2B5EF4-FFF2-40B4-BE49-F238E27FC236}">
                        <a16:creationId xmlns:a16="http://schemas.microsoft.com/office/drawing/2014/main" id="{226A3BB4-EFB1-9AC9-9653-0A2046A8F004}"/>
                      </a:ext>
                    </a:extLst>
                  </p:cNvPr>
                  <p:cNvSpPr/>
                  <p:nvPr/>
                </p:nvSpPr>
                <p:spPr>
                  <a:xfrm>
                    <a:off x="1588205" y="2193153"/>
                    <a:ext cx="72901" cy="54035"/>
                  </a:xfrm>
                  <a:custGeom>
                    <a:avLst/>
                    <a:gdLst/>
                    <a:ahLst/>
                    <a:cxnLst/>
                    <a:rect l="l" t="t" r="r" b="b"/>
                    <a:pathLst>
                      <a:path w="12377" h="9174" fill="none" extrusionOk="0">
                        <a:moveTo>
                          <a:pt x="1" y="9174"/>
                        </a:moveTo>
                        <a:cubicBezTo>
                          <a:pt x="1635" y="3870"/>
                          <a:pt x="6539" y="0"/>
                          <a:pt x="12376" y="0"/>
                        </a:cubicBezTo>
                      </a:path>
                    </a:pathLst>
                  </a:custGeom>
                  <a:grpFill/>
                  <a:ln w="9525" cap="rnd" cmpd="sng">
                    <a:solidFill>
                      <a:schemeClr val="accent3">
                        <a:lumMod val="75000"/>
                      </a:schemeClr>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8792;p54">
                    <a:extLst>
                      <a:ext uri="{FF2B5EF4-FFF2-40B4-BE49-F238E27FC236}">
                        <a16:creationId xmlns:a16="http://schemas.microsoft.com/office/drawing/2014/main" id="{A17D3AE2-2AE9-9ED6-2C4F-19800D638FC1}"/>
                      </a:ext>
                    </a:extLst>
                  </p:cNvPr>
                  <p:cNvSpPr/>
                  <p:nvPr/>
                </p:nvSpPr>
                <p:spPr>
                  <a:xfrm>
                    <a:off x="1588205" y="2378202"/>
                    <a:ext cx="72901" cy="54041"/>
                  </a:xfrm>
                  <a:custGeom>
                    <a:avLst/>
                    <a:gdLst/>
                    <a:ahLst/>
                    <a:cxnLst/>
                    <a:rect l="l" t="t" r="r" b="b"/>
                    <a:pathLst>
                      <a:path w="12377" h="9175" fill="none" extrusionOk="0">
                        <a:moveTo>
                          <a:pt x="1" y="1"/>
                        </a:moveTo>
                        <a:cubicBezTo>
                          <a:pt x="1635" y="5305"/>
                          <a:pt x="6539" y="9174"/>
                          <a:pt x="12376" y="9174"/>
                        </a:cubicBezTo>
                      </a:path>
                    </a:pathLst>
                  </a:custGeom>
                  <a:grpFill/>
                  <a:ln w="9525" cap="rnd" cmpd="sng">
                    <a:solidFill>
                      <a:schemeClr val="accent3">
                        <a:lumMod val="75000"/>
                      </a:schemeClr>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8793;p54">
                    <a:extLst>
                      <a:ext uri="{FF2B5EF4-FFF2-40B4-BE49-F238E27FC236}">
                        <a16:creationId xmlns:a16="http://schemas.microsoft.com/office/drawing/2014/main" id="{5F37AF0D-CBB2-6673-F4CA-755230F14ED7}"/>
                      </a:ext>
                    </a:extLst>
                  </p:cNvPr>
                  <p:cNvSpPr/>
                  <p:nvPr/>
                </p:nvSpPr>
                <p:spPr>
                  <a:xfrm>
                    <a:off x="1512966" y="2246980"/>
                    <a:ext cx="75451" cy="65821"/>
                  </a:xfrm>
                  <a:custGeom>
                    <a:avLst/>
                    <a:gdLst/>
                    <a:ahLst/>
                    <a:cxnLst/>
                    <a:rect l="l" t="t" r="r" b="b"/>
                    <a:pathLst>
                      <a:path w="12810" h="11175" fill="none" extrusionOk="0">
                        <a:moveTo>
                          <a:pt x="1" y="11175"/>
                        </a:moveTo>
                        <a:cubicBezTo>
                          <a:pt x="6539" y="11175"/>
                          <a:pt x="10275" y="7105"/>
                          <a:pt x="12810" y="0"/>
                        </a:cubicBezTo>
                      </a:path>
                    </a:pathLst>
                  </a:custGeom>
                  <a:grpFill/>
                  <a:ln w="9525" cap="rnd" cmpd="sng">
                    <a:solidFill>
                      <a:schemeClr val="accent3">
                        <a:lumMod val="75000"/>
                      </a:schemeClr>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8794;p54">
                    <a:extLst>
                      <a:ext uri="{FF2B5EF4-FFF2-40B4-BE49-F238E27FC236}">
                        <a16:creationId xmlns:a16="http://schemas.microsoft.com/office/drawing/2014/main" id="{8F61A1EC-C196-24E5-5066-96A75A34FB94}"/>
                      </a:ext>
                    </a:extLst>
                  </p:cNvPr>
                  <p:cNvSpPr/>
                  <p:nvPr/>
                </p:nvSpPr>
                <p:spPr>
                  <a:xfrm>
                    <a:off x="1507666" y="2294782"/>
                    <a:ext cx="37926" cy="35823"/>
                  </a:xfrm>
                  <a:custGeom>
                    <a:avLst/>
                    <a:gdLst/>
                    <a:ahLst/>
                    <a:cxnLst/>
                    <a:rect l="l" t="t" r="r" b="b"/>
                    <a:pathLst>
                      <a:path w="6439" h="6082" extrusionOk="0">
                        <a:moveTo>
                          <a:pt x="3241" y="0"/>
                        </a:moveTo>
                        <a:cubicBezTo>
                          <a:pt x="3118" y="0"/>
                          <a:pt x="2994" y="8"/>
                          <a:pt x="2869" y="23"/>
                        </a:cubicBezTo>
                        <a:cubicBezTo>
                          <a:pt x="1168" y="223"/>
                          <a:pt x="0" y="1724"/>
                          <a:pt x="200" y="3392"/>
                        </a:cubicBezTo>
                        <a:cubicBezTo>
                          <a:pt x="386" y="4937"/>
                          <a:pt x="1717" y="6082"/>
                          <a:pt x="3239" y="6082"/>
                        </a:cubicBezTo>
                        <a:cubicBezTo>
                          <a:pt x="3359" y="6082"/>
                          <a:pt x="3481" y="6075"/>
                          <a:pt x="3603" y="6060"/>
                        </a:cubicBezTo>
                        <a:cubicBezTo>
                          <a:pt x="5271" y="5860"/>
                          <a:pt x="6438" y="4326"/>
                          <a:pt x="6238" y="2658"/>
                        </a:cubicBezTo>
                        <a:cubicBezTo>
                          <a:pt x="6053" y="1115"/>
                          <a:pt x="4754" y="0"/>
                          <a:pt x="3241" y="0"/>
                        </a:cubicBezTo>
                        <a:close/>
                      </a:path>
                    </a:pathLst>
                  </a:cu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8795;p54">
                    <a:extLst>
                      <a:ext uri="{FF2B5EF4-FFF2-40B4-BE49-F238E27FC236}">
                        <a16:creationId xmlns:a16="http://schemas.microsoft.com/office/drawing/2014/main" id="{A03159D1-9442-6F6F-1F03-984DE38637F6}"/>
                      </a:ext>
                    </a:extLst>
                  </p:cNvPr>
                  <p:cNvSpPr/>
                  <p:nvPr/>
                </p:nvSpPr>
                <p:spPr>
                  <a:xfrm>
                    <a:off x="1648710" y="2415180"/>
                    <a:ext cx="25351" cy="34074"/>
                  </a:xfrm>
                  <a:custGeom>
                    <a:avLst/>
                    <a:gdLst/>
                    <a:ahLst/>
                    <a:cxnLst/>
                    <a:rect l="l" t="t" r="r" b="b"/>
                    <a:pathLst>
                      <a:path w="4304" h="5785" extrusionOk="0">
                        <a:moveTo>
                          <a:pt x="509" y="0"/>
                        </a:moveTo>
                        <a:cubicBezTo>
                          <a:pt x="247" y="0"/>
                          <a:pt x="1" y="203"/>
                          <a:pt x="1" y="493"/>
                        </a:cubicBezTo>
                        <a:lnTo>
                          <a:pt x="1" y="5264"/>
                        </a:lnTo>
                        <a:cubicBezTo>
                          <a:pt x="1" y="5561"/>
                          <a:pt x="240" y="5784"/>
                          <a:pt x="499" y="5784"/>
                        </a:cubicBezTo>
                        <a:cubicBezTo>
                          <a:pt x="589" y="5784"/>
                          <a:pt x="682" y="5757"/>
                          <a:pt x="768" y="5697"/>
                        </a:cubicBezTo>
                        <a:lnTo>
                          <a:pt x="4037" y="3396"/>
                        </a:lnTo>
                        <a:cubicBezTo>
                          <a:pt x="4304" y="3195"/>
                          <a:pt x="4304" y="2795"/>
                          <a:pt x="4037" y="2595"/>
                        </a:cubicBezTo>
                        <a:lnTo>
                          <a:pt x="801" y="93"/>
                        </a:lnTo>
                        <a:cubicBezTo>
                          <a:pt x="710" y="29"/>
                          <a:pt x="608" y="0"/>
                          <a:pt x="509" y="0"/>
                        </a:cubicBezTo>
                        <a:close/>
                      </a:path>
                    </a:pathLst>
                  </a:cu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8796;p54">
                    <a:extLst>
                      <a:ext uri="{FF2B5EF4-FFF2-40B4-BE49-F238E27FC236}">
                        <a16:creationId xmlns:a16="http://schemas.microsoft.com/office/drawing/2014/main" id="{F9FCA25A-D5BB-A6CD-6F9B-F4028A7AC57F}"/>
                      </a:ext>
                    </a:extLst>
                  </p:cNvPr>
                  <p:cNvSpPr/>
                  <p:nvPr/>
                </p:nvSpPr>
                <p:spPr>
                  <a:xfrm>
                    <a:off x="1648710" y="2176104"/>
                    <a:ext cx="25351" cy="34103"/>
                  </a:xfrm>
                  <a:custGeom>
                    <a:avLst/>
                    <a:gdLst/>
                    <a:ahLst/>
                    <a:cxnLst/>
                    <a:rect l="l" t="t" r="r" b="b"/>
                    <a:pathLst>
                      <a:path w="4304" h="5790" extrusionOk="0">
                        <a:moveTo>
                          <a:pt x="509" y="1"/>
                        </a:moveTo>
                        <a:cubicBezTo>
                          <a:pt x="247" y="1"/>
                          <a:pt x="1" y="203"/>
                          <a:pt x="1" y="494"/>
                        </a:cubicBezTo>
                        <a:lnTo>
                          <a:pt x="1" y="5264"/>
                        </a:lnTo>
                        <a:cubicBezTo>
                          <a:pt x="1" y="5580"/>
                          <a:pt x="231" y="5790"/>
                          <a:pt x="485" y="5790"/>
                        </a:cubicBezTo>
                        <a:cubicBezTo>
                          <a:pt x="580" y="5790"/>
                          <a:pt x="677" y="5761"/>
                          <a:pt x="768" y="5697"/>
                        </a:cubicBezTo>
                        <a:lnTo>
                          <a:pt x="4037" y="3396"/>
                        </a:lnTo>
                        <a:cubicBezTo>
                          <a:pt x="4304" y="3196"/>
                          <a:pt x="4304" y="2795"/>
                          <a:pt x="4037" y="2595"/>
                        </a:cubicBezTo>
                        <a:lnTo>
                          <a:pt x="801" y="93"/>
                        </a:lnTo>
                        <a:cubicBezTo>
                          <a:pt x="710" y="29"/>
                          <a:pt x="608" y="1"/>
                          <a:pt x="509" y="1"/>
                        </a:cubicBezTo>
                        <a:close/>
                      </a:path>
                    </a:pathLst>
                  </a:cu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8797;p54">
                  <a:extLst>
                    <a:ext uri="{FF2B5EF4-FFF2-40B4-BE49-F238E27FC236}">
                      <a16:creationId xmlns:a16="http://schemas.microsoft.com/office/drawing/2014/main" id="{EFDC40EC-EEAB-17FB-BDE2-B3DF3EEAABDF}"/>
                    </a:ext>
                  </a:extLst>
                </p:cNvPr>
                <p:cNvSpPr/>
                <p:nvPr/>
              </p:nvSpPr>
              <p:spPr>
                <a:xfrm>
                  <a:off x="1707626" y="2395718"/>
                  <a:ext cx="72898" cy="72967"/>
                </a:xfrm>
                <a:custGeom>
                  <a:avLst/>
                  <a:gdLst/>
                  <a:ahLst/>
                  <a:cxnLst/>
                  <a:rect l="l" t="t" r="r" b="b"/>
                  <a:pathLst>
                    <a:path w="20082" h="20115" extrusionOk="0">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grpFill/>
                <a:ln w="9525" cap="flat" cmpd="sng">
                  <a:solidFill>
                    <a:schemeClr val="accent3">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8798;p54">
                  <a:extLst>
                    <a:ext uri="{FF2B5EF4-FFF2-40B4-BE49-F238E27FC236}">
                      <a16:creationId xmlns:a16="http://schemas.microsoft.com/office/drawing/2014/main" id="{A995A45A-56A0-59C4-8427-44F566A507F5}"/>
                    </a:ext>
                  </a:extLst>
                </p:cNvPr>
                <p:cNvSpPr/>
                <p:nvPr/>
              </p:nvSpPr>
              <p:spPr>
                <a:xfrm>
                  <a:off x="1707626" y="2158168"/>
                  <a:ext cx="72898" cy="72967"/>
                </a:xfrm>
                <a:custGeom>
                  <a:avLst/>
                  <a:gdLst/>
                  <a:ahLst/>
                  <a:cxnLst/>
                  <a:rect l="l" t="t" r="r" b="b"/>
                  <a:pathLst>
                    <a:path w="20082" h="20115" extrusionOk="0">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grpFill/>
                <a:ln w="9525" cap="flat" cmpd="sng">
                  <a:solidFill>
                    <a:schemeClr val="accent3">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6" name="Google Shape;8799;p54">
              <a:extLst>
                <a:ext uri="{FF2B5EF4-FFF2-40B4-BE49-F238E27FC236}">
                  <a16:creationId xmlns:a16="http://schemas.microsoft.com/office/drawing/2014/main" id="{60F0A208-0973-E316-2208-8C9F38958396}"/>
                </a:ext>
              </a:extLst>
            </p:cNvPr>
            <p:cNvGrpSpPr/>
            <p:nvPr/>
          </p:nvGrpSpPr>
          <p:grpSpPr>
            <a:xfrm>
              <a:off x="1284601" y="1681380"/>
              <a:ext cx="495923" cy="310517"/>
              <a:chOff x="1284601" y="1681380"/>
              <a:chExt cx="495923" cy="310517"/>
            </a:xfrm>
            <a:grpFill/>
          </p:grpSpPr>
          <p:sp>
            <p:nvSpPr>
              <p:cNvPr id="37" name="Google Shape;8800;p54">
                <a:extLst>
                  <a:ext uri="{FF2B5EF4-FFF2-40B4-BE49-F238E27FC236}">
                    <a16:creationId xmlns:a16="http://schemas.microsoft.com/office/drawing/2014/main" id="{06684123-50DE-4265-E7DB-391BDEDB2907}"/>
                  </a:ext>
                </a:extLst>
              </p:cNvPr>
              <p:cNvSpPr/>
              <p:nvPr/>
            </p:nvSpPr>
            <p:spPr>
              <a:xfrm>
                <a:off x="1284601" y="1789723"/>
                <a:ext cx="93683" cy="93836"/>
              </a:xfrm>
              <a:custGeom>
                <a:avLst/>
                <a:gdLst/>
                <a:ahLst/>
                <a:cxnLst/>
                <a:rect l="l" t="t" r="r" b="b"/>
                <a:pathLst>
                  <a:path w="20082" h="20115" extrusionOk="0">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grpFill/>
              <a:ln w="9525" cap="flat" cmpd="sng">
                <a:solidFill>
                  <a:schemeClr val="accent3">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 name="Google Shape;8801;p54">
                <a:extLst>
                  <a:ext uri="{FF2B5EF4-FFF2-40B4-BE49-F238E27FC236}">
                    <a16:creationId xmlns:a16="http://schemas.microsoft.com/office/drawing/2014/main" id="{8BA0D9C1-7FE6-BCD2-E93A-45479D2E4DCE}"/>
                  </a:ext>
                </a:extLst>
              </p:cNvPr>
              <p:cNvGrpSpPr/>
              <p:nvPr/>
            </p:nvGrpSpPr>
            <p:grpSpPr>
              <a:xfrm>
                <a:off x="1507666" y="1681380"/>
                <a:ext cx="272858" cy="310517"/>
                <a:chOff x="1507666" y="1681380"/>
                <a:chExt cx="272858" cy="310517"/>
              </a:xfrm>
              <a:grpFill/>
            </p:grpSpPr>
            <p:grpSp>
              <p:nvGrpSpPr>
                <p:cNvPr id="39" name="Google Shape;8802;p54">
                  <a:extLst>
                    <a:ext uri="{FF2B5EF4-FFF2-40B4-BE49-F238E27FC236}">
                      <a16:creationId xmlns:a16="http://schemas.microsoft.com/office/drawing/2014/main" id="{A36A0938-171B-AB0F-03D0-47787646FD26}"/>
                    </a:ext>
                  </a:extLst>
                </p:cNvPr>
                <p:cNvGrpSpPr/>
                <p:nvPr/>
              </p:nvGrpSpPr>
              <p:grpSpPr>
                <a:xfrm>
                  <a:off x="1507666" y="1700120"/>
                  <a:ext cx="166395" cy="272984"/>
                  <a:chOff x="1507666" y="1700120"/>
                  <a:chExt cx="166395" cy="272984"/>
                </a:xfrm>
                <a:grpFill/>
              </p:grpSpPr>
              <p:sp>
                <p:nvSpPr>
                  <p:cNvPr id="42" name="Google Shape;8803;p54">
                    <a:extLst>
                      <a:ext uri="{FF2B5EF4-FFF2-40B4-BE49-F238E27FC236}">
                        <a16:creationId xmlns:a16="http://schemas.microsoft.com/office/drawing/2014/main" id="{9E7E7026-0CF0-A840-461B-068DC511CF30}"/>
                      </a:ext>
                    </a:extLst>
                  </p:cNvPr>
                  <p:cNvSpPr/>
                  <p:nvPr/>
                </p:nvSpPr>
                <p:spPr>
                  <a:xfrm>
                    <a:off x="1512966" y="1836607"/>
                    <a:ext cx="75451" cy="66021"/>
                  </a:xfrm>
                  <a:custGeom>
                    <a:avLst/>
                    <a:gdLst/>
                    <a:ahLst/>
                    <a:cxnLst/>
                    <a:rect l="l" t="t" r="r" b="b"/>
                    <a:pathLst>
                      <a:path w="12810" h="11209" fill="none" extrusionOk="0">
                        <a:moveTo>
                          <a:pt x="1" y="0"/>
                        </a:moveTo>
                        <a:lnTo>
                          <a:pt x="1" y="0"/>
                        </a:lnTo>
                        <a:cubicBezTo>
                          <a:pt x="6372" y="0"/>
                          <a:pt x="10542" y="3803"/>
                          <a:pt x="12810" y="11208"/>
                        </a:cubicBezTo>
                      </a:path>
                    </a:pathLst>
                  </a:custGeom>
                  <a:grpFill/>
                  <a:ln w="9525" cap="rnd" cmpd="sng">
                    <a:solidFill>
                      <a:schemeClr val="accent3">
                        <a:lumMod val="75000"/>
                      </a:schemeClr>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8804;p54">
                    <a:extLst>
                      <a:ext uri="{FF2B5EF4-FFF2-40B4-BE49-F238E27FC236}">
                        <a16:creationId xmlns:a16="http://schemas.microsoft.com/office/drawing/2014/main" id="{02616122-7FF0-B1D9-BA69-93B70A2B47B6}"/>
                      </a:ext>
                    </a:extLst>
                  </p:cNvPr>
                  <p:cNvSpPr/>
                  <p:nvPr/>
                </p:nvSpPr>
                <p:spPr>
                  <a:xfrm>
                    <a:off x="1588205" y="1716969"/>
                    <a:ext cx="72901" cy="54235"/>
                  </a:xfrm>
                  <a:custGeom>
                    <a:avLst/>
                    <a:gdLst/>
                    <a:ahLst/>
                    <a:cxnLst/>
                    <a:rect l="l" t="t" r="r" b="b"/>
                    <a:pathLst>
                      <a:path w="12377" h="9208" fill="none" extrusionOk="0">
                        <a:moveTo>
                          <a:pt x="1" y="9207"/>
                        </a:moveTo>
                        <a:cubicBezTo>
                          <a:pt x="1635" y="3870"/>
                          <a:pt x="6539" y="1"/>
                          <a:pt x="12376" y="1"/>
                        </a:cubicBezTo>
                      </a:path>
                    </a:pathLst>
                  </a:custGeom>
                  <a:grpFill/>
                  <a:ln w="9525" cap="rnd" cmpd="sng">
                    <a:solidFill>
                      <a:schemeClr val="accent3">
                        <a:lumMod val="75000"/>
                      </a:schemeClr>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8805;p54">
                    <a:extLst>
                      <a:ext uri="{FF2B5EF4-FFF2-40B4-BE49-F238E27FC236}">
                        <a16:creationId xmlns:a16="http://schemas.microsoft.com/office/drawing/2014/main" id="{C63AA825-8F42-9657-B6B9-6D3A48DDA79B}"/>
                      </a:ext>
                    </a:extLst>
                  </p:cNvPr>
                  <p:cNvSpPr/>
                  <p:nvPr/>
                </p:nvSpPr>
                <p:spPr>
                  <a:xfrm>
                    <a:off x="1588205" y="1902024"/>
                    <a:ext cx="72901" cy="54035"/>
                  </a:xfrm>
                  <a:custGeom>
                    <a:avLst/>
                    <a:gdLst/>
                    <a:ahLst/>
                    <a:cxnLst/>
                    <a:rect l="l" t="t" r="r" b="b"/>
                    <a:pathLst>
                      <a:path w="12377" h="9174" fill="none" extrusionOk="0">
                        <a:moveTo>
                          <a:pt x="1" y="0"/>
                        </a:moveTo>
                        <a:cubicBezTo>
                          <a:pt x="1635" y="5304"/>
                          <a:pt x="6539" y="9173"/>
                          <a:pt x="12376" y="9173"/>
                        </a:cubicBezTo>
                      </a:path>
                    </a:pathLst>
                  </a:custGeom>
                  <a:grpFill/>
                  <a:ln w="9525" cap="rnd" cmpd="sng">
                    <a:solidFill>
                      <a:schemeClr val="accent3">
                        <a:lumMod val="75000"/>
                      </a:schemeClr>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8806;p54">
                    <a:extLst>
                      <a:ext uri="{FF2B5EF4-FFF2-40B4-BE49-F238E27FC236}">
                        <a16:creationId xmlns:a16="http://schemas.microsoft.com/office/drawing/2014/main" id="{E1E1ADE0-38FA-BCDF-CD2D-B08095A42D4C}"/>
                      </a:ext>
                    </a:extLst>
                  </p:cNvPr>
                  <p:cNvSpPr/>
                  <p:nvPr/>
                </p:nvSpPr>
                <p:spPr>
                  <a:xfrm>
                    <a:off x="1512966" y="1770990"/>
                    <a:ext cx="75451" cy="65632"/>
                  </a:xfrm>
                  <a:custGeom>
                    <a:avLst/>
                    <a:gdLst/>
                    <a:ahLst/>
                    <a:cxnLst/>
                    <a:rect l="l" t="t" r="r" b="b"/>
                    <a:pathLst>
                      <a:path w="12810" h="11143" fill="none" extrusionOk="0">
                        <a:moveTo>
                          <a:pt x="1" y="11142"/>
                        </a:moveTo>
                        <a:cubicBezTo>
                          <a:pt x="6539" y="11142"/>
                          <a:pt x="10275" y="7106"/>
                          <a:pt x="12810" y="1"/>
                        </a:cubicBezTo>
                      </a:path>
                    </a:pathLst>
                  </a:custGeom>
                  <a:grpFill/>
                  <a:ln w="9525" cap="rnd" cmpd="sng">
                    <a:solidFill>
                      <a:schemeClr val="accent3">
                        <a:lumMod val="75000"/>
                      </a:schemeClr>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8807;p54">
                    <a:extLst>
                      <a:ext uri="{FF2B5EF4-FFF2-40B4-BE49-F238E27FC236}">
                        <a16:creationId xmlns:a16="http://schemas.microsoft.com/office/drawing/2014/main" id="{DDC6850B-9569-3DF3-8CDD-0F8ACAE4D6CE}"/>
                      </a:ext>
                    </a:extLst>
                  </p:cNvPr>
                  <p:cNvSpPr/>
                  <p:nvPr/>
                </p:nvSpPr>
                <p:spPr>
                  <a:xfrm>
                    <a:off x="1507666" y="1818598"/>
                    <a:ext cx="37926" cy="36023"/>
                  </a:xfrm>
                  <a:custGeom>
                    <a:avLst/>
                    <a:gdLst/>
                    <a:ahLst/>
                    <a:cxnLst/>
                    <a:rect l="l" t="t" r="r" b="b"/>
                    <a:pathLst>
                      <a:path w="6439" h="6116" extrusionOk="0">
                        <a:moveTo>
                          <a:pt x="3199" y="1"/>
                        </a:moveTo>
                        <a:cubicBezTo>
                          <a:pt x="3079" y="1"/>
                          <a:pt x="2958" y="8"/>
                          <a:pt x="2835" y="23"/>
                        </a:cubicBezTo>
                        <a:cubicBezTo>
                          <a:pt x="1168" y="256"/>
                          <a:pt x="0" y="1757"/>
                          <a:pt x="200" y="3425"/>
                        </a:cubicBezTo>
                        <a:cubicBezTo>
                          <a:pt x="386" y="4971"/>
                          <a:pt x="1717" y="6115"/>
                          <a:pt x="3239" y="6115"/>
                        </a:cubicBezTo>
                        <a:cubicBezTo>
                          <a:pt x="3359" y="6115"/>
                          <a:pt x="3481" y="6108"/>
                          <a:pt x="3603" y="6094"/>
                        </a:cubicBezTo>
                        <a:cubicBezTo>
                          <a:pt x="5271" y="5860"/>
                          <a:pt x="6438" y="4359"/>
                          <a:pt x="6238" y="2691"/>
                        </a:cubicBezTo>
                        <a:cubicBezTo>
                          <a:pt x="6052" y="1145"/>
                          <a:pt x="4721" y="1"/>
                          <a:pt x="3199" y="1"/>
                        </a:cubicBezTo>
                        <a:close/>
                      </a:path>
                    </a:pathLst>
                  </a:cu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8808;p54">
                    <a:extLst>
                      <a:ext uri="{FF2B5EF4-FFF2-40B4-BE49-F238E27FC236}">
                        <a16:creationId xmlns:a16="http://schemas.microsoft.com/office/drawing/2014/main" id="{FA28E0DC-D315-6FDD-A465-3A06A36BC10F}"/>
                      </a:ext>
                    </a:extLst>
                  </p:cNvPr>
                  <p:cNvSpPr/>
                  <p:nvPr/>
                </p:nvSpPr>
                <p:spPr>
                  <a:xfrm>
                    <a:off x="1648710" y="1939072"/>
                    <a:ext cx="25351" cy="34032"/>
                  </a:xfrm>
                  <a:custGeom>
                    <a:avLst/>
                    <a:gdLst/>
                    <a:ahLst/>
                    <a:cxnLst/>
                    <a:rect l="l" t="t" r="r" b="b"/>
                    <a:pathLst>
                      <a:path w="4304" h="5778" extrusionOk="0">
                        <a:moveTo>
                          <a:pt x="489" y="0"/>
                        </a:moveTo>
                        <a:cubicBezTo>
                          <a:pt x="234" y="0"/>
                          <a:pt x="1" y="207"/>
                          <a:pt x="1" y="514"/>
                        </a:cubicBezTo>
                        <a:lnTo>
                          <a:pt x="1" y="5284"/>
                        </a:lnTo>
                        <a:cubicBezTo>
                          <a:pt x="1" y="5575"/>
                          <a:pt x="229" y="5777"/>
                          <a:pt x="482" y="5777"/>
                        </a:cubicBezTo>
                        <a:cubicBezTo>
                          <a:pt x="577" y="5777"/>
                          <a:pt x="676" y="5748"/>
                          <a:pt x="768" y="5684"/>
                        </a:cubicBezTo>
                        <a:lnTo>
                          <a:pt x="4037" y="3383"/>
                        </a:lnTo>
                        <a:cubicBezTo>
                          <a:pt x="4304" y="3183"/>
                          <a:pt x="4304" y="2782"/>
                          <a:pt x="4037" y="2582"/>
                        </a:cubicBezTo>
                        <a:lnTo>
                          <a:pt x="801" y="114"/>
                        </a:lnTo>
                        <a:cubicBezTo>
                          <a:pt x="704" y="36"/>
                          <a:pt x="595" y="0"/>
                          <a:pt x="489" y="0"/>
                        </a:cubicBezTo>
                        <a:close/>
                      </a:path>
                    </a:pathLst>
                  </a:cu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8809;p54">
                    <a:extLst>
                      <a:ext uri="{FF2B5EF4-FFF2-40B4-BE49-F238E27FC236}">
                        <a16:creationId xmlns:a16="http://schemas.microsoft.com/office/drawing/2014/main" id="{383FCA2D-4D9E-0144-63CB-4A096AAB6122}"/>
                      </a:ext>
                    </a:extLst>
                  </p:cNvPr>
                  <p:cNvSpPr/>
                  <p:nvPr/>
                </p:nvSpPr>
                <p:spPr>
                  <a:xfrm>
                    <a:off x="1648710" y="1700120"/>
                    <a:ext cx="25351" cy="33909"/>
                  </a:xfrm>
                  <a:custGeom>
                    <a:avLst/>
                    <a:gdLst/>
                    <a:ahLst/>
                    <a:cxnLst/>
                    <a:rect l="l" t="t" r="r" b="b"/>
                    <a:pathLst>
                      <a:path w="4304" h="5757" extrusionOk="0">
                        <a:moveTo>
                          <a:pt x="509" y="0"/>
                        </a:moveTo>
                        <a:cubicBezTo>
                          <a:pt x="247" y="0"/>
                          <a:pt x="1" y="203"/>
                          <a:pt x="1" y="493"/>
                        </a:cubicBezTo>
                        <a:lnTo>
                          <a:pt x="1" y="5263"/>
                        </a:lnTo>
                        <a:cubicBezTo>
                          <a:pt x="1" y="5554"/>
                          <a:pt x="229" y="5757"/>
                          <a:pt x="482" y="5757"/>
                        </a:cubicBezTo>
                        <a:cubicBezTo>
                          <a:pt x="577" y="5757"/>
                          <a:pt x="676" y="5728"/>
                          <a:pt x="768" y="5664"/>
                        </a:cubicBezTo>
                        <a:lnTo>
                          <a:pt x="4037" y="3395"/>
                        </a:lnTo>
                        <a:cubicBezTo>
                          <a:pt x="4304" y="3195"/>
                          <a:pt x="4304" y="2795"/>
                          <a:pt x="4037" y="2561"/>
                        </a:cubicBezTo>
                        <a:lnTo>
                          <a:pt x="801" y="93"/>
                        </a:lnTo>
                        <a:cubicBezTo>
                          <a:pt x="710" y="29"/>
                          <a:pt x="608" y="0"/>
                          <a:pt x="509" y="0"/>
                        </a:cubicBezTo>
                        <a:close/>
                      </a:path>
                    </a:pathLst>
                  </a:custGeom>
                  <a:grp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8810;p54">
                  <a:extLst>
                    <a:ext uri="{FF2B5EF4-FFF2-40B4-BE49-F238E27FC236}">
                      <a16:creationId xmlns:a16="http://schemas.microsoft.com/office/drawing/2014/main" id="{7499556F-2659-7BC4-3842-5C2A56B36B6B}"/>
                    </a:ext>
                  </a:extLst>
                </p:cNvPr>
                <p:cNvSpPr/>
                <p:nvPr/>
              </p:nvSpPr>
              <p:spPr>
                <a:xfrm>
                  <a:off x="1707626" y="1918930"/>
                  <a:ext cx="72898" cy="72967"/>
                </a:xfrm>
                <a:custGeom>
                  <a:avLst/>
                  <a:gdLst/>
                  <a:ahLst/>
                  <a:cxnLst/>
                  <a:rect l="l" t="t" r="r" b="b"/>
                  <a:pathLst>
                    <a:path w="20082" h="20115" extrusionOk="0">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grpFill/>
                <a:ln w="9525" cap="flat" cmpd="sng">
                  <a:solidFill>
                    <a:schemeClr val="accent3">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8811;p54">
                  <a:extLst>
                    <a:ext uri="{FF2B5EF4-FFF2-40B4-BE49-F238E27FC236}">
                      <a16:creationId xmlns:a16="http://schemas.microsoft.com/office/drawing/2014/main" id="{651B17AF-B16E-270C-A145-2F13F657B40B}"/>
                    </a:ext>
                  </a:extLst>
                </p:cNvPr>
                <p:cNvSpPr/>
                <p:nvPr/>
              </p:nvSpPr>
              <p:spPr>
                <a:xfrm>
                  <a:off x="1707626" y="1681380"/>
                  <a:ext cx="72898" cy="72967"/>
                </a:xfrm>
                <a:custGeom>
                  <a:avLst/>
                  <a:gdLst/>
                  <a:ahLst/>
                  <a:cxnLst/>
                  <a:rect l="l" t="t" r="r" b="b"/>
                  <a:pathLst>
                    <a:path w="20082" h="20115" extrusionOk="0">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grpFill/>
                <a:ln w="9525" cap="flat" cmpd="sng">
                  <a:solidFill>
                    <a:schemeClr val="accent3">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67" name="Google Shape;9142;p56">
            <a:extLst>
              <a:ext uri="{FF2B5EF4-FFF2-40B4-BE49-F238E27FC236}">
                <a16:creationId xmlns:a16="http://schemas.microsoft.com/office/drawing/2014/main" id="{F7A204F5-83D0-09ED-E6F9-CF747DBB7C5D}"/>
              </a:ext>
            </a:extLst>
          </p:cNvPr>
          <p:cNvGrpSpPr/>
          <p:nvPr/>
        </p:nvGrpSpPr>
        <p:grpSpPr>
          <a:xfrm>
            <a:off x="7980434" y="1129464"/>
            <a:ext cx="638689" cy="496712"/>
            <a:chOff x="7608988" y="2093194"/>
            <a:chExt cx="817276" cy="672147"/>
          </a:xfrm>
        </p:grpSpPr>
        <p:cxnSp>
          <p:nvCxnSpPr>
            <p:cNvPr id="68" name="Google Shape;9143;p56">
              <a:extLst>
                <a:ext uri="{FF2B5EF4-FFF2-40B4-BE49-F238E27FC236}">
                  <a16:creationId xmlns:a16="http://schemas.microsoft.com/office/drawing/2014/main" id="{2A913B87-E248-BDB6-E388-E5236B20EC23}"/>
                </a:ext>
              </a:extLst>
            </p:cNvPr>
            <p:cNvCxnSpPr/>
            <p:nvPr/>
          </p:nvCxnSpPr>
          <p:spPr>
            <a:xfrm rot="5400000" flipH="1">
              <a:off x="7620257" y="2136491"/>
              <a:ext cx="129900" cy="111300"/>
            </a:xfrm>
            <a:prstGeom prst="bentConnector3">
              <a:avLst>
                <a:gd name="adj1" fmla="val 50000"/>
              </a:avLst>
            </a:prstGeom>
            <a:noFill/>
            <a:ln w="9525" cap="flat" cmpd="sng">
              <a:solidFill>
                <a:srgbClr val="00B0F0"/>
              </a:solidFill>
              <a:prstDash val="solid"/>
              <a:round/>
              <a:headEnd type="none" w="med" len="med"/>
              <a:tailEnd type="none" w="med" len="med"/>
            </a:ln>
          </p:spPr>
        </p:cxnSp>
        <p:cxnSp>
          <p:nvCxnSpPr>
            <p:cNvPr id="69" name="Google Shape;9144;p56">
              <a:extLst>
                <a:ext uri="{FF2B5EF4-FFF2-40B4-BE49-F238E27FC236}">
                  <a16:creationId xmlns:a16="http://schemas.microsoft.com/office/drawing/2014/main" id="{0F555D57-9A2F-A15A-8350-D8EF7403BBDE}"/>
                </a:ext>
              </a:extLst>
            </p:cNvPr>
            <p:cNvCxnSpPr/>
            <p:nvPr/>
          </p:nvCxnSpPr>
          <p:spPr>
            <a:xfrm rot="-5400000">
              <a:off x="8285120" y="2136491"/>
              <a:ext cx="129900" cy="111300"/>
            </a:xfrm>
            <a:prstGeom prst="bentConnector3">
              <a:avLst>
                <a:gd name="adj1" fmla="val 50000"/>
              </a:avLst>
            </a:prstGeom>
            <a:noFill/>
            <a:ln w="9525" cap="flat" cmpd="sng">
              <a:solidFill>
                <a:srgbClr val="00B0F0"/>
              </a:solidFill>
              <a:prstDash val="solid"/>
              <a:round/>
              <a:headEnd type="none" w="med" len="med"/>
              <a:tailEnd type="none" w="med" len="med"/>
            </a:ln>
          </p:spPr>
        </p:cxnSp>
        <p:cxnSp>
          <p:nvCxnSpPr>
            <p:cNvPr id="70" name="Google Shape;9145;p56">
              <a:extLst>
                <a:ext uri="{FF2B5EF4-FFF2-40B4-BE49-F238E27FC236}">
                  <a16:creationId xmlns:a16="http://schemas.microsoft.com/office/drawing/2014/main" id="{6A32EE48-7CE1-64D1-C935-C89FDB613C2E}"/>
                </a:ext>
              </a:extLst>
            </p:cNvPr>
            <p:cNvCxnSpPr/>
            <p:nvPr/>
          </p:nvCxnSpPr>
          <p:spPr>
            <a:xfrm rot="5400000">
              <a:off x="7620257" y="2644741"/>
              <a:ext cx="129900" cy="111300"/>
            </a:xfrm>
            <a:prstGeom prst="bentConnector3">
              <a:avLst>
                <a:gd name="adj1" fmla="val 50000"/>
              </a:avLst>
            </a:prstGeom>
            <a:noFill/>
            <a:ln w="9525" cap="flat" cmpd="sng">
              <a:solidFill>
                <a:srgbClr val="00B0F0"/>
              </a:solidFill>
              <a:prstDash val="solid"/>
              <a:round/>
              <a:headEnd type="none" w="med" len="med"/>
              <a:tailEnd type="none" w="med" len="med"/>
            </a:ln>
          </p:spPr>
        </p:cxnSp>
        <p:cxnSp>
          <p:nvCxnSpPr>
            <p:cNvPr id="71" name="Google Shape;9146;p56">
              <a:extLst>
                <a:ext uri="{FF2B5EF4-FFF2-40B4-BE49-F238E27FC236}">
                  <a16:creationId xmlns:a16="http://schemas.microsoft.com/office/drawing/2014/main" id="{0691E373-B089-8D12-DC11-3867100AF8BB}"/>
                </a:ext>
              </a:extLst>
            </p:cNvPr>
            <p:cNvCxnSpPr/>
            <p:nvPr/>
          </p:nvCxnSpPr>
          <p:spPr>
            <a:xfrm rot="-5400000" flipH="1">
              <a:off x="8285120" y="2644741"/>
              <a:ext cx="129900" cy="111300"/>
            </a:xfrm>
            <a:prstGeom prst="bentConnector3">
              <a:avLst>
                <a:gd name="adj1" fmla="val 50000"/>
              </a:avLst>
            </a:prstGeom>
            <a:noFill/>
            <a:ln w="9525" cap="flat" cmpd="sng">
              <a:solidFill>
                <a:srgbClr val="00B0F0"/>
              </a:solidFill>
              <a:prstDash val="solid"/>
              <a:round/>
              <a:headEnd type="none" w="med" len="med"/>
              <a:tailEnd type="none" w="med" len="med"/>
            </a:ln>
          </p:spPr>
        </p:cxnSp>
        <p:cxnSp>
          <p:nvCxnSpPr>
            <p:cNvPr id="72" name="Google Shape;9147;p56">
              <a:extLst>
                <a:ext uri="{FF2B5EF4-FFF2-40B4-BE49-F238E27FC236}">
                  <a16:creationId xmlns:a16="http://schemas.microsoft.com/office/drawing/2014/main" id="{65559EEE-BB18-7E9C-3F97-B319B51AF664}"/>
                </a:ext>
              </a:extLst>
            </p:cNvPr>
            <p:cNvCxnSpPr/>
            <p:nvPr/>
          </p:nvCxnSpPr>
          <p:spPr>
            <a:xfrm rot="10800000">
              <a:off x="7608988" y="2425132"/>
              <a:ext cx="83400" cy="0"/>
            </a:xfrm>
            <a:prstGeom prst="straightConnector1">
              <a:avLst/>
            </a:prstGeom>
            <a:noFill/>
            <a:ln w="9525" cap="flat" cmpd="sng">
              <a:solidFill>
                <a:srgbClr val="00B0F0"/>
              </a:solidFill>
              <a:prstDash val="solid"/>
              <a:round/>
              <a:headEnd type="none" w="med" len="med"/>
              <a:tailEnd type="none" w="med" len="med"/>
            </a:ln>
          </p:spPr>
        </p:cxnSp>
        <p:cxnSp>
          <p:nvCxnSpPr>
            <p:cNvPr id="73" name="Google Shape;9148;p56">
              <a:extLst>
                <a:ext uri="{FF2B5EF4-FFF2-40B4-BE49-F238E27FC236}">
                  <a16:creationId xmlns:a16="http://schemas.microsoft.com/office/drawing/2014/main" id="{B8EA3EE4-1D2A-FBB7-9357-4ADFEFC94005}"/>
                </a:ext>
              </a:extLst>
            </p:cNvPr>
            <p:cNvCxnSpPr/>
            <p:nvPr/>
          </p:nvCxnSpPr>
          <p:spPr>
            <a:xfrm rot="10800000">
              <a:off x="8342865" y="2425132"/>
              <a:ext cx="83400" cy="0"/>
            </a:xfrm>
            <a:prstGeom prst="straightConnector1">
              <a:avLst/>
            </a:prstGeom>
            <a:noFill/>
            <a:ln w="9525" cap="flat" cmpd="sng">
              <a:solidFill>
                <a:srgbClr val="00B0F0"/>
              </a:solidFill>
              <a:prstDash val="solid"/>
              <a:round/>
              <a:headEnd type="none" w="med" len="med"/>
              <a:tailEnd type="none" w="med" len="med"/>
            </a:ln>
          </p:spPr>
        </p:cxnSp>
        <p:grpSp>
          <p:nvGrpSpPr>
            <p:cNvPr id="74" name="Google Shape;9149;p56">
              <a:extLst>
                <a:ext uri="{FF2B5EF4-FFF2-40B4-BE49-F238E27FC236}">
                  <a16:creationId xmlns:a16="http://schemas.microsoft.com/office/drawing/2014/main" id="{023544C9-9781-5037-477D-2F548024D6F9}"/>
                </a:ext>
              </a:extLst>
            </p:cNvPr>
            <p:cNvGrpSpPr/>
            <p:nvPr/>
          </p:nvGrpSpPr>
          <p:grpSpPr>
            <a:xfrm>
              <a:off x="7721175" y="2093194"/>
              <a:ext cx="599587" cy="623846"/>
              <a:chOff x="7721175" y="2093194"/>
              <a:chExt cx="599587" cy="623846"/>
            </a:xfrm>
          </p:grpSpPr>
          <p:grpSp>
            <p:nvGrpSpPr>
              <p:cNvPr id="75" name="Google Shape;9150;p56">
                <a:extLst>
                  <a:ext uri="{FF2B5EF4-FFF2-40B4-BE49-F238E27FC236}">
                    <a16:creationId xmlns:a16="http://schemas.microsoft.com/office/drawing/2014/main" id="{B6EF40D5-4F5E-3373-37D9-B8B76344CD75}"/>
                  </a:ext>
                </a:extLst>
              </p:cNvPr>
              <p:cNvGrpSpPr/>
              <p:nvPr/>
            </p:nvGrpSpPr>
            <p:grpSpPr>
              <a:xfrm>
                <a:off x="7721175" y="2093194"/>
                <a:ext cx="291605" cy="623846"/>
                <a:chOff x="9405575" y="2061418"/>
                <a:chExt cx="291605" cy="623846"/>
              </a:xfrm>
            </p:grpSpPr>
            <p:sp>
              <p:nvSpPr>
                <p:cNvPr id="84" name="Google Shape;9151;p56">
                  <a:extLst>
                    <a:ext uri="{FF2B5EF4-FFF2-40B4-BE49-F238E27FC236}">
                      <a16:creationId xmlns:a16="http://schemas.microsoft.com/office/drawing/2014/main" id="{68410D13-B787-93FF-B9C5-CBED009FB533}"/>
                    </a:ext>
                  </a:extLst>
                </p:cNvPr>
                <p:cNvSpPr/>
                <p:nvPr/>
              </p:nvSpPr>
              <p:spPr>
                <a:xfrm>
                  <a:off x="9405575" y="2061418"/>
                  <a:ext cx="291379" cy="623846"/>
                </a:xfrm>
                <a:custGeom>
                  <a:avLst/>
                  <a:gdLst/>
                  <a:ahLst/>
                  <a:cxnLst/>
                  <a:rect l="l" t="t" r="r" b="b"/>
                  <a:pathLst>
                    <a:path w="21253" h="45503" extrusionOk="0">
                      <a:moveTo>
                        <a:pt x="17225" y="1059"/>
                      </a:moveTo>
                      <a:cubicBezTo>
                        <a:pt x="20066" y="1059"/>
                        <a:pt x="20192" y="4831"/>
                        <a:pt x="20195" y="4980"/>
                      </a:cubicBezTo>
                      <a:lnTo>
                        <a:pt x="20195" y="42658"/>
                      </a:lnTo>
                      <a:cubicBezTo>
                        <a:pt x="19755" y="43076"/>
                        <a:pt x="18011" y="44441"/>
                        <a:pt x="14035" y="44441"/>
                      </a:cubicBezTo>
                      <a:cubicBezTo>
                        <a:pt x="9143" y="44441"/>
                        <a:pt x="6607" y="41481"/>
                        <a:pt x="6264" y="38549"/>
                      </a:cubicBezTo>
                      <a:cubicBezTo>
                        <a:pt x="6238" y="38342"/>
                        <a:pt x="6089" y="38168"/>
                        <a:pt x="5889" y="38106"/>
                      </a:cubicBezTo>
                      <a:cubicBezTo>
                        <a:pt x="5769" y="38071"/>
                        <a:pt x="2987" y="37194"/>
                        <a:pt x="3045" y="34127"/>
                      </a:cubicBezTo>
                      <a:cubicBezTo>
                        <a:pt x="3067" y="32998"/>
                        <a:pt x="3194" y="32212"/>
                        <a:pt x="3449" y="31665"/>
                      </a:cubicBezTo>
                      <a:cubicBezTo>
                        <a:pt x="3449" y="31665"/>
                        <a:pt x="3682" y="31319"/>
                        <a:pt x="3685" y="31277"/>
                      </a:cubicBezTo>
                      <a:cubicBezTo>
                        <a:pt x="3740" y="31205"/>
                        <a:pt x="3799" y="31141"/>
                        <a:pt x="3863" y="31082"/>
                      </a:cubicBezTo>
                      <a:cubicBezTo>
                        <a:pt x="4404" y="30567"/>
                        <a:pt x="5365" y="30335"/>
                        <a:pt x="7020" y="30335"/>
                      </a:cubicBezTo>
                      <a:cubicBezTo>
                        <a:pt x="7247" y="30335"/>
                        <a:pt x="7486" y="30339"/>
                        <a:pt x="7739" y="30348"/>
                      </a:cubicBezTo>
                      <a:cubicBezTo>
                        <a:pt x="8968" y="30388"/>
                        <a:pt x="10320" y="30407"/>
                        <a:pt x="11768" y="30407"/>
                      </a:cubicBezTo>
                      <a:cubicBezTo>
                        <a:pt x="11975" y="30407"/>
                        <a:pt x="12184" y="30407"/>
                        <a:pt x="12395" y="30406"/>
                      </a:cubicBezTo>
                      <a:lnTo>
                        <a:pt x="12408" y="30406"/>
                      </a:lnTo>
                      <a:cubicBezTo>
                        <a:pt x="12410" y="30406"/>
                        <a:pt x="12412" y="30406"/>
                        <a:pt x="12414" y="30406"/>
                      </a:cubicBezTo>
                      <a:cubicBezTo>
                        <a:pt x="14155" y="30406"/>
                        <a:pt x="15565" y="31819"/>
                        <a:pt x="15565" y="33561"/>
                      </a:cubicBezTo>
                      <a:lnTo>
                        <a:pt x="15565" y="35495"/>
                      </a:lnTo>
                      <a:cubicBezTo>
                        <a:pt x="15559" y="35793"/>
                        <a:pt x="15798" y="36039"/>
                        <a:pt x="16096" y="36039"/>
                      </a:cubicBezTo>
                      <a:cubicBezTo>
                        <a:pt x="16394" y="36039"/>
                        <a:pt x="16636" y="35793"/>
                        <a:pt x="16627" y="35495"/>
                      </a:cubicBezTo>
                      <a:lnTo>
                        <a:pt x="16627" y="33561"/>
                      </a:lnTo>
                      <a:cubicBezTo>
                        <a:pt x="16627" y="31233"/>
                        <a:pt x="14740" y="29345"/>
                        <a:pt x="12414" y="29345"/>
                      </a:cubicBezTo>
                      <a:cubicBezTo>
                        <a:pt x="12412" y="29345"/>
                        <a:pt x="12410" y="29345"/>
                        <a:pt x="12408" y="29345"/>
                      </a:cubicBezTo>
                      <a:lnTo>
                        <a:pt x="12392" y="29345"/>
                      </a:lnTo>
                      <a:cubicBezTo>
                        <a:pt x="12202" y="29346"/>
                        <a:pt x="12014" y="29346"/>
                        <a:pt x="11828" y="29346"/>
                      </a:cubicBezTo>
                      <a:cubicBezTo>
                        <a:pt x="10369" y="29346"/>
                        <a:pt x="9008" y="29324"/>
                        <a:pt x="7772" y="29287"/>
                      </a:cubicBezTo>
                      <a:cubicBezTo>
                        <a:pt x="7513" y="29278"/>
                        <a:pt x="7267" y="29274"/>
                        <a:pt x="7033" y="29274"/>
                      </a:cubicBezTo>
                      <a:cubicBezTo>
                        <a:pt x="5050" y="29274"/>
                        <a:pt x="3893" y="29586"/>
                        <a:pt x="3135" y="30309"/>
                      </a:cubicBezTo>
                      <a:cubicBezTo>
                        <a:pt x="3058" y="30380"/>
                        <a:pt x="2987" y="30458"/>
                        <a:pt x="2922" y="30536"/>
                      </a:cubicBezTo>
                      <a:cubicBezTo>
                        <a:pt x="1045" y="29510"/>
                        <a:pt x="1084" y="26828"/>
                        <a:pt x="1084" y="26799"/>
                      </a:cubicBezTo>
                      <a:lnTo>
                        <a:pt x="1084" y="26786"/>
                      </a:lnTo>
                      <a:lnTo>
                        <a:pt x="1084" y="21470"/>
                      </a:lnTo>
                      <a:cubicBezTo>
                        <a:pt x="1084" y="19979"/>
                        <a:pt x="1450" y="18885"/>
                        <a:pt x="2168" y="18212"/>
                      </a:cubicBezTo>
                      <a:cubicBezTo>
                        <a:pt x="2905" y="17528"/>
                        <a:pt x="3830" y="17480"/>
                        <a:pt x="4078" y="17480"/>
                      </a:cubicBezTo>
                      <a:cubicBezTo>
                        <a:pt x="4118" y="17480"/>
                        <a:pt x="4141" y="17481"/>
                        <a:pt x="4142" y="17481"/>
                      </a:cubicBezTo>
                      <a:cubicBezTo>
                        <a:pt x="4157" y="17483"/>
                        <a:pt x="4172" y="17483"/>
                        <a:pt x="4186" y="17483"/>
                      </a:cubicBezTo>
                      <a:cubicBezTo>
                        <a:pt x="4474" y="17483"/>
                        <a:pt x="4714" y="17249"/>
                        <a:pt x="4714" y="16954"/>
                      </a:cubicBezTo>
                      <a:lnTo>
                        <a:pt x="4714" y="12072"/>
                      </a:lnTo>
                      <a:cubicBezTo>
                        <a:pt x="4714" y="11082"/>
                        <a:pt x="4986" y="10325"/>
                        <a:pt x="5523" y="9820"/>
                      </a:cubicBezTo>
                      <a:cubicBezTo>
                        <a:pt x="6270" y="9115"/>
                        <a:pt x="7348" y="9065"/>
                        <a:pt x="7647" y="9065"/>
                      </a:cubicBezTo>
                      <a:cubicBezTo>
                        <a:pt x="7696" y="9065"/>
                        <a:pt x="7724" y="9066"/>
                        <a:pt x="7726" y="9066"/>
                      </a:cubicBezTo>
                      <a:cubicBezTo>
                        <a:pt x="7739" y="9067"/>
                        <a:pt x="7751" y="9067"/>
                        <a:pt x="7763" y="9067"/>
                      </a:cubicBezTo>
                      <a:cubicBezTo>
                        <a:pt x="8253" y="9067"/>
                        <a:pt x="8483" y="8447"/>
                        <a:pt x="8095" y="8128"/>
                      </a:cubicBezTo>
                      <a:cubicBezTo>
                        <a:pt x="7911" y="7976"/>
                        <a:pt x="7749" y="7749"/>
                        <a:pt x="7937" y="7216"/>
                      </a:cubicBezTo>
                      <a:cubicBezTo>
                        <a:pt x="8312" y="6167"/>
                        <a:pt x="9878" y="4614"/>
                        <a:pt x="11929" y="3269"/>
                      </a:cubicBezTo>
                      <a:cubicBezTo>
                        <a:pt x="13967" y="1926"/>
                        <a:pt x="16044" y="1059"/>
                        <a:pt x="17225" y="1059"/>
                      </a:cubicBezTo>
                      <a:close/>
                      <a:moveTo>
                        <a:pt x="17222" y="1"/>
                      </a:moveTo>
                      <a:cubicBezTo>
                        <a:pt x="14145" y="1"/>
                        <a:pt x="7898" y="4168"/>
                        <a:pt x="6937" y="6863"/>
                      </a:cubicBezTo>
                      <a:cubicBezTo>
                        <a:pt x="6782" y="7300"/>
                        <a:pt x="6752" y="7711"/>
                        <a:pt x="6846" y="8076"/>
                      </a:cubicBezTo>
                      <a:cubicBezTo>
                        <a:pt x="6241" y="8180"/>
                        <a:pt x="5452" y="8435"/>
                        <a:pt x="4805" y="9040"/>
                      </a:cubicBezTo>
                      <a:cubicBezTo>
                        <a:pt x="4041" y="9755"/>
                        <a:pt x="3656" y="10778"/>
                        <a:pt x="3656" y="12075"/>
                      </a:cubicBezTo>
                      <a:lnTo>
                        <a:pt x="3656" y="16446"/>
                      </a:lnTo>
                      <a:cubicBezTo>
                        <a:pt x="3093" y="16511"/>
                        <a:pt x="2220" y="16727"/>
                        <a:pt x="1460" y="17426"/>
                      </a:cubicBezTo>
                      <a:cubicBezTo>
                        <a:pt x="508" y="18303"/>
                        <a:pt x="23" y="19665"/>
                        <a:pt x="23" y="21470"/>
                      </a:cubicBezTo>
                      <a:lnTo>
                        <a:pt x="23" y="26779"/>
                      </a:lnTo>
                      <a:cubicBezTo>
                        <a:pt x="20" y="27006"/>
                        <a:pt x="0" y="30147"/>
                        <a:pt x="2388" y="31454"/>
                      </a:cubicBezTo>
                      <a:cubicBezTo>
                        <a:pt x="2136" y="32118"/>
                        <a:pt x="2006" y="32975"/>
                        <a:pt x="1984" y="34107"/>
                      </a:cubicBezTo>
                      <a:cubicBezTo>
                        <a:pt x="1922" y="37288"/>
                        <a:pt x="4352" y="38614"/>
                        <a:pt x="5254" y="38996"/>
                      </a:cubicBezTo>
                      <a:cubicBezTo>
                        <a:pt x="5533" y="40711"/>
                        <a:pt x="6429" y="42273"/>
                        <a:pt x="7797" y="43428"/>
                      </a:cubicBezTo>
                      <a:cubicBezTo>
                        <a:pt x="9405" y="44784"/>
                        <a:pt x="11560" y="45502"/>
                        <a:pt x="14035" y="45502"/>
                      </a:cubicBezTo>
                      <a:cubicBezTo>
                        <a:pt x="19270" y="45502"/>
                        <a:pt x="21065" y="43292"/>
                        <a:pt x="21140" y="43199"/>
                      </a:cubicBezTo>
                      <a:cubicBezTo>
                        <a:pt x="21214" y="43105"/>
                        <a:pt x="21253" y="42992"/>
                        <a:pt x="21253" y="42872"/>
                      </a:cubicBezTo>
                      <a:lnTo>
                        <a:pt x="21253" y="4967"/>
                      </a:lnTo>
                      <a:cubicBezTo>
                        <a:pt x="21217" y="3249"/>
                        <a:pt x="20328" y="1"/>
                        <a:pt x="17222" y="1"/>
                      </a:cubicBezTo>
                      <a:close/>
                    </a:path>
                  </a:pathLst>
                </a:custGeom>
                <a:solidFill>
                  <a:srgbClr val="445D73"/>
                </a:solidFill>
                <a:ln>
                  <a:solidFill>
                    <a:srgbClr val="00B0F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9152;p56">
                  <a:extLst>
                    <a:ext uri="{FF2B5EF4-FFF2-40B4-BE49-F238E27FC236}">
                      <a16:creationId xmlns:a16="http://schemas.microsoft.com/office/drawing/2014/main" id="{762AA258-28FB-A529-C4BE-105466894D46}"/>
                    </a:ext>
                  </a:extLst>
                </p:cNvPr>
                <p:cNvSpPr/>
                <p:nvPr/>
              </p:nvSpPr>
              <p:spPr>
                <a:xfrm>
                  <a:off x="9535402" y="2540968"/>
                  <a:ext cx="161778" cy="68948"/>
                </a:xfrm>
                <a:custGeom>
                  <a:avLst/>
                  <a:gdLst/>
                  <a:ahLst/>
                  <a:cxnLst/>
                  <a:rect l="l" t="t" r="r" b="b"/>
                  <a:pathLst>
                    <a:path w="11800" h="5029" extrusionOk="0">
                      <a:moveTo>
                        <a:pt x="11270" y="1"/>
                      </a:moveTo>
                      <a:cubicBezTo>
                        <a:pt x="11264" y="1"/>
                        <a:pt x="11258" y="1"/>
                        <a:pt x="11252" y="1"/>
                      </a:cubicBezTo>
                      <a:lnTo>
                        <a:pt x="4326" y="1"/>
                      </a:lnTo>
                      <a:cubicBezTo>
                        <a:pt x="1938" y="4"/>
                        <a:pt x="0" y="1939"/>
                        <a:pt x="0" y="4327"/>
                      </a:cubicBezTo>
                      <a:lnTo>
                        <a:pt x="0" y="4498"/>
                      </a:lnTo>
                      <a:cubicBezTo>
                        <a:pt x="0" y="4789"/>
                        <a:pt x="236" y="5029"/>
                        <a:pt x="527" y="5029"/>
                      </a:cubicBezTo>
                      <a:cubicBezTo>
                        <a:pt x="822" y="5029"/>
                        <a:pt x="1061" y="4789"/>
                        <a:pt x="1058" y="4498"/>
                      </a:cubicBezTo>
                      <a:lnTo>
                        <a:pt x="1058" y="4327"/>
                      </a:lnTo>
                      <a:cubicBezTo>
                        <a:pt x="1061" y="2524"/>
                        <a:pt x="2524" y="1062"/>
                        <a:pt x="4326" y="1062"/>
                      </a:cubicBezTo>
                      <a:lnTo>
                        <a:pt x="11252" y="1062"/>
                      </a:lnTo>
                      <a:cubicBezTo>
                        <a:pt x="11256" y="1062"/>
                        <a:pt x="11260" y="1062"/>
                        <a:pt x="11264" y="1062"/>
                      </a:cubicBezTo>
                      <a:cubicBezTo>
                        <a:pt x="11557" y="1062"/>
                        <a:pt x="11799" y="825"/>
                        <a:pt x="11799" y="532"/>
                      </a:cubicBezTo>
                      <a:cubicBezTo>
                        <a:pt x="11799" y="237"/>
                        <a:pt x="11560" y="1"/>
                        <a:pt x="11270" y="1"/>
                      </a:cubicBezTo>
                      <a:close/>
                    </a:path>
                  </a:pathLst>
                </a:custGeom>
                <a:solidFill>
                  <a:srgbClr val="445D73"/>
                </a:solidFill>
                <a:ln>
                  <a:solidFill>
                    <a:srgbClr val="00B0F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9153;p56">
                  <a:extLst>
                    <a:ext uri="{FF2B5EF4-FFF2-40B4-BE49-F238E27FC236}">
                      <a16:creationId xmlns:a16="http://schemas.microsoft.com/office/drawing/2014/main" id="{E0838EBB-A427-180C-A390-0C659DB14B75}"/>
                    </a:ext>
                  </a:extLst>
                </p:cNvPr>
                <p:cNvSpPr/>
                <p:nvPr/>
              </p:nvSpPr>
              <p:spPr>
                <a:xfrm>
                  <a:off x="9455875" y="2286606"/>
                  <a:ext cx="137251" cy="112148"/>
                </a:xfrm>
                <a:custGeom>
                  <a:avLst/>
                  <a:gdLst/>
                  <a:ahLst/>
                  <a:cxnLst/>
                  <a:rect l="l" t="t" r="r" b="b"/>
                  <a:pathLst>
                    <a:path w="10011" h="8180" extrusionOk="0">
                      <a:moveTo>
                        <a:pt x="515" y="1"/>
                      </a:moveTo>
                      <a:cubicBezTo>
                        <a:pt x="230" y="7"/>
                        <a:pt x="0" y="243"/>
                        <a:pt x="0" y="531"/>
                      </a:cubicBezTo>
                      <a:cubicBezTo>
                        <a:pt x="0" y="819"/>
                        <a:pt x="230" y="1052"/>
                        <a:pt x="515" y="1062"/>
                      </a:cubicBezTo>
                      <a:lnTo>
                        <a:pt x="4979" y="1062"/>
                      </a:lnTo>
                      <a:cubicBezTo>
                        <a:pt x="7173" y="1062"/>
                        <a:pt x="8946" y="2838"/>
                        <a:pt x="8949" y="5031"/>
                      </a:cubicBezTo>
                      <a:lnTo>
                        <a:pt x="8949" y="7649"/>
                      </a:lnTo>
                      <a:cubicBezTo>
                        <a:pt x="8949" y="7943"/>
                        <a:pt x="9188" y="8179"/>
                        <a:pt x="9480" y="8179"/>
                      </a:cubicBezTo>
                      <a:cubicBezTo>
                        <a:pt x="9771" y="8179"/>
                        <a:pt x="10010" y="7943"/>
                        <a:pt x="10010" y="7652"/>
                      </a:cubicBezTo>
                      <a:lnTo>
                        <a:pt x="10010" y="5031"/>
                      </a:lnTo>
                      <a:cubicBezTo>
                        <a:pt x="10007" y="2252"/>
                        <a:pt x="7758" y="4"/>
                        <a:pt x="4979" y="1"/>
                      </a:cubicBezTo>
                      <a:close/>
                    </a:path>
                  </a:pathLst>
                </a:custGeom>
                <a:solidFill>
                  <a:srgbClr val="445D73"/>
                </a:solidFill>
                <a:ln>
                  <a:solidFill>
                    <a:srgbClr val="00B0F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9154;p56">
                  <a:extLst>
                    <a:ext uri="{FF2B5EF4-FFF2-40B4-BE49-F238E27FC236}">
                      <a16:creationId xmlns:a16="http://schemas.microsoft.com/office/drawing/2014/main" id="{92725377-8210-CF3A-8AA2-B6D065DBCADD}"/>
                    </a:ext>
                  </a:extLst>
                </p:cNvPr>
                <p:cNvSpPr/>
                <p:nvPr/>
              </p:nvSpPr>
              <p:spPr>
                <a:xfrm>
                  <a:off x="9578545" y="2355317"/>
                  <a:ext cx="116370" cy="14560"/>
                </a:xfrm>
                <a:custGeom>
                  <a:avLst/>
                  <a:gdLst/>
                  <a:ahLst/>
                  <a:cxnLst/>
                  <a:rect l="l" t="t" r="r" b="b"/>
                  <a:pathLst>
                    <a:path w="8488" h="1062" extrusionOk="0">
                      <a:moveTo>
                        <a:pt x="519" y="0"/>
                      </a:moveTo>
                      <a:cubicBezTo>
                        <a:pt x="231" y="10"/>
                        <a:pt x="1" y="243"/>
                        <a:pt x="1" y="531"/>
                      </a:cubicBezTo>
                      <a:cubicBezTo>
                        <a:pt x="1" y="819"/>
                        <a:pt x="231" y="1051"/>
                        <a:pt x="519" y="1061"/>
                      </a:cubicBezTo>
                      <a:lnTo>
                        <a:pt x="7973" y="1061"/>
                      </a:lnTo>
                      <a:cubicBezTo>
                        <a:pt x="8261" y="1051"/>
                        <a:pt x="8487" y="819"/>
                        <a:pt x="8487" y="531"/>
                      </a:cubicBezTo>
                      <a:cubicBezTo>
                        <a:pt x="8487" y="243"/>
                        <a:pt x="8261" y="10"/>
                        <a:pt x="7973" y="0"/>
                      </a:cubicBezTo>
                      <a:close/>
                    </a:path>
                  </a:pathLst>
                </a:custGeom>
                <a:solidFill>
                  <a:srgbClr val="445D73"/>
                </a:solidFill>
                <a:ln>
                  <a:solidFill>
                    <a:srgbClr val="00B0F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9155;p56">
                  <a:extLst>
                    <a:ext uri="{FF2B5EF4-FFF2-40B4-BE49-F238E27FC236}">
                      <a16:creationId xmlns:a16="http://schemas.microsoft.com/office/drawing/2014/main" id="{19B8BABF-6D60-B83B-AF19-59FC7DA896EA}"/>
                    </a:ext>
                  </a:extLst>
                </p:cNvPr>
                <p:cNvSpPr/>
                <p:nvPr/>
              </p:nvSpPr>
              <p:spPr>
                <a:xfrm>
                  <a:off x="9533620" y="2389824"/>
                  <a:ext cx="104429" cy="58240"/>
                </a:xfrm>
                <a:custGeom>
                  <a:avLst/>
                  <a:gdLst/>
                  <a:ahLst/>
                  <a:cxnLst/>
                  <a:rect l="l" t="t" r="r" b="b"/>
                  <a:pathLst>
                    <a:path w="7617" h="4248" extrusionOk="0">
                      <a:moveTo>
                        <a:pt x="2890" y="0"/>
                      </a:moveTo>
                      <a:cubicBezTo>
                        <a:pt x="1295" y="0"/>
                        <a:pt x="4" y="1294"/>
                        <a:pt x="1" y="2889"/>
                      </a:cubicBezTo>
                      <a:lnTo>
                        <a:pt x="1" y="3439"/>
                      </a:lnTo>
                      <a:cubicBezTo>
                        <a:pt x="10" y="3724"/>
                        <a:pt x="243" y="3954"/>
                        <a:pt x="531" y="3954"/>
                      </a:cubicBezTo>
                      <a:cubicBezTo>
                        <a:pt x="819" y="3954"/>
                        <a:pt x="1055" y="3724"/>
                        <a:pt x="1062" y="3439"/>
                      </a:cubicBezTo>
                      <a:lnTo>
                        <a:pt x="1062" y="2889"/>
                      </a:lnTo>
                      <a:cubicBezTo>
                        <a:pt x="1062" y="1880"/>
                        <a:pt x="1880" y="1061"/>
                        <a:pt x="2890" y="1058"/>
                      </a:cubicBezTo>
                      <a:lnTo>
                        <a:pt x="4669" y="1058"/>
                      </a:lnTo>
                      <a:cubicBezTo>
                        <a:pt x="5711" y="1061"/>
                        <a:pt x="6555" y="1902"/>
                        <a:pt x="6555" y="2944"/>
                      </a:cubicBezTo>
                      <a:lnTo>
                        <a:pt x="6555" y="3717"/>
                      </a:lnTo>
                      <a:cubicBezTo>
                        <a:pt x="6555" y="4012"/>
                        <a:pt x="6795" y="4248"/>
                        <a:pt x="7086" y="4248"/>
                      </a:cubicBezTo>
                      <a:cubicBezTo>
                        <a:pt x="7380" y="4248"/>
                        <a:pt x="7617" y="4012"/>
                        <a:pt x="7617" y="3717"/>
                      </a:cubicBezTo>
                      <a:lnTo>
                        <a:pt x="7617" y="2944"/>
                      </a:lnTo>
                      <a:cubicBezTo>
                        <a:pt x="7613" y="1320"/>
                        <a:pt x="6297" y="0"/>
                        <a:pt x="4669" y="0"/>
                      </a:cubicBezTo>
                      <a:close/>
                    </a:path>
                  </a:pathLst>
                </a:custGeom>
                <a:solidFill>
                  <a:srgbClr val="445D73"/>
                </a:solidFill>
                <a:ln>
                  <a:solidFill>
                    <a:srgbClr val="00B0F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9156;p56">
                  <a:extLst>
                    <a:ext uri="{FF2B5EF4-FFF2-40B4-BE49-F238E27FC236}">
                      <a16:creationId xmlns:a16="http://schemas.microsoft.com/office/drawing/2014/main" id="{26FBB2EF-3E82-3203-EE2C-0D13B6D41D56}"/>
                    </a:ext>
                  </a:extLst>
                </p:cNvPr>
                <p:cNvSpPr/>
                <p:nvPr/>
              </p:nvSpPr>
              <p:spPr>
                <a:xfrm>
                  <a:off x="9504885" y="2171202"/>
                  <a:ext cx="97684" cy="14519"/>
                </a:xfrm>
                <a:custGeom>
                  <a:avLst/>
                  <a:gdLst/>
                  <a:ahLst/>
                  <a:cxnLst/>
                  <a:rect l="l" t="t" r="r" b="b"/>
                  <a:pathLst>
                    <a:path w="7125" h="1059" extrusionOk="0">
                      <a:moveTo>
                        <a:pt x="6598" y="0"/>
                      </a:moveTo>
                      <a:cubicBezTo>
                        <a:pt x="6592" y="0"/>
                        <a:pt x="6587" y="0"/>
                        <a:pt x="6581" y="0"/>
                      </a:cubicBezTo>
                      <a:lnTo>
                        <a:pt x="515" y="0"/>
                      </a:lnTo>
                      <a:cubicBezTo>
                        <a:pt x="227" y="7"/>
                        <a:pt x="0" y="243"/>
                        <a:pt x="0" y="528"/>
                      </a:cubicBezTo>
                      <a:cubicBezTo>
                        <a:pt x="0" y="816"/>
                        <a:pt x="227" y="1052"/>
                        <a:pt x="515" y="1058"/>
                      </a:cubicBezTo>
                      <a:lnTo>
                        <a:pt x="6581" y="1058"/>
                      </a:lnTo>
                      <a:cubicBezTo>
                        <a:pt x="6587" y="1058"/>
                        <a:pt x="6592" y="1059"/>
                        <a:pt x="6598" y="1059"/>
                      </a:cubicBezTo>
                      <a:cubicBezTo>
                        <a:pt x="6888" y="1059"/>
                        <a:pt x="7124" y="823"/>
                        <a:pt x="7124" y="528"/>
                      </a:cubicBezTo>
                      <a:cubicBezTo>
                        <a:pt x="7124" y="236"/>
                        <a:pt x="6888" y="0"/>
                        <a:pt x="6598" y="0"/>
                      </a:cubicBezTo>
                      <a:close/>
                    </a:path>
                  </a:pathLst>
                </a:custGeom>
                <a:solidFill>
                  <a:srgbClr val="445D73"/>
                </a:solidFill>
                <a:ln>
                  <a:solidFill>
                    <a:srgbClr val="00B0F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157;p56">
                  <a:extLst>
                    <a:ext uri="{FF2B5EF4-FFF2-40B4-BE49-F238E27FC236}">
                      <a16:creationId xmlns:a16="http://schemas.microsoft.com/office/drawing/2014/main" id="{3CB8E12D-A6D1-3E4E-D2CD-7E2CA8E93BF5}"/>
                    </a:ext>
                  </a:extLst>
                </p:cNvPr>
                <p:cNvSpPr/>
                <p:nvPr/>
              </p:nvSpPr>
              <p:spPr>
                <a:xfrm>
                  <a:off x="9587826" y="2129731"/>
                  <a:ext cx="106993" cy="97464"/>
                </a:xfrm>
                <a:custGeom>
                  <a:avLst/>
                  <a:gdLst/>
                  <a:ahLst/>
                  <a:cxnLst/>
                  <a:rect l="l" t="t" r="r" b="b"/>
                  <a:pathLst>
                    <a:path w="7804" h="7109" extrusionOk="0">
                      <a:moveTo>
                        <a:pt x="4230" y="0"/>
                      </a:moveTo>
                      <a:cubicBezTo>
                        <a:pt x="4224" y="0"/>
                        <a:pt x="4218" y="0"/>
                        <a:pt x="4213" y="0"/>
                      </a:cubicBezTo>
                      <a:lnTo>
                        <a:pt x="3339" y="0"/>
                      </a:lnTo>
                      <a:cubicBezTo>
                        <a:pt x="1495" y="0"/>
                        <a:pt x="3" y="1495"/>
                        <a:pt x="0" y="3336"/>
                      </a:cubicBezTo>
                      <a:lnTo>
                        <a:pt x="0" y="3850"/>
                      </a:lnTo>
                      <a:cubicBezTo>
                        <a:pt x="3" y="5649"/>
                        <a:pt x="1459" y="7108"/>
                        <a:pt x="3258" y="7108"/>
                      </a:cubicBezTo>
                      <a:lnTo>
                        <a:pt x="7286" y="7108"/>
                      </a:lnTo>
                      <a:cubicBezTo>
                        <a:pt x="7574" y="7102"/>
                        <a:pt x="7804" y="6866"/>
                        <a:pt x="7804" y="6578"/>
                      </a:cubicBezTo>
                      <a:cubicBezTo>
                        <a:pt x="7804" y="6290"/>
                        <a:pt x="7574" y="6057"/>
                        <a:pt x="7286" y="6047"/>
                      </a:cubicBezTo>
                      <a:lnTo>
                        <a:pt x="3258" y="6047"/>
                      </a:lnTo>
                      <a:cubicBezTo>
                        <a:pt x="2045" y="6047"/>
                        <a:pt x="1061" y="5064"/>
                        <a:pt x="1061" y="3850"/>
                      </a:cubicBezTo>
                      <a:lnTo>
                        <a:pt x="1061" y="3336"/>
                      </a:lnTo>
                      <a:cubicBezTo>
                        <a:pt x="1061" y="2081"/>
                        <a:pt x="2080" y="1061"/>
                        <a:pt x="3339" y="1058"/>
                      </a:cubicBezTo>
                      <a:lnTo>
                        <a:pt x="4213" y="1058"/>
                      </a:lnTo>
                      <a:cubicBezTo>
                        <a:pt x="4218" y="1058"/>
                        <a:pt x="4224" y="1059"/>
                        <a:pt x="4230" y="1059"/>
                      </a:cubicBezTo>
                      <a:cubicBezTo>
                        <a:pt x="4520" y="1059"/>
                        <a:pt x="4756" y="823"/>
                        <a:pt x="4756" y="528"/>
                      </a:cubicBezTo>
                      <a:cubicBezTo>
                        <a:pt x="4756" y="236"/>
                        <a:pt x="4520" y="0"/>
                        <a:pt x="4230" y="0"/>
                      </a:cubicBezTo>
                      <a:close/>
                    </a:path>
                  </a:pathLst>
                </a:custGeom>
                <a:solidFill>
                  <a:srgbClr val="445D73"/>
                </a:solidFill>
                <a:ln>
                  <a:solidFill>
                    <a:srgbClr val="00B0F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 name="Google Shape;9158;p56">
                <a:extLst>
                  <a:ext uri="{FF2B5EF4-FFF2-40B4-BE49-F238E27FC236}">
                    <a16:creationId xmlns:a16="http://schemas.microsoft.com/office/drawing/2014/main" id="{8EBBD9C9-58C7-5FF0-4184-41F539F2D0F0}"/>
                  </a:ext>
                </a:extLst>
              </p:cNvPr>
              <p:cNvGrpSpPr/>
              <p:nvPr/>
            </p:nvGrpSpPr>
            <p:grpSpPr>
              <a:xfrm flipH="1">
                <a:off x="8029157" y="2093194"/>
                <a:ext cx="291605" cy="623846"/>
                <a:chOff x="9405575" y="2061418"/>
                <a:chExt cx="291605" cy="623846"/>
              </a:xfrm>
            </p:grpSpPr>
            <p:sp>
              <p:nvSpPr>
                <p:cNvPr id="77" name="Google Shape;9159;p56">
                  <a:extLst>
                    <a:ext uri="{FF2B5EF4-FFF2-40B4-BE49-F238E27FC236}">
                      <a16:creationId xmlns:a16="http://schemas.microsoft.com/office/drawing/2014/main" id="{77ED1111-BE77-915F-F64A-DF9847E1FB25}"/>
                    </a:ext>
                  </a:extLst>
                </p:cNvPr>
                <p:cNvSpPr/>
                <p:nvPr/>
              </p:nvSpPr>
              <p:spPr>
                <a:xfrm>
                  <a:off x="9405575" y="2061418"/>
                  <a:ext cx="291379" cy="623846"/>
                </a:xfrm>
                <a:custGeom>
                  <a:avLst/>
                  <a:gdLst/>
                  <a:ahLst/>
                  <a:cxnLst/>
                  <a:rect l="l" t="t" r="r" b="b"/>
                  <a:pathLst>
                    <a:path w="21253" h="45503" extrusionOk="0">
                      <a:moveTo>
                        <a:pt x="17225" y="1059"/>
                      </a:moveTo>
                      <a:cubicBezTo>
                        <a:pt x="20066" y="1059"/>
                        <a:pt x="20192" y="4831"/>
                        <a:pt x="20195" y="4980"/>
                      </a:cubicBezTo>
                      <a:lnTo>
                        <a:pt x="20195" y="42658"/>
                      </a:lnTo>
                      <a:cubicBezTo>
                        <a:pt x="19755" y="43076"/>
                        <a:pt x="18011" y="44441"/>
                        <a:pt x="14035" y="44441"/>
                      </a:cubicBezTo>
                      <a:cubicBezTo>
                        <a:pt x="9143" y="44441"/>
                        <a:pt x="6607" y="41481"/>
                        <a:pt x="6264" y="38549"/>
                      </a:cubicBezTo>
                      <a:cubicBezTo>
                        <a:pt x="6238" y="38342"/>
                        <a:pt x="6089" y="38168"/>
                        <a:pt x="5889" y="38106"/>
                      </a:cubicBezTo>
                      <a:cubicBezTo>
                        <a:pt x="5769" y="38071"/>
                        <a:pt x="2987" y="37194"/>
                        <a:pt x="3045" y="34127"/>
                      </a:cubicBezTo>
                      <a:cubicBezTo>
                        <a:pt x="3067" y="32998"/>
                        <a:pt x="3194" y="32212"/>
                        <a:pt x="3449" y="31665"/>
                      </a:cubicBezTo>
                      <a:cubicBezTo>
                        <a:pt x="3449" y="31665"/>
                        <a:pt x="3682" y="31319"/>
                        <a:pt x="3685" y="31277"/>
                      </a:cubicBezTo>
                      <a:cubicBezTo>
                        <a:pt x="3740" y="31205"/>
                        <a:pt x="3799" y="31141"/>
                        <a:pt x="3863" y="31082"/>
                      </a:cubicBezTo>
                      <a:cubicBezTo>
                        <a:pt x="4404" y="30567"/>
                        <a:pt x="5365" y="30335"/>
                        <a:pt x="7020" y="30335"/>
                      </a:cubicBezTo>
                      <a:cubicBezTo>
                        <a:pt x="7247" y="30335"/>
                        <a:pt x="7486" y="30339"/>
                        <a:pt x="7739" y="30348"/>
                      </a:cubicBezTo>
                      <a:cubicBezTo>
                        <a:pt x="8968" y="30388"/>
                        <a:pt x="10320" y="30407"/>
                        <a:pt x="11768" y="30407"/>
                      </a:cubicBezTo>
                      <a:cubicBezTo>
                        <a:pt x="11975" y="30407"/>
                        <a:pt x="12184" y="30407"/>
                        <a:pt x="12395" y="30406"/>
                      </a:cubicBezTo>
                      <a:lnTo>
                        <a:pt x="12408" y="30406"/>
                      </a:lnTo>
                      <a:cubicBezTo>
                        <a:pt x="12410" y="30406"/>
                        <a:pt x="12412" y="30406"/>
                        <a:pt x="12414" y="30406"/>
                      </a:cubicBezTo>
                      <a:cubicBezTo>
                        <a:pt x="14155" y="30406"/>
                        <a:pt x="15565" y="31819"/>
                        <a:pt x="15565" y="33561"/>
                      </a:cubicBezTo>
                      <a:lnTo>
                        <a:pt x="15565" y="35495"/>
                      </a:lnTo>
                      <a:cubicBezTo>
                        <a:pt x="15559" y="35793"/>
                        <a:pt x="15798" y="36039"/>
                        <a:pt x="16096" y="36039"/>
                      </a:cubicBezTo>
                      <a:cubicBezTo>
                        <a:pt x="16394" y="36039"/>
                        <a:pt x="16636" y="35793"/>
                        <a:pt x="16627" y="35495"/>
                      </a:cubicBezTo>
                      <a:lnTo>
                        <a:pt x="16627" y="33561"/>
                      </a:lnTo>
                      <a:cubicBezTo>
                        <a:pt x="16627" y="31233"/>
                        <a:pt x="14740" y="29345"/>
                        <a:pt x="12414" y="29345"/>
                      </a:cubicBezTo>
                      <a:cubicBezTo>
                        <a:pt x="12412" y="29345"/>
                        <a:pt x="12410" y="29345"/>
                        <a:pt x="12408" y="29345"/>
                      </a:cubicBezTo>
                      <a:lnTo>
                        <a:pt x="12392" y="29345"/>
                      </a:lnTo>
                      <a:cubicBezTo>
                        <a:pt x="12202" y="29346"/>
                        <a:pt x="12014" y="29346"/>
                        <a:pt x="11828" y="29346"/>
                      </a:cubicBezTo>
                      <a:cubicBezTo>
                        <a:pt x="10369" y="29346"/>
                        <a:pt x="9008" y="29324"/>
                        <a:pt x="7772" y="29287"/>
                      </a:cubicBezTo>
                      <a:cubicBezTo>
                        <a:pt x="7513" y="29278"/>
                        <a:pt x="7267" y="29274"/>
                        <a:pt x="7033" y="29274"/>
                      </a:cubicBezTo>
                      <a:cubicBezTo>
                        <a:pt x="5050" y="29274"/>
                        <a:pt x="3893" y="29586"/>
                        <a:pt x="3135" y="30309"/>
                      </a:cubicBezTo>
                      <a:cubicBezTo>
                        <a:pt x="3058" y="30380"/>
                        <a:pt x="2987" y="30458"/>
                        <a:pt x="2922" y="30536"/>
                      </a:cubicBezTo>
                      <a:cubicBezTo>
                        <a:pt x="1045" y="29510"/>
                        <a:pt x="1084" y="26828"/>
                        <a:pt x="1084" y="26799"/>
                      </a:cubicBezTo>
                      <a:lnTo>
                        <a:pt x="1084" y="26786"/>
                      </a:lnTo>
                      <a:lnTo>
                        <a:pt x="1084" y="21470"/>
                      </a:lnTo>
                      <a:cubicBezTo>
                        <a:pt x="1084" y="19979"/>
                        <a:pt x="1450" y="18885"/>
                        <a:pt x="2168" y="18212"/>
                      </a:cubicBezTo>
                      <a:cubicBezTo>
                        <a:pt x="2905" y="17528"/>
                        <a:pt x="3830" y="17480"/>
                        <a:pt x="4078" y="17480"/>
                      </a:cubicBezTo>
                      <a:cubicBezTo>
                        <a:pt x="4118" y="17480"/>
                        <a:pt x="4141" y="17481"/>
                        <a:pt x="4142" y="17481"/>
                      </a:cubicBezTo>
                      <a:cubicBezTo>
                        <a:pt x="4157" y="17483"/>
                        <a:pt x="4172" y="17483"/>
                        <a:pt x="4186" y="17483"/>
                      </a:cubicBezTo>
                      <a:cubicBezTo>
                        <a:pt x="4474" y="17483"/>
                        <a:pt x="4714" y="17249"/>
                        <a:pt x="4714" y="16954"/>
                      </a:cubicBezTo>
                      <a:lnTo>
                        <a:pt x="4714" y="12072"/>
                      </a:lnTo>
                      <a:cubicBezTo>
                        <a:pt x="4714" y="11082"/>
                        <a:pt x="4986" y="10325"/>
                        <a:pt x="5523" y="9820"/>
                      </a:cubicBezTo>
                      <a:cubicBezTo>
                        <a:pt x="6270" y="9115"/>
                        <a:pt x="7348" y="9065"/>
                        <a:pt x="7647" y="9065"/>
                      </a:cubicBezTo>
                      <a:cubicBezTo>
                        <a:pt x="7696" y="9065"/>
                        <a:pt x="7724" y="9066"/>
                        <a:pt x="7726" y="9066"/>
                      </a:cubicBezTo>
                      <a:cubicBezTo>
                        <a:pt x="7739" y="9067"/>
                        <a:pt x="7751" y="9067"/>
                        <a:pt x="7763" y="9067"/>
                      </a:cubicBezTo>
                      <a:cubicBezTo>
                        <a:pt x="8253" y="9067"/>
                        <a:pt x="8483" y="8447"/>
                        <a:pt x="8095" y="8128"/>
                      </a:cubicBezTo>
                      <a:cubicBezTo>
                        <a:pt x="7911" y="7976"/>
                        <a:pt x="7749" y="7749"/>
                        <a:pt x="7937" y="7216"/>
                      </a:cubicBezTo>
                      <a:cubicBezTo>
                        <a:pt x="8312" y="6167"/>
                        <a:pt x="9878" y="4614"/>
                        <a:pt x="11929" y="3269"/>
                      </a:cubicBezTo>
                      <a:cubicBezTo>
                        <a:pt x="13967" y="1926"/>
                        <a:pt x="16044" y="1059"/>
                        <a:pt x="17225" y="1059"/>
                      </a:cubicBezTo>
                      <a:close/>
                      <a:moveTo>
                        <a:pt x="17222" y="1"/>
                      </a:moveTo>
                      <a:cubicBezTo>
                        <a:pt x="14145" y="1"/>
                        <a:pt x="7898" y="4168"/>
                        <a:pt x="6937" y="6863"/>
                      </a:cubicBezTo>
                      <a:cubicBezTo>
                        <a:pt x="6782" y="7300"/>
                        <a:pt x="6752" y="7711"/>
                        <a:pt x="6846" y="8076"/>
                      </a:cubicBezTo>
                      <a:cubicBezTo>
                        <a:pt x="6241" y="8180"/>
                        <a:pt x="5452" y="8435"/>
                        <a:pt x="4805" y="9040"/>
                      </a:cubicBezTo>
                      <a:cubicBezTo>
                        <a:pt x="4041" y="9755"/>
                        <a:pt x="3656" y="10778"/>
                        <a:pt x="3656" y="12075"/>
                      </a:cubicBezTo>
                      <a:lnTo>
                        <a:pt x="3656" y="16446"/>
                      </a:lnTo>
                      <a:cubicBezTo>
                        <a:pt x="3093" y="16511"/>
                        <a:pt x="2220" y="16727"/>
                        <a:pt x="1460" y="17426"/>
                      </a:cubicBezTo>
                      <a:cubicBezTo>
                        <a:pt x="508" y="18303"/>
                        <a:pt x="23" y="19665"/>
                        <a:pt x="23" y="21470"/>
                      </a:cubicBezTo>
                      <a:lnTo>
                        <a:pt x="23" y="26779"/>
                      </a:lnTo>
                      <a:cubicBezTo>
                        <a:pt x="20" y="27006"/>
                        <a:pt x="0" y="30147"/>
                        <a:pt x="2388" y="31454"/>
                      </a:cubicBezTo>
                      <a:cubicBezTo>
                        <a:pt x="2136" y="32118"/>
                        <a:pt x="2006" y="32975"/>
                        <a:pt x="1984" y="34107"/>
                      </a:cubicBezTo>
                      <a:cubicBezTo>
                        <a:pt x="1922" y="37288"/>
                        <a:pt x="4352" y="38614"/>
                        <a:pt x="5254" y="38996"/>
                      </a:cubicBezTo>
                      <a:cubicBezTo>
                        <a:pt x="5533" y="40711"/>
                        <a:pt x="6429" y="42273"/>
                        <a:pt x="7797" y="43428"/>
                      </a:cubicBezTo>
                      <a:cubicBezTo>
                        <a:pt x="9405" y="44784"/>
                        <a:pt x="11560" y="45502"/>
                        <a:pt x="14035" y="45502"/>
                      </a:cubicBezTo>
                      <a:cubicBezTo>
                        <a:pt x="19270" y="45502"/>
                        <a:pt x="21065" y="43292"/>
                        <a:pt x="21140" y="43199"/>
                      </a:cubicBezTo>
                      <a:cubicBezTo>
                        <a:pt x="21214" y="43105"/>
                        <a:pt x="21253" y="42992"/>
                        <a:pt x="21253" y="42872"/>
                      </a:cubicBezTo>
                      <a:lnTo>
                        <a:pt x="21253" y="4967"/>
                      </a:lnTo>
                      <a:cubicBezTo>
                        <a:pt x="21217" y="3249"/>
                        <a:pt x="20328" y="1"/>
                        <a:pt x="17222" y="1"/>
                      </a:cubicBezTo>
                      <a:close/>
                    </a:path>
                  </a:pathLst>
                </a:custGeom>
                <a:solidFill>
                  <a:srgbClr val="445D73"/>
                </a:solidFill>
                <a:ln>
                  <a:solidFill>
                    <a:srgbClr val="00B0F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9160;p56">
                  <a:extLst>
                    <a:ext uri="{FF2B5EF4-FFF2-40B4-BE49-F238E27FC236}">
                      <a16:creationId xmlns:a16="http://schemas.microsoft.com/office/drawing/2014/main" id="{55B57B1E-E9A1-1450-428F-B3C4CAC9D139}"/>
                    </a:ext>
                  </a:extLst>
                </p:cNvPr>
                <p:cNvSpPr/>
                <p:nvPr/>
              </p:nvSpPr>
              <p:spPr>
                <a:xfrm>
                  <a:off x="9535402" y="2540968"/>
                  <a:ext cx="161778" cy="68948"/>
                </a:xfrm>
                <a:custGeom>
                  <a:avLst/>
                  <a:gdLst/>
                  <a:ahLst/>
                  <a:cxnLst/>
                  <a:rect l="l" t="t" r="r" b="b"/>
                  <a:pathLst>
                    <a:path w="11800" h="5029" extrusionOk="0">
                      <a:moveTo>
                        <a:pt x="11270" y="1"/>
                      </a:moveTo>
                      <a:cubicBezTo>
                        <a:pt x="11264" y="1"/>
                        <a:pt x="11258" y="1"/>
                        <a:pt x="11252" y="1"/>
                      </a:cubicBezTo>
                      <a:lnTo>
                        <a:pt x="4326" y="1"/>
                      </a:lnTo>
                      <a:cubicBezTo>
                        <a:pt x="1938" y="4"/>
                        <a:pt x="0" y="1939"/>
                        <a:pt x="0" y="4327"/>
                      </a:cubicBezTo>
                      <a:lnTo>
                        <a:pt x="0" y="4498"/>
                      </a:lnTo>
                      <a:cubicBezTo>
                        <a:pt x="0" y="4789"/>
                        <a:pt x="236" y="5029"/>
                        <a:pt x="527" y="5029"/>
                      </a:cubicBezTo>
                      <a:cubicBezTo>
                        <a:pt x="822" y="5029"/>
                        <a:pt x="1061" y="4789"/>
                        <a:pt x="1058" y="4498"/>
                      </a:cubicBezTo>
                      <a:lnTo>
                        <a:pt x="1058" y="4327"/>
                      </a:lnTo>
                      <a:cubicBezTo>
                        <a:pt x="1061" y="2524"/>
                        <a:pt x="2524" y="1062"/>
                        <a:pt x="4326" y="1062"/>
                      </a:cubicBezTo>
                      <a:lnTo>
                        <a:pt x="11252" y="1062"/>
                      </a:lnTo>
                      <a:cubicBezTo>
                        <a:pt x="11256" y="1062"/>
                        <a:pt x="11260" y="1062"/>
                        <a:pt x="11264" y="1062"/>
                      </a:cubicBezTo>
                      <a:cubicBezTo>
                        <a:pt x="11557" y="1062"/>
                        <a:pt x="11799" y="825"/>
                        <a:pt x="11799" y="532"/>
                      </a:cubicBezTo>
                      <a:cubicBezTo>
                        <a:pt x="11799" y="237"/>
                        <a:pt x="11560" y="1"/>
                        <a:pt x="11270" y="1"/>
                      </a:cubicBezTo>
                      <a:close/>
                    </a:path>
                  </a:pathLst>
                </a:custGeom>
                <a:solidFill>
                  <a:srgbClr val="445D73"/>
                </a:solidFill>
                <a:ln>
                  <a:solidFill>
                    <a:srgbClr val="00B0F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9161;p56">
                  <a:extLst>
                    <a:ext uri="{FF2B5EF4-FFF2-40B4-BE49-F238E27FC236}">
                      <a16:creationId xmlns:a16="http://schemas.microsoft.com/office/drawing/2014/main" id="{40DA5609-F5F4-B53C-5266-C30C69F8D168}"/>
                    </a:ext>
                  </a:extLst>
                </p:cNvPr>
                <p:cNvSpPr/>
                <p:nvPr/>
              </p:nvSpPr>
              <p:spPr>
                <a:xfrm>
                  <a:off x="9455875" y="2286606"/>
                  <a:ext cx="137251" cy="112148"/>
                </a:xfrm>
                <a:custGeom>
                  <a:avLst/>
                  <a:gdLst/>
                  <a:ahLst/>
                  <a:cxnLst/>
                  <a:rect l="l" t="t" r="r" b="b"/>
                  <a:pathLst>
                    <a:path w="10011" h="8180" extrusionOk="0">
                      <a:moveTo>
                        <a:pt x="515" y="1"/>
                      </a:moveTo>
                      <a:cubicBezTo>
                        <a:pt x="230" y="7"/>
                        <a:pt x="0" y="243"/>
                        <a:pt x="0" y="531"/>
                      </a:cubicBezTo>
                      <a:cubicBezTo>
                        <a:pt x="0" y="819"/>
                        <a:pt x="230" y="1052"/>
                        <a:pt x="515" y="1062"/>
                      </a:cubicBezTo>
                      <a:lnTo>
                        <a:pt x="4979" y="1062"/>
                      </a:lnTo>
                      <a:cubicBezTo>
                        <a:pt x="7173" y="1062"/>
                        <a:pt x="8946" y="2838"/>
                        <a:pt x="8949" y="5031"/>
                      </a:cubicBezTo>
                      <a:lnTo>
                        <a:pt x="8949" y="7649"/>
                      </a:lnTo>
                      <a:cubicBezTo>
                        <a:pt x="8949" y="7943"/>
                        <a:pt x="9188" y="8179"/>
                        <a:pt x="9480" y="8179"/>
                      </a:cubicBezTo>
                      <a:cubicBezTo>
                        <a:pt x="9771" y="8179"/>
                        <a:pt x="10010" y="7943"/>
                        <a:pt x="10010" y="7652"/>
                      </a:cubicBezTo>
                      <a:lnTo>
                        <a:pt x="10010" y="5031"/>
                      </a:lnTo>
                      <a:cubicBezTo>
                        <a:pt x="10007" y="2252"/>
                        <a:pt x="7758" y="4"/>
                        <a:pt x="4979" y="1"/>
                      </a:cubicBezTo>
                      <a:close/>
                    </a:path>
                  </a:pathLst>
                </a:custGeom>
                <a:solidFill>
                  <a:srgbClr val="445D73"/>
                </a:solidFill>
                <a:ln>
                  <a:solidFill>
                    <a:srgbClr val="00B0F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9162;p56">
                  <a:extLst>
                    <a:ext uri="{FF2B5EF4-FFF2-40B4-BE49-F238E27FC236}">
                      <a16:creationId xmlns:a16="http://schemas.microsoft.com/office/drawing/2014/main" id="{F7FEC8FA-0A1E-57BC-7B19-675C139689B4}"/>
                    </a:ext>
                  </a:extLst>
                </p:cNvPr>
                <p:cNvSpPr/>
                <p:nvPr/>
              </p:nvSpPr>
              <p:spPr>
                <a:xfrm>
                  <a:off x="9578545" y="2355317"/>
                  <a:ext cx="116370" cy="14560"/>
                </a:xfrm>
                <a:custGeom>
                  <a:avLst/>
                  <a:gdLst/>
                  <a:ahLst/>
                  <a:cxnLst/>
                  <a:rect l="l" t="t" r="r" b="b"/>
                  <a:pathLst>
                    <a:path w="8488" h="1062" extrusionOk="0">
                      <a:moveTo>
                        <a:pt x="519" y="0"/>
                      </a:moveTo>
                      <a:cubicBezTo>
                        <a:pt x="231" y="10"/>
                        <a:pt x="1" y="243"/>
                        <a:pt x="1" y="531"/>
                      </a:cubicBezTo>
                      <a:cubicBezTo>
                        <a:pt x="1" y="819"/>
                        <a:pt x="231" y="1051"/>
                        <a:pt x="519" y="1061"/>
                      </a:cubicBezTo>
                      <a:lnTo>
                        <a:pt x="7973" y="1061"/>
                      </a:lnTo>
                      <a:cubicBezTo>
                        <a:pt x="8261" y="1051"/>
                        <a:pt x="8487" y="819"/>
                        <a:pt x="8487" y="531"/>
                      </a:cubicBezTo>
                      <a:cubicBezTo>
                        <a:pt x="8487" y="243"/>
                        <a:pt x="8261" y="10"/>
                        <a:pt x="7973" y="0"/>
                      </a:cubicBezTo>
                      <a:close/>
                    </a:path>
                  </a:pathLst>
                </a:custGeom>
                <a:solidFill>
                  <a:srgbClr val="445D73"/>
                </a:solidFill>
                <a:ln>
                  <a:solidFill>
                    <a:srgbClr val="00B0F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9163;p56">
                  <a:extLst>
                    <a:ext uri="{FF2B5EF4-FFF2-40B4-BE49-F238E27FC236}">
                      <a16:creationId xmlns:a16="http://schemas.microsoft.com/office/drawing/2014/main" id="{8FA44D7E-A91E-2AF6-635C-B133933CEEE5}"/>
                    </a:ext>
                  </a:extLst>
                </p:cNvPr>
                <p:cNvSpPr/>
                <p:nvPr/>
              </p:nvSpPr>
              <p:spPr>
                <a:xfrm>
                  <a:off x="9533620" y="2389824"/>
                  <a:ext cx="104429" cy="58240"/>
                </a:xfrm>
                <a:custGeom>
                  <a:avLst/>
                  <a:gdLst/>
                  <a:ahLst/>
                  <a:cxnLst/>
                  <a:rect l="l" t="t" r="r" b="b"/>
                  <a:pathLst>
                    <a:path w="7617" h="4248" extrusionOk="0">
                      <a:moveTo>
                        <a:pt x="2890" y="0"/>
                      </a:moveTo>
                      <a:cubicBezTo>
                        <a:pt x="1295" y="0"/>
                        <a:pt x="4" y="1294"/>
                        <a:pt x="1" y="2889"/>
                      </a:cubicBezTo>
                      <a:lnTo>
                        <a:pt x="1" y="3439"/>
                      </a:lnTo>
                      <a:cubicBezTo>
                        <a:pt x="10" y="3724"/>
                        <a:pt x="243" y="3954"/>
                        <a:pt x="531" y="3954"/>
                      </a:cubicBezTo>
                      <a:cubicBezTo>
                        <a:pt x="819" y="3954"/>
                        <a:pt x="1055" y="3724"/>
                        <a:pt x="1062" y="3439"/>
                      </a:cubicBezTo>
                      <a:lnTo>
                        <a:pt x="1062" y="2889"/>
                      </a:lnTo>
                      <a:cubicBezTo>
                        <a:pt x="1062" y="1880"/>
                        <a:pt x="1880" y="1061"/>
                        <a:pt x="2890" y="1058"/>
                      </a:cubicBezTo>
                      <a:lnTo>
                        <a:pt x="4669" y="1058"/>
                      </a:lnTo>
                      <a:cubicBezTo>
                        <a:pt x="5711" y="1061"/>
                        <a:pt x="6555" y="1902"/>
                        <a:pt x="6555" y="2944"/>
                      </a:cubicBezTo>
                      <a:lnTo>
                        <a:pt x="6555" y="3717"/>
                      </a:lnTo>
                      <a:cubicBezTo>
                        <a:pt x="6555" y="4012"/>
                        <a:pt x="6795" y="4248"/>
                        <a:pt x="7086" y="4248"/>
                      </a:cubicBezTo>
                      <a:cubicBezTo>
                        <a:pt x="7380" y="4248"/>
                        <a:pt x="7617" y="4012"/>
                        <a:pt x="7617" y="3717"/>
                      </a:cubicBezTo>
                      <a:lnTo>
                        <a:pt x="7617" y="2944"/>
                      </a:lnTo>
                      <a:cubicBezTo>
                        <a:pt x="7613" y="1320"/>
                        <a:pt x="6297" y="0"/>
                        <a:pt x="4669" y="0"/>
                      </a:cubicBezTo>
                      <a:close/>
                    </a:path>
                  </a:pathLst>
                </a:custGeom>
                <a:solidFill>
                  <a:srgbClr val="445D73"/>
                </a:solidFill>
                <a:ln>
                  <a:solidFill>
                    <a:srgbClr val="00B0F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9164;p56">
                  <a:extLst>
                    <a:ext uri="{FF2B5EF4-FFF2-40B4-BE49-F238E27FC236}">
                      <a16:creationId xmlns:a16="http://schemas.microsoft.com/office/drawing/2014/main" id="{E96BDE89-9C3C-5868-94DC-8173B3729F98}"/>
                    </a:ext>
                  </a:extLst>
                </p:cNvPr>
                <p:cNvSpPr/>
                <p:nvPr/>
              </p:nvSpPr>
              <p:spPr>
                <a:xfrm>
                  <a:off x="9504885" y="2171202"/>
                  <a:ext cx="97684" cy="14519"/>
                </a:xfrm>
                <a:custGeom>
                  <a:avLst/>
                  <a:gdLst/>
                  <a:ahLst/>
                  <a:cxnLst/>
                  <a:rect l="l" t="t" r="r" b="b"/>
                  <a:pathLst>
                    <a:path w="7125" h="1059" extrusionOk="0">
                      <a:moveTo>
                        <a:pt x="6598" y="0"/>
                      </a:moveTo>
                      <a:cubicBezTo>
                        <a:pt x="6592" y="0"/>
                        <a:pt x="6587" y="0"/>
                        <a:pt x="6581" y="0"/>
                      </a:cubicBezTo>
                      <a:lnTo>
                        <a:pt x="515" y="0"/>
                      </a:lnTo>
                      <a:cubicBezTo>
                        <a:pt x="227" y="7"/>
                        <a:pt x="0" y="243"/>
                        <a:pt x="0" y="528"/>
                      </a:cubicBezTo>
                      <a:cubicBezTo>
                        <a:pt x="0" y="816"/>
                        <a:pt x="227" y="1052"/>
                        <a:pt x="515" y="1058"/>
                      </a:cubicBezTo>
                      <a:lnTo>
                        <a:pt x="6581" y="1058"/>
                      </a:lnTo>
                      <a:cubicBezTo>
                        <a:pt x="6587" y="1058"/>
                        <a:pt x="6592" y="1059"/>
                        <a:pt x="6598" y="1059"/>
                      </a:cubicBezTo>
                      <a:cubicBezTo>
                        <a:pt x="6888" y="1059"/>
                        <a:pt x="7124" y="823"/>
                        <a:pt x="7124" y="528"/>
                      </a:cubicBezTo>
                      <a:cubicBezTo>
                        <a:pt x="7124" y="236"/>
                        <a:pt x="6888" y="0"/>
                        <a:pt x="6598" y="0"/>
                      </a:cubicBezTo>
                      <a:close/>
                    </a:path>
                  </a:pathLst>
                </a:custGeom>
                <a:solidFill>
                  <a:srgbClr val="445D73"/>
                </a:solidFill>
                <a:ln>
                  <a:solidFill>
                    <a:srgbClr val="00B0F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9165;p56">
                  <a:extLst>
                    <a:ext uri="{FF2B5EF4-FFF2-40B4-BE49-F238E27FC236}">
                      <a16:creationId xmlns:a16="http://schemas.microsoft.com/office/drawing/2014/main" id="{4CEBEE97-725C-90FA-4E54-F86D8E3181AC}"/>
                    </a:ext>
                  </a:extLst>
                </p:cNvPr>
                <p:cNvSpPr/>
                <p:nvPr/>
              </p:nvSpPr>
              <p:spPr>
                <a:xfrm>
                  <a:off x="9587826" y="2129731"/>
                  <a:ext cx="106993" cy="97464"/>
                </a:xfrm>
                <a:custGeom>
                  <a:avLst/>
                  <a:gdLst/>
                  <a:ahLst/>
                  <a:cxnLst/>
                  <a:rect l="l" t="t" r="r" b="b"/>
                  <a:pathLst>
                    <a:path w="7804" h="7109" extrusionOk="0">
                      <a:moveTo>
                        <a:pt x="4230" y="0"/>
                      </a:moveTo>
                      <a:cubicBezTo>
                        <a:pt x="4224" y="0"/>
                        <a:pt x="4218" y="0"/>
                        <a:pt x="4213" y="0"/>
                      </a:cubicBezTo>
                      <a:lnTo>
                        <a:pt x="3339" y="0"/>
                      </a:lnTo>
                      <a:cubicBezTo>
                        <a:pt x="1495" y="0"/>
                        <a:pt x="3" y="1495"/>
                        <a:pt x="0" y="3336"/>
                      </a:cubicBezTo>
                      <a:lnTo>
                        <a:pt x="0" y="3850"/>
                      </a:lnTo>
                      <a:cubicBezTo>
                        <a:pt x="3" y="5649"/>
                        <a:pt x="1459" y="7108"/>
                        <a:pt x="3258" y="7108"/>
                      </a:cubicBezTo>
                      <a:lnTo>
                        <a:pt x="7286" y="7108"/>
                      </a:lnTo>
                      <a:cubicBezTo>
                        <a:pt x="7574" y="7102"/>
                        <a:pt x="7804" y="6866"/>
                        <a:pt x="7804" y="6578"/>
                      </a:cubicBezTo>
                      <a:cubicBezTo>
                        <a:pt x="7804" y="6290"/>
                        <a:pt x="7574" y="6057"/>
                        <a:pt x="7286" y="6047"/>
                      </a:cubicBezTo>
                      <a:lnTo>
                        <a:pt x="3258" y="6047"/>
                      </a:lnTo>
                      <a:cubicBezTo>
                        <a:pt x="2045" y="6047"/>
                        <a:pt x="1061" y="5064"/>
                        <a:pt x="1061" y="3850"/>
                      </a:cubicBezTo>
                      <a:lnTo>
                        <a:pt x="1061" y="3336"/>
                      </a:lnTo>
                      <a:cubicBezTo>
                        <a:pt x="1061" y="2081"/>
                        <a:pt x="2080" y="1061"/>
                        <a:pt x="3339" y="1058"/>
                      </a:cubicBezTo>
                      <a:lnTo>
                        <a:pt x="4213" y="1058"/>
                      </a:lnTo>
                      <a:cubicBezTo>
                        <a:pt x="4218" y="1058"/>
                        <a:pt x="4224" y="1059"/>
                        <a:pt x="4230" y="1059"/>
                      </a:cubicBezTo>
                      <a:cubicBezTo>
                        <a:pt x="4520" y="1059"/>
                        <a:pt x="4756" y="823"/>
                        <a:pt x="4756" y="528"/>
                      </a:cubicBezTo>
                      <a:cubicBezTo>
                        <a:pt x="4756" y="236"/>
                        <a:pt x="4520" y="0"/>
                        <a:pt x="4230" y="0"/>
                      </a:cubicBezTo>
                      <a:close/>
                    </a:path>
                  </a:pathLst>
                </a:custGeom>
                <a:solidFill>
                  <a:srgbClr val="445D73"/>
                </a:solidFill>
                <a:ln>
                  <a:solidFill>
                    <a:srgbClr val="00B0F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aphicFrame>
        <p:nvGraphicFramePr>
          <p:cNvPr id="21" name="Google Shape;1243;p44">
            <a:extLst>
              <a:ext uri="{FF2B5EF4-FFF2-40B4-BE49-F238E27FC236}">
                <a16:creationId xmlns:a16="http://schemas.microsoft.com/office/drawing/2014/main" id="{F8763FD7-78BD-DCA9-0D32-12A17817B2AC}"/>
              </a:ext>
            </a:extLst>
          </p:cNvPr>
          <p:cNvGraphicFramePr/>
          <p:nvPr>
            <p:extLst>
              <p:ext uri="{D42A27DB-BD31-4B8C-83A1-F6EECF244321}">
                <p14:modId xmlns:p14="http://schemas.microsoft.com/office/powerpoint/2010/main" val="3094229473"/>
              </p:ext>
            </p:extLst>
          </p:nvPr>
        </p:nvGraphicFramePr>
        <p:xfrm>
          <a:off x="4106834" y="2421037"/>
          <a:ext cx="4945864" cy="2423726"/>
        </p:xfrm>
        <a:graphic>
          <a:graphicData uri="http://schemas.openxmlformats.org/drawingml/2006/table">
            <a:tbl>
              <a:tblPr>
                <a:tableStyleId>{9D7B26C5-4107-4FEC-AEDC-1716B250A1EF}</a:tableStyleId>
              </a:tblPr>
              <a:tblGrid>
                <a:gridCol w="1181864">
                  <a:extLst>
                    <a:ext uri="{9D8B030D-6E8A-4147-A177-3AD203B41FA5}">
                      <a16:colId xmlns:a16="http://schemas.microsoft.com/office/drawing/2014/main" val="20000"/>
                    </a:ext>
                  </a:extLst>
                </a:gridCol>
                <a:gridCol w="2720662">
                  <a:extLst>
                    <a:ext uri="{9D8B030D-6E8A-4147-A177-3AD203B41FA5}">
                      <a16:colId xmlns:a16="http://schemas.microsoft.com/office/drawing/2014/main" val="20001"/>
                    </a:ext>
                  </a:extLst>
                </a:gridCol>
                <a:gridCol w="666361">
                  <a:extLst>
                    <a:ext uri="{9D8B030D-6E8A-4147-A177-3AD203B41FA5}">
                      <a16:colId xmlns:a16="http://schemas.microsoft.com/office/drawing/2014/main" val="20002"/>
                    </a:ext>
                  </a:extLst>
                </a:gridCol>
                <a:gridCol w="376977">
                  <a:extLst>
                    <a:ext uri="{9D8B030D-6E8A-4147-A177-3AD203B41FA5}">
                      <a16:colId xmlns:a16="http://schemas.microsoft.com/office/drawing/2014/main" val="20003"/>
                    </a:ext>
                  </a:extLst>
                </a:gridCol>
              </a:tblGrid>
              <a:tr h="312050">
                <a:tc>
                  <a:txBody>
                    <a:bodyPr/>
                    <a:lstStyle/>
                    <a:p>
                      <a:pPr marL="0" lvl="0" indent="0" algn="ctr" rtl="0">
                        <a:spcBef>
                          <a:spcPts val="0"/>
                        </a:spcBef>
                        <a:spcAft>
                          <a:spcPts val="0"/>
                        </a:spcAft>
                        <a:buNone/>
                      </a:pPr>
                      <a:r>
                        <a:rPr lang="pt-PT" sz="1000" b="0" u="none" strike="noStrike" cap="none" dirty="0" err="1">
                          <a:solidFill>
                            <a:schemeClr val="lt1"/>
                          </a:solidFill>
                          <a:sym typeface="Arial"/>
                        </a:rPr>
                        <a:t>Names</a:t>
                      </a:r>
                      <a:endParaRPr sz="1050" b="0" i="0" u="none" strike="noStrike" cap="none" dirty="0">
                        <a:solidFill>
                          <a:schemeClr val="lt1"/>
                        </a:solidFill>
                        <a:latin typeface="Arial"/>
                        <a:cs typeface="Arial"/>
                        <a:sym typeface="Arial"/>
                      </a:endParaRPr>
                    </a:p>
                  </a:txBody>
                  <a:tcPr marL="45720" marR="45720">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sz="1000" dirty="0">
                          <a:solidFill>
                            <a:schemeClr val="lt1"/>
                          </a:solidFill>
                          <a:sym typeface="Maven Pro"/>
                        </a:rPr>
                        <a:t>Preconditions</a:t>
                      </a:r>
                      <a:endParaRPr sz="1050" dirty="0">
                        <a:solidFill>
                          <a:schemeClr val="lt1"/>
                        </a:solidFill>
                        <a:latin typeface="Maven Pro"/>
                        <a:ea typeface="Maven Pro"/>
                        <a:cs typeface="Maven Pro"/>
                        <a:sym typeface="Maven Pro"/>
                      </a:endParaRPr>
                    </a:p>
                  </a:txBody>
                  <a:tcPr marL="45720" marR="45720">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sz="1050" dirty="0">
                          <a:solidFill>
                            <a:schemeClr val="lt1"/>
                          </a:solidFill>
                          <a:sym typeface="Maven Pro"/>
                        </a:rPr>
                        <a:t>Effects</a:t>
                      </a:r>
                      <a:endParaRPr sz="1050" dirty="0">
                        <a:solidFill>
                          <a:schemeClr val="lt1"/>
                        </a:solidFill>
                        <a:latin typeface="Maven Pro"/>
                        <a:ea typeface="Maven Pro"/>
                        <a:cs typeface="Maven Pro"/>
                        <a:sym typeface="Maven Pro"/>
                      </a:endParaRPr>
                    </a:p>
                  </a:txBody>
                  <a:tcPr marL="45720" marR="45720">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sz="1050" dirty="0">
                          <a:solidFill>
                            <a:schemeClr val="lt1"/>
                          </a:solidFill>
                          <a:sym typeface="Maven Pro"/>
                        </a:rPr>
                        <a:t>Cost</a:t>
                      </a:r>
                      <a:endParaRPr sz="1050" dirty="0">
                        <a:solidFill>
                          <a:schemeClr val="lt1"/>
                        </a:solidFill>
                        <a:latin typeface="Maven Pro"/>
                        <a:ea typeface="Maven Pro"/>
                        <a:cs typeface="Maven Pro"/>
                        <a:sym typeface="Maven Pro"/>
                      </a:endParaRPr>
                    </a:p>
                  </a:txBody>
                  <a:tcPr marL="45720" marR="4572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10734">
                <a:tc>
                  <a:txBody>
                    <a:bodyPr/>
                    <a:lstStyle/>
                    <a:p>
                      <a:pPr marL="0" marR="0" lvl="0" indent="0" algn="ctr" rtl="0">
                        <a:lnSpc>
                          <a:spcPct val="100000"/>
                        </a:lnSpc>
                        <a:spcBef>
                          <a:spcPts val="0"/>
                        </a:spcBef>
                        <a:spcAft>
                          <a:spcPts val="0"/>
                        </a:spcAft>
                        <a:buClr>
                          <a:srgbClr val="000000"/>
                        </a:buClr>
                        <a:buFont typeface="Arial"/>
                        <a:buNone/>
                      </a:pPr>
                      <a:r>
                        <a:rPr lang="pt-PT" sz="800" b="0" u="none" strike="noStrike" cap="none" dirty="0" err="1">
                          <a:solidFill>
                            <a:schemeClr val="bg1"/>
                          </a:solidFill>
                          <a:effectLst/>
                          <a:sym typeface="Arial"/>
                        </a:rPr>
                        <a:t>move_horizontal_left</a:t>
                      </a:r>
                      <a:endParaRPr sz="800" b="0" i="0" u="none" strike="noStrike" cap="none" dirty="0">
                        <a:solidFill>
                          <a:schemeClr val="bg1"/>
                        </a:solidFill>
                        <a:effectLst/>
                        <a:latin typeface="Arial"/>
                        <a:ea typeface="Share Tech"/>
                        <a:cs typeface="Arial"/>
                        <a:sym typeface="Share Tech"/>
                      </a:endParaRPr>
                    </a:p>
                  </a:txBody>
                  <a:tcPr marL="45720" marR="4572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Font typeface="Arial"/>
                        <a:buNone/>
                      </a:pPr>
                      <a:r>
                        <a:rPr lang="pt-PT" sz="800" b="0" u="none" strike="noStrike" cap="none" dirty="0" err="1">
                          <a:solidFill>
                            <a:schemeClr val="bg1"/>
                          </a:solidFill>
                          <a:effectLst/>
                          <a:sym typeface="Arial"/>
                        </a:rPr>
                        <a:t>vehicle.orientation</a:t>
                      </a:r>
                      <a:r>
                        <a:rPr lang="pt-PT" sz="800" b="0" u="none" strike="noStrike" cap="none" dirty="0">
                          <a:solidFill>
                            <a:schemeClr val="bg1"/>
                          </a:solidFill>
                          <a:effectLst/>
                          <a:sym typeface="Arial"/>
                        </a:rPr>
                        <a:t> == ‘ H ’ </a:t>
                      </a:r>
                      <a:r>
                        <a:rPr lang="pt-PT" sz="800" b="0" u="none" strike="noStrike" cap="none" dirty="0" err="1">
                          <a:solidFill>
                            <a:schemeClr val="bg1"/>
                          </a:solidFill>
                          <a:effectLst/>
                          <a:sym typeface="Arial"/>
                        </a:rPr>
                        <a:t>and</a:t>
                      </a:r>
                      <a:r>
                        <a:rPr lang="pt-PT" sz="800" b="0" u="none" strike="noStrike" cap="none" dirty="0">
                          <a:solidFill>
                            <a:schemeClr val="bg1"/>
                          </a:solidFill>
                          <a:effectLst/>
                          <a:sym typeface="Arial"/>
                        </a:rPr>
                        <a:t> </a:t>
                      </a:r>
                      <a:r>
                        <a:rPr lang="pt-PT" sz="800" b="0" u="none" strike="noStrike" cap="none" dirty="0" err="1">
                          <a:solidFill>
                            <a:schemeClr val="bg1"/>
                          </a:solidFill>
                          <a:effectLst/>
                          <a:sym typeface="Arial"/>
                        </a:rPr>
                        <a:t>vehicle.x</a:t>
                      </a:r>
                      <a:r>
                        <a:rPr lang="pt-PT" sz="800" b="0" u="none" strike="noStrike" cap="none" dirty="0">
                          <a:solidFill>
                            <a:schemeClr val="bg1"/>
                          </a:solidFill>
                          <a:effectLst/>
                          <a:sym typeface="Arial"/>
                        </a:rPr>
                        <a:t> != 0 </a:t>
                      </a:r>
                      <a:r>
                        <a:rPr lang="pt-PT" sz="800" b="0" u="none" strike="noStrike" cap="none" dirty="0" err="1">
                          <a:solidFill>
                            <a:schemeClr val="bg1"/>
                          </a:solidFill>
                          <a:effectLst/>
                          <a:sym typeface="Arial"/>
                        </a:rPr>
                        <a:t>and</a:t>
                      </a:r>
                      <a:r>
                        <a:rPr lang="pt-PT" sz="800" b="0" u="none" strike="noStrike" cap="none" dirty="0">
                          <a:solidFill>
                            <a:schemeClr val="bg1"/>
                          </a:solidFill>
                          <a:effectLst/>
                          <a:sym typeface="Arial"/>
                        </a:rPr>
                        <a:t> </a:t>
                      </a:r>
                      <a:r>
                        <a:rPr lang="pt-PT" sz="800" b="0" u="none" strike="noStrike" cap="none" dirty="0" err="1">
                          <a:solidFill>
                            <a:schemeClr val="bg1"/>
                          </a:solidFill>
                          <a:effectLst/>
                          <a:sym typeface="Arial"/>
                        </a:rPr>
                        <a:t>self.board</a:t>
                      </a:r>
                      <a:r>
                        <a:rPr lang="pt-PT" sz="800" b="0" u="none" strike="noStrike" cap="none" dirty="0">
                          <a:solidFill>
                            <a:schemeClr val="bg1"/>
                          </a:solidFill>
                          <a:effectLst/>
                          <a:sym typeface="Arial"/>
                        </a:rPr>
                        <a:t>[</a:t>
                      </a:r>
                      <a:r>
                        <a:rPr lang="pt-PT" sz="800" b="0" u="none" strike="noStrike" cap="none" dirty="0" err="1">
                          <a:solidFill>
                            <a:schemeClr val="bg1"/>
                          </a:solidFill>
                          <a:effectLst/>
                          <a:sym typeface="Arial"/>
                        </a:rPr>
                        <a:t>vehicle.y</a:t>
                      </a:r>
                      <a:r>
                        <a:rPr lang="pt-PT" sz="800" b="0" u="none" strike="noStrike" cap="none" dirty="0">
                          <a:solidFill>
                            <a:schemeClr val="bg1"/>
                          </a:solidFill>
                          <a:effectLst/>
                          <a:sym typeface="Arial"/>
                        </a:rPr>
                        <a:t>][</a:t>
                      </a:r>
                      <a:r>
                        <a:rPr lang="pt-PT" sz="800" b="0" u="none" strike="noStrike" cap="none" dirty="0" err="1">
                          <a:solidFill>
                            <a:schemeClr val="bg1"/>
                          </a:solidFill>
                          <a:effectLst/>
                          <a:sym typeface="Arial"/>
                        </a:rPr>
                        <a:t>vehicle.x</a:t>
                      </a:r>
                      <a:r>
                        <a:rPr lang="pt-PT" sz="800" b="0" u="none" strike="noStrike" cap="none" dirty="0">
                          <a:solidFill>
                            <a:schemeClr val="bg1"/>
                          </a:solidFill>
                          <a:effectLst/>
                          <a:sym typeface="Arial"/>
                        </a:rPr>
                        <a:t> – 1] == ‘   ’</a:t>
                      </a:r>
                      <a:endParaRPr sz="800" b="0" i="0" u="none" strike="noStrike" cap="none" dirty="0">
                        <a:solidFill>
                          <a:schemeClr val="bg1"/>
                        </a:solidFill>
                        <a:effectLst/>
                        <a:latin typeface="Arial"/>
                        <a:ea typeface="Maven Pro"/>
                        <a:cs typeface="Arial"/>
                        <a:sym typeface="Maven Pro"/>
                      </a:endParaRPr>
                    </a:p>
                  </a:txBody>
                  <a:tcPr marL="45720" marR="4572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Font typeface="Arial"/>
                        <a:buNone/>
                      </a:pPr>
                      <a:r>
                        <a:rPr lang="pt-PT" sz="800" b="0" u="none" strike="noStrike" cap="none" dirty="0" err="1">
                          <a:solidFill>
                            <a:schemeClr val="bg1"/>
                          </a:solidFill>
                          <a:effectLst/>
                          <a:sym typeface="Arial"/>
                        </a:rPr>
                        <a:t>vehicle.x</a:t>
                      </a:r>
                      <a:r>
                        <a:rPr lang="pt-PT" sz="800" b="0" u="none" strike="noStrike" cap="none" dirty="0">
                          <a:solidFill>
                            <a:schemeClr val="bg1"/>
                          </a:solidFill>
                          <a:effectLst/>
                          <a:sym typeface="Arial"/>
                        </a:rPr>
                        <a:t> – 1</a:t>
                      </a:r>
                      <a:endParaRPr sz="800" b="0" i="0" u="none" strike="noStrike" cap="none" dirty="0">
                        <a:solidFill>
                          <a:schemeClr val="bg1"/>
                        </a:solidFill>
                        <a:effectLst/>
                        <a:latin typeface="Arial"/>
                        <a:ea typeface="Maven Pro"/>
                        <a:cs typeface="Arial"/>
                        <a:sym typeface="Maven Pro"/>
                      </a:endParaRPr>
                    </a:p>
                  </a:txBody>
                  <a:tcPr marL="45720" marR="4572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Font typeface="Arial"/>
                        <a:buNone/>
                      </a:pPr>
                      <a:r>
                        <a:rPr lang="pt-PT" sz="800" b="0" u="none" strike="noStrike" cap="none" dirty="0">
                          <a:solidFill>
                            <a:schemeClr val="bg1"/>
                          </a:solidFill>
                          <a:effectLst/>
                          <a:sym typeface="Maven Pro"/>
                        </a:rPr>
                        <a:t>1</a:t>
                      </a:r>
                      <a:endParaRPr sz="800" b="0" i="0" u="none" strike="noStrike" cap="none" dirty="0">
                        <a:solidFill>
                          <a:schemeClr val="bg1"/>
                        </a:solidFill>
                        <a:effectLst/>
                        <a:latin typeface="Arial"/>
                        <a:ea typeface="Maven Pro"/>
                        <a:cs typeface="Arial"/>
                        <a:sym typeface="Maven Pro"/>
                      </a:endParaRPr>
                    </a:p>
                  </a:txBody>
                  <a:tcPr marL="45720" marR="4572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70124">
                <a:tc>
                  <a:txBody>
                    <a:bodyPr/>
                    <a:lstStyle/>
                    <a:p>
                      <a:pPr marL="0" lvl="0" indent="0" algn="ctr" rtl="0">
                        <a:spcBef>
                          <a:spcPts val="0"/>
                        </a:spcBef>
                        <a:spcAft>
                          <a:spcPts val="0"/>
                        </a:spcAft>
                        <a:buNone/>
                      </a:pPr>
                      <a:r>
                        <a:rPr lang="pt-PT" sz="800" b="0" u="none" strike="noStrike" cap="none" dirty="0" err="1">
                          <a:solidFill>
                            <a:schemeClr val="bg1"/>
                          </a:solidFill>
                          <a:effectLst/>
                          <a:sym typeface="Arial"/>
                        </a:rPr>
                        <a:t>move_horizontal_right</a:t>
                      </a:r>
                      <a:endParaRPr sz="800" dirty="0">
                        <a:solidFill>
                          <a:schemeClr val="bg1"/>
                        </a:solidFill>
                        <a:latin typeface="Share Tech"/>
                        <a:ea typeface="Share Tech"/>
                        <a:cs typeface="Share Tech"/>
                        <a:sym typeface="Share Tech"/>
                      </a:endParaRPr>
                    </a:p>
                  </a:txBody>
                  <a:tcPr marL="45720" marR="4572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Font typeface="Arial"/>
                        <a:buNone/>
                      </a:pPr>
                      <a:r>
                        <a:rPr lang="pt-PT" sz="800" b="0" u="none" strike="noStrike" cap="none" dirty="0" err="1">
                          <a:solidFill>
                            <a:schemeClr val="bg1"/>
                          </a:solidFill>
                          <a:effectLst/>
                          <a:sym typeface="Arial"/>
                        </a:rPr>
                        <a:t>vehicle.orientation</a:t>
                      </a:r>
                      <a:r>
                        <a:rPr lang="pt-PT" sz="800" b="0" u="none" strike="noStrike" cap="none" dirty="0">
                          <a:solidFill>
                            <a:schemeClr val="bg1"/>
                          </a:solidFill>
                          <a:effectLst/>
                          <a:sym typeface="Arial"/>
                        </a:rPr>
                        <a:t> == ‘ H ’ </a:t>
                      </a:r>
                      <a:r>
                        <a:rPr lang="pt-PT" sz="800" b="0" u="none" strike="noStrike" cap="none" dirty="0" err="1">
                          <a:solidFill>
                            <a:schemeClr val="bg1"/>
                          </a:solidFill>
                          <a:effectLst/>
                          <a:sym typeface="Arial"/>
                        </a:rPr>
                        <a:t>and</a:t>
                      </a:r>
                      <a:r>
                        <a:rPr lang="pt-PT" sz="800" b="0" u="none" strike="noStrike" cap="none" dirty="0">
                          <a:solidFill>
                            <a:schemeClr val="bg1"/>
                          </a:solidFill>
                          <a:effectLst/>
                          <a:sym typeface="Arial"/>
                        </a:rPr>
                        <a:t> </a:t>
                      </a:r>
                      <a:r>
                        <a:rPr lang="pt-PT" sz="800" b="0" u="none" strike="noStrike" cap="none" dirty="0" err="1">
                          <a:solidFill>
                            <a:schemeClr val="bg1"/>
                          </a:solidFill>
                          <a:effectLst/>
                          <a:sym typeface="Arial"/>
                        </a:rPr>
                        <a:t>vehicle.x</a:t>
                      </a:r>
                      <a:r>
                        <a:rPr lang="pt-PT" sz="800" b="0" u="none" strike="noStrike" cap="none" dirty="0">
                          <a:solidFill>
                            <a:schemeClr val="bg1"/>
                          </a:solidFill>
                          <a:effectLst/>
                          <a:sym typeface="Arial"/>
                        </a:rPr>
                        <a:t> + </a:t>
                      </a:r>
                      <a:r>
                        <a:rPr lang="pt-PT" sz="800" b="0" u="none" strike="noStrike" cap="none" dirty="0" err="1">
                          <a:solidFill>
                            <a:schemeClr val="bg1"/>
                          </a:solidFill>
                          <a:effectLst/>
                          <a:sym typeface="Arial"/>
                        </a:rPr>
                        <a:t>vehicle.length</a:t>
                      </a:r>
                      <a:r>
                        <a:rPr lang="pt-PT" sz="800" b="0" u="none" strike="noStrike" cap="none" dirty="0">
                          <a:solidFill>
                            <a:schemeClr val="bg1"/>
                          </a:solidFill>
                          <a:effectLst/>
                          <a:sym typeface="Arial"/>
                        </a:rPr>
                        <a:t> - 1 != </a:t>
                      </a:r>
                      <a:r>
                        <a:rPr lang="pt-PT" sz="800" b="0" u="none" strike="noStrike" cap="none" dirty="0" err="1">
                          <a:solidFill>
                            <a:schemeClr val="bg1"/>
                          </a:solidFill>
                          <a:effectLst/>
                          <a:sym typeface="Arial"/>
                        </a:rPr>
                        <a:t>self.width</a:t>
                      </a:r>
                      <a:r>
                        <a:rPr lang="pt-PT" sz="800" b="0" u="none" strike="noStrike" cap="none" dirty="0">
                          <a:solidFill>
                            <a:schemeClr val="bg1"/>
                          </a:solidFill>
                          <a:effectLst/>
                          <a:sym typeface="Arial"/>
                        </a:rPr>
                        <a:t> - 1 </a:t>
                      </a:r>
                      <a:r>
                        <a:rPr lang="pt-PT" sz="800" b="0" u="none" strike="noStrike" cap="none" dirty="0" err="1">
                          <a:solidFill>
                            <a:schemeClr val="bg1"/>
                          </a:solidFill>
                          <a:effectLst/>
                          <a:sym typeface="Arial"/>
                        </a:rPr>
                        <a:t>and</a:t>
                      </a:r>
                      <a:r>
                        <a:rPr lang="pt-PT" sz="800" b="0" u="none" strike="noStrike" cap="none" dirty="0">
                          <a:solidFill>
                            <a:schemeClr val="bg1"/>
                          </a:solidFill>
                          <a:effectLst/>
                          <a:sym typeface="Arial"/>
                        </a:rPr>
                        <a:t> </a:t>
                      </a:r>
                      <a:r>
                        <a:rPr lang="pt-PT" sz="800" b="0" u="none" strike="noStrike" cap="none" dirty="0" err="1">
                          <a:solidFill>
                            <a:schemeClr val="bg1"/>
                          </a:solidFill>
                          <a:effectLst/>
                          <a:sym typeface="Arial"/>
                        </a:rPr>
                        <a:t>self.board</a:t>
                      </a:r>
                      <a:r>
                        <a:rPr lang="pt-PT" sz="800" b="0" u="none" strike="noStrike" cap="none" dirty="0">
                          <a:solidFill>
                            <a:schemeClr val="bg1"/>
                          </a:solidFill>
                          <a:effectLst/>
                          <a:sym typeface="Arial"/>
                        </a:rPr>
                        <a:t>[</a:t>
                      </a:r>
                      <a:r>
                        <a:rPr lang="pt-PT" sz="800" b="0" u="none" strike="noStrike" cap="none" dirty="0" err="1">
                          <a:solidFill>
                            <a:schemeClr val="bg1"/>
                          </a:solidFill>
                          <a:effectLst/>
                          <a:sym typeface="Arial"/>
                        </a:rPr>
                        <a:t>vehicle.y</a:t>
                      </a:r>
                      <a:r>
                        <a:rPr lang="pt-PT" sz="800" b="0" u="none" strike="noStrike" cap="none" dirty="0">
                          <a:solidFill>
                            <a:schemeClr val="bg1"/>
                          </a:solidFill>
                          <a:effectLst/>
                          <a:sym typeface="Arial"/>
                        </a:rPr>
                        <a:t>][</a:t>
                      </a:r>
                      <a:r>
                        <a:rPr lang="pt-PT" sz="800" b="0" u="none" strike="noStrike" cap="none" dirty="0" err="1">
                          <a:solidFill>
                            <a:schemeClr val="bg1"/>
                          </a:solidFill>
                          <a:effectLst/>
                          <a:sym typeface="Arial"/>
                        </a:rPr>
                        <a:t>vehicle.x</a:t>
                      </a:r>
                      <a:r>
                        <a:rPr lang="pt-PT" sz="800" b="0" u="none" strike="noStrike" cap="none" dirty="0">
                          <a:solidFill>
                            <a:schemeClr val="bg1"/>
                          </a:solidFill>
                          <a:effectLst/>
                          <a:sym typeface="Arial"/>
                        </a:rPr>
                        <a:t>  + </a:t>
                      </a:r>
                      <a:r>
                        <a:rPr lang="pt-PT" sz="800" b="0" u="none" strike="noStrike" cap="none" dirty="0" err="1">
                          <a:solidFill>
                            <a:schemeClr val="bg1"/>
                          </a:solidFill>
                          <a:effectLst/>
                          <a:sym typeface="Arial"/>
                        </a:rPr>
                        <a:t>vehicle.length</a:t>
                      </a:r>
                      <a:r>
                        <a:rPr lang="pt-PT" sz="800" b="0" u="none" strike="noStrike" cap="none" dirty="0">
                          <a:solidFill>
                            <a:schemeClr val="bg1"/>
                          </a:solidFill>
                          <a:effectLst/>
                          <a:sym typeface="Arial"/>
                        </a:rPr>
                        <a:t>] ==       ‘  ’</a:t>
                      </a:r>
                      <a:endParaRPr sz="800" b="0" i="0" u="none" strike="noStrike" cap="none" dirty="0">
                        <a:solidFill>
                          <a:schemeClr val="bg1"/>
                        </a:solidFill>
                        <a:effectLst/>
                        <a:latin typeface="Arial"/>
                        <a:ea typeface="Maven Pro"/>
                        <a:cs typeface="Arial"/>
                        <a:sym typeface="Maven Pro"/>
                      </a:endParaRPr>
                    </a:p>
                  </a:txBody>
                  <a:tcPr marL="45720" marR="4572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pt-PT" sz="800" b="0" u="none" strike="noStrike" cap="none" dirty="0" err="1">
                          <a:solidFill>
                            <a:schemeClr val="bg1"/>
                          </a:solidFill>
                          <a:effectLst/>
                          <a:sym typeface="Arial"/>
                        </a:rPr>
                        <a:t>vehicle.x</a:t>
                      </a:r>
                      <a:r>
                        <a:rPr lang="pt-PT" sz="800" b="0" u="none" strike="noStrike" cap="none" dirty="0">
                          <a:solidFill>
                            <a:schemeClr val="bg1"/>
                          </a:solidFill>
                          <a:effectLst/>
                          <a:sym typeface="Arial"/>
                        </a:rPr>
                        <a:t> + 1</a:t>
                      </a:r>
                      <a:endParaRPr sz="800" dirty="0">
                        <a:solidFill>
                          <a:schemeClr val="bg1"/>
                        </a:solidFill>
                        <a:latin typeface="Maven Pro"/>
                        <a:ea typeface="Maven Pro"/>
                        <a:cs typeface="Maven Pro"/>
                        <a:sym typeface="Maven Pro"/>
                      </a:endParaRPr>
                    </a:p>
                  </a:txBody>
                  <a:tcPr marL="45720" marR="4572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Font typeface="Arial"/>
                        <a:buNone/>
                      </a:pPr>
                      <a:r>
                        <a:rPr lang="pt-PT" sz="800" b="0" u="none" strike="noStrike" cap="none" dirty="0">
                          <a:solidFill>
                            <a:schemeClr val="bg1"/>
                          </a:solidFill>
                          <a:effectLst/>
                          <a:sym typeface="Maven Pro"/>
                        </a:rPr>
                        <a:t>1</a:t>
                      </a:r>
                      <a:endParaRPr sz="800" b="0" i="0" u="none" strike="noStrike" cap="none" dirty="0">
                        <a:solidFill>
                          <a:schemeClr val="bg1"/>
                        </a:solidFill>
                        <a:effectLst/>
                        <a:latin typeface="Arial"/>
                        <a:ea typeface="Maven Pro"/>
                        <a:cs typeface="Arial"/>
                        <a:sym typeface="Maven Pro"/>
                      </a:endParaRPr>
                    </a:p>
                  </a:txBody>
                  <a:tcPr marL="45720" marR="4572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20084">
                <a:tc>
                  <a:txBody>
                    <a:bodyPr/>
                    <a:lstStyle/>
                    <a:p>
                      <a:pPr marL="0" lvl="0" indent="0" algn="ctr" rtl="0">
                        <a:spcBef>
                          <a:spcPts val="0"/>
                        </a:spcBef>
                        <a:spcAft>
                          <a:spcPts val="0"/>
                        </a:spcAft>
                        <a:buNone/>
                      </a:pPr>
                      <a:r>
                        <a:rPr lang="pt-PT" sz="800" b="0" u="none" strike="noStrike" cap="none" dirty="0" err="1">
                          <a:solidFill>
                            <a:schemeClr val="bg1"/>
                          </a:solidFill>
                          <a:effectLst/>
                          <a:sym typeface="Arial"/>
                        </a:rPr>
                        <a:t>move_vertical_up</a:t>
                      </a:r>
                      <a:endParaRPr sz="800" dirty="0">
                        <a:solidFill>
                          <a:schemeClr val="bg1"/>
                        </a:solidFill>
                        <a:latin typeface="Share Tech"/>
                        <a:ea typeface="Share Tech"/>
                        <a:cs typeface="Share Tech"/>
                        <a:sym typeface="Share Tech"/>
                      </a:endParaRPr>
                    </a:p>
                  </a:txBody>
                  <a:tcPr marL="45720" marR="4572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pt-PT" sz="800" dirty="0" err="1">
                          <a:solidFill>
                            <a:schemeClr val="bg1"/>
                          </a:solidFill>
                          <a:sym typeface="Maven Pro"/>
                        </a:rPr>
                        <a:t>vehicle.orientation</a:t>
                      </a:r>
                      <a:r>
                        <a:rPr lang="pt-PT" sz="800" dirty="0">
                          <a:solidFill>
                            <a:schemeClr val="bg1"/>
                          </a:solidFill>
                          <a:sym typeface="Maven Pro"/>
                        </a:rPr>
                        <a:t> == ‘V’ </a:t>
                      </a:r>
                      <a:r>
                        <a:rPr lang="pt-PT" sz="800" dirty="0" err="1">
                          <a:solidFill>
                            <a:schemeClr val="bg1"/>
                          </a:solidFill>
                          <a:sym typeface="Maven Pro"/>
                        </a:rPr>
                        <a:t>and</a:t>
                      </a:r>
                      <a:r>
                        <a:rPr lang="pt-PT" sz="800" dirty="0">
                          <a:solidFill>
                            <a:schemeClr val="bg1"/>
                          </a:solidFill>
                          <a:sym typeface="Maven Pro"/>
                        </a:rPr>
                        <a:t> </a:t>
                      </a:r>
                      <a:r>
                        <a:rPr lang="pt-PT" sz="800" dirty="0" err="1">
                          <a:solidFill>
                            <a:schemeClr val="bg1"/>
                          </a:solidFill>
                          <a:sym typeface="Maven Pro"/>
                        </a:rPr>
                        <a:t>vehicle.y</a:t>
                      </a:r>
                      <a:r>
                        <a:rPr lang="pt-PT" sz="800" dirty="0">
                          <a:solidFill>
                            <a:schemeClr val="bg1"/>
                          </a:solidFill>
                          <a:sym typeface="Maven Pro"/>
                        </a:rPr>
                        <a:t> != 0 </a:t>
                      </a:r>
                      <a:r>
                        <a:rPr lang="pt-PT" sz="800" dirty="0" err="1">
                          <a:solidFill>
                            <a:schemeClr val="bg1"/>
                          </a:solidFill>
                          <a:sym typeface="Maven Pro"/>
                        </a:rPr>
                        <a:t>and</a:t>
                      </a:r>
                      <a:r>
                        <a:rPr lang="pt-PT" sz="800" dirty="0">
                          <a:solidFill>
                            <a:schemeClr val="bg1"/>
                          </a:solidFill>
                          <a:sym typeface="Maven Pro"/>
                        </a:rPr>
                        <a:t> </a:t>
                      </a:r>
                      <a:r>
                        <a:rPr lang="pt-PT" sz="800" dirty="0" err="1">
                          <a:solidFill>
                            <a:schemeClr val="bg1"/>
                          </a:solidFill>
                          <a:sym typeface="Maven Pro"/>
                        </a:rPr>
                        <a:t>self.board</a:t>
                      </a:r>
                      <a:r>
                        <a:rPr lang="pt-PT" sz="800" dirty="0">
                          <a:solidFill>
                            <a:schemeClr val="bg1"/>
                          </a:solidFill>
                          <a:sym typeface="Maven Pro"/>
                        </a:rPr>
                        <a:t>[</a:t>
                      </a:r>
                      <a:r>
                        <a:rPr lang="pt-PT" sz="800" dirty="0" err="1">
                          <a:solidFill>
                            <a:schemeClr val="bg1"/>
                          </a:solidFill>
                          <a:sym typeface="Maven Pro"/>
                        </a:rPr>
                        <a:t>vehicle.y</a:t>
                      </a:r>
                      <a:r>
                        <a:rPr lang="pt-PT" sz="800" dirty="0">
                          <a:solidFill>
                            <a:schemeClr val="bg1"/>
                          </a:solidFill>
                          <a:sym typeface="Maven Pro"/>
                        </a:rPr>
                        <a:t> – 1][</a:t>
                      </a:r>
                      <a:r>
                        <a:rPr lang="pt-PT" sz="800" dirty="0" err="1">
                          <a:solidFill>
                            <a:schemeClr val="bg1"/>
                          </a:solidFill>
                          <a:sym typeface="Maven Pro"/>
                        </a:rPr>
                        <a:t>vehicle.x</a:t>
                      </a:r>
                      <a:r>
                        <a:rPr lang="pt-PT" sz="800" dirty="0">
                          <a:solidFill>
                            <a:schemeClr val="bg1"/>
                          </a:solidFill>
                          <a:sym typeface="Maven Pro"/>
                        </a:rPr>
                        <a:t>] == </a:t>
                      </a:r>
                      <a:r>
                        <a:rPr lang="pt-PT" sz="800" b="0" u="none" strike="noStrike" cap="none" dirty="0">
                          <a:solidFill>
                            <a:schemeClr val="bg1"/>
                          </a:solidFill>
                          <a:effectLst/>
                          <a:sym typeface="Arial"/>
                        </a:rPr>
                        <a:t>‘   ’ </a:t>
                      </a:r>
                      <a:endParaRPr sz="800" dirty="0">
                        <a:solidFill>
                          <a:schemeClr val="bg1"/>
                        </a:solidFill>
                        <a:latin typeface="Maven Pro"/>
                        <a:ea typeface="Maven Pro"/>
                        <a:cs typeface="Maven Pro"/>
                        <a:sym typeface="Maven Pro"/>
                      </a:endParaRPr>
                    </a:p>
                  </a:txBody>
                  <a:tcPr marL="45720" marR="4572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pt-PT" sz="800" dirty="0" err="1">
                          <a:solidFill>
                            <a:schemeClr val="bg1"/>
                          </a:solidFill>
                          <a:sym typeface="Maven Pro"/>
                        </a:rPr>
                        <a:t>vehicle.y</a:t>
                      </a:r>
                      <a:r>
                        <a:rPr lang="pt-PT" sz="800" dirty="0">
                          <a:solidFill>
                            <a:schemeClr val="bg1"/>
                          </a:solidFill>
                          <a:sym typeface="Maven Pro"/>
                        </a:rPr>
                        <a:t> - 1</a:t>
                      </a:r>
                      <a:endParaRPr sz="800" dirty="0">
                        <a:solidFill>
                          <a:schemeClr val="bg1"/>
                        </a:solidFill>
                        <a:latin typeface="Maven Pro"/>
                        <a:ea typeface="Maven Pro"/>
                        <a:cs typeface="Maven Pro"/>
                        <a:sym typeface="Maven Pro"/>
                      </a:endParaRPr>
                    </a:p>
                  </a:txBody>
                  <a:tcPr marL="45720" marR="4572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sz="800" dirty="0">
                          <a:solidFill>
                            <a:schemeClr val="bg1"/>
                          </a:solidFill>
                          <a:sym typeface="Maven Pro"/>
                        </a:rPr>
                        <a:t>1</a:t>
                      </a:r>
                      <a:endParaRPr sz="800" dirty="0">
                        <a:solidFill>
                          <a:schemeClr val="bg1"/>
                        </a:solidFill>
                        <a:latin typeface="Maven Pro"/>
                        <a:ea typeface="Maven Pro"/>
                        <a:cs typeface="Maven Pro"/>
                        <a:sym typeface="Maven Pro"/>
                      </a:endParaRPr>
                    </a:p>
                  </a:txBody>
                  <a:tcPr marL="45720" marR="4572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10734">
                <a:tc>
                  <a:txBody>
                    <a:bodyPr/>
                    <a:lstStyle/>
                    <a:p>
                      <a:pPr marL="0" lvl="0" indent="0" algn="ctr" rtl="0">
                        <a:spcBef>
                          <a:spcPts val="0"/>
                        </a:spcBef>
                        <a:spcAft>
                          <a:spcPts val="0"/>
                        </a:spcAft>
                        <a:buNone/>
                      </a:pPr>
                      <a:r>
                        <a:rPr lang="pt-PT" sz="800" b="0" u="none" strike="noStrike" cap="none" dirty="0" err="1">
                          <a:solidFill>
                            <a:schemeClr val="bg1"/>
                          </a:solidFill>
                          <a:effectLst/>
                          <a:sym typeface="Arial"/>
                        </a:rPr>
                        <a:t>move_vertical_down</a:t>
                      </a:r>
                      <a:endParaRPr sz="800" dirty="0">
                        <a:solidFill>
                          <a:schemeClr val="bg1"/>
                        </a:solidFill>
                        <a:latin typeface="Share Tech"/>
                        <a:ea typeface="Share Tech"/>
                        <a:cs typeface="Share Tech"/>
                        <a:sym typeface="Share Tech"/>
                      </a:endParaRPr>
                    </a:p>
                  </a:txBody>
                  <a:tcPr marL="45720" marR="45720" anchor="ctr">
                    <a:lnT w="12700" cap="flat" cmpd="sng" algn="ctr">
                      <a:solidFill>
                        <a:schemeClr val="tx1"/>
                      </a:solidFill>
                      <a:prstDash val="solid"/>
                      <a:round/>
                      <a:headEnd type="none" w="med" len="med"/>
                      <a:tailEnd type="none" w="med" len="med"/>
                    </a:lnT>
                  </a:tcPr>
                </a:tc>
                <a:tc>
                  <a:txBody>
                    <a:bodyPr/>
                    <a:lstStyle/>
                    <a:p>
                      <a:pPr marL="0" lvl="0" indent="0" algn="ctr" rtl="0">
                        <a:spcBef>
                          <a:spcPts val="0"/>
                        </a:spcBef>
                        <a:spcAft>
                          <a:spcPts val="0"/>
                        </a:spcAft>
                        <a:buNone/>
                      </a:pPr>
                      <a:r>
                        <a:rPr lang="pt-PT" sz="800" dirty="0" err="1">
                          <a:solidFill>
                            <a:schemeClr val="bg1"/>
                          </a:solidFill>
                          <a:sym typeface="Maven Pro"/>
                        </a:rPr>
                        <a:t>vehicle.orientation</a:t>
                      </a:r>
                      <a:r>
                        <a:rPr lang="pt-PT" sz="800" dirty="0">
                          <a:solidFill>
                            <a:schemeClr val="bg1"/>
                          </a:solidFill>
                          <a:sym typeface="Maven Pro"/>
                        </a:rPr>
                        <a:t> == ‘V’ </a:t>
                      </a:r>
                      <a:r>
                        <a:rPr lang="pt-PT" sz="800" dirty="0" err="1">
                          <a:solidFill>
                            <a:schemeClr val="bg1"/>
                          </a:solidFill>
                          <a:sym typeface="Maven Pro"/>
                        </a:rPr>
                        <a:t>and</a:t>
                      </a:r>
                      <a:r>
                        <a:rPr lang="pt-PT" sz="800" dirty="0">
                          <a:solidFill>
                            <a:schemeClr val="bg1"/>
                          </a:solidFill>
                          <a:sym typeface="Maven Pro"/>
                        </a:rPr>
                        <a:t> </a:t>
                      </a:r>
                      <a:r>
                        <a:rPr lang="pt-PT" sz="800" dirty="0" err="1">
                          <a:solidFill>
                            <a:schemeClr val="bg1"/>
                          </a:solidFill>
                          <a:sym typeface="Maven Pro"/>
                        </a:rPr>
                        <a:t>self.board</a:t>
                      </a:r>
                      <a:r>
                        <a:rPr lang="pt-PT" sz="800" dirty="0">
                          <a:solidFill>
                            <a:schemeClr val="bg1"/>
                          </a:solidFill>
                          <a:sym typeface="Maven Pro"/>
                        </a:rPr>
                        <a:t>[</a:t>
                      </a:r>
                      <a:r>
                        <a:rPr lang="pt-PT" sz="800" dirty="0" err="1">
                          <a:solidFill>
                            <a:schemeClr val="bg1"/>
                          </a:solidFill>
                          <a:sym typeface="Maven Pro"/>
                        </a:rPr>
                        <a:t>vehicle.y</a:t>
                      </a:r>
                      <a:r>
                        <a:rPr lang="pt-PT" sz="800" dirty="0">
                          <a:solidFill>
                            <a:schemeClr val="bg1"/>
                          </a:solidFill>
                          <a:sym typeface="Maven Pro"/>
                        </a:rPr>
                        <a:t> + </a:t>
                      </a:r>
                      <a:r>
                        <a:rPr lang="pt-PT" sz="800" dirty="0" err="1">
                          <a:solidFill>
                            <a:schemeClr val="bg1"/>
                          </a:solidFill>
                          <a:sym typeface="Maven Pro"/>
                        </a:rPr>
                        <a:t>vehicle.length</a:t>
                      </a:r>
                      <a:r>
                        <a:rPr lang="pt-PT" sz="800" dirty="0">
                          <a:solidFill>
                            <a:schemeClr val="bg1"/>
                          </a:solidFill>
                          <a:sym typeface="Maven Pro"/>
                        </a:rPr>
                        <a:t>][</a:t>
                      </a:r>
                      <a:r>
                        <a:rPr lang="pt-PT" sz="800" dirty="0" err="1">
                          <a:solidFill>
                            <a:schemeClr val="bg1"/>
                          </a:solidFill>
                          <a:sym typeface="Maven Pro"/>
                        </a:rPr>
                        <a:t>vehicle.x</a:t>
                      </a:r>
                      <a:r>
                        <a:rPr lang="pt-PT" sz="800" dirty="0">
                          <a:solidFill>
                            <a:schemeClr val="bg1"/>
                          </a:solidFill>
                          <a:sym typeface="Maven Pro"/>
                        </a:rPr>
                        <a:t>]== </a:t>
                      </a:r>
                      <a:r>
                        <a:rPr lang="pt-PT" sz="800" b="0" u="none" strike="noStrike" cap="none" dirty="0">
                          <a:solidFill>
                            <a:schemeClr val="bg1"/>
                          </a:solidFill>
                          <a:effectLst/>
                          <a:sym typeface="Arial"/>
                        </a:rPr>
                        <a:t>‘   ’</a:t>
                      </a:r>
                      <a:endParaRPr sz="800" dirty="0">
                        <a:solidFill>
                          <a:schemeClr val="bg1"/>
                        </a:solidFill>
                        <a:latin typeface="Maven Pro"/>
                        <a:ea typeface="Maven Pro"/>
                        <a:cs typeface="Maven Pro"/>
                        <a:sym typeface="Maven Pro"/>
                      </a:endParaRPr>
                    </a:p>
                  </a:txBody>
                  <a:tcPr marL="45720" marR="45720" anchor="ctr">
                    <a:lnT w="12700" cap="flat" cmpd="sng" algn="ctr">
                      <a:solidFill>
                        <a:schemeClr val="tx1"/>
                      </a:solidFill>
                      <a:prstDash val="solid"/>
                      <a:round/>
                      <a:headEnd type="none" w="med" len="med"/>
                      <a:tailEnd type="none" w="med" len="med"/>
                    </a:lnT>
                  </a:tcPr>
                </a:tc>
                <a:tc>
                  <a:txBody>
                    <a:bodyPr/>
                    <a:lstStyle/>
                    <a:p>
                      <a:pPr marL="0" lvl="0" indent="0" algn="ctr" rtl="0">
                        <a:spcBef>
                          <a:spcPts val="0"/>
                        </a:spcBef>
                        <a:spcAft>
                          <a:spcPts val="0"/>
                        </a:spcAft>
                        <a:buNone/>
                      </a:pPr>
                      <a:r>
                        <a:rPr lang="pt-PT" sz="800" dirty="0" err="1">
                          <a:solidFill>
                            <a:schemeClr val="bg1"/>
                          </a:solidFill>
                          <a:sym typeface="Maven Pro"/>
                        </a:rPr>
                        <a:t>vehicle.y</a:t>
                      </a:r>
                      <a:r>
                        <a:rPr lang="pt-PT" sz="800" dirty="0">
                          <a:solidFill>
                            <a:schemeClr val="bg1"/>
                          </a:solidFill>
                          <a:sym typeface="Maven Pro"/>
                        </a:rPr>
                        <a:t> +1 </a:t>
                      </a:r>
                      <a:endParaRPr sz="800" dirty="0">
                        <a:solidFill>
                          <a:schemeClr val="bg1"/>
                        </a:solidFill>
                        <a:latin typeface="Maven Pro"/>
                        <a:ea typeface="Maven Pro"/>
                        <a:cs typeface="Maven Pro"/>
                        <a:sym typeface="Maven Pro"/>
                      </a:endParaRPr>
                    </a:p>
                  </a:txBody>
                  <a:tcPr marL="45720" marR="45720" anchor="ctr">
                    <a:lnT w="12700" cap="flat" cmpd="sng" algn="ctr">
                      <a:solidFill>
                        <a:schemeClr val="tx1"/>
                      </a:solidFill>
                      <a:prstDash val="solid"/>
                      <a:round/>
                      <a:headEnd type="none" w="med" len="med"/>
                      <a:tailEnd type="none" w="med" len="med"/>
                    </a:lnT>
                  </a:tcPr>
                </a:tc>
                <a:tc>
                  <a:txBody>
                    <a:bodyPr/>
                    <a:lstStyle/>
                    <a:p>
                      <a:pPr marL="0" lvl="0" indent="0" algn="ctr" rtl="0">
                        <a:spcBef>
                          <a:spcPts val="0"/>
                        </a:spcBef>
                        <a:spcAft>
                          <a:spcPts val="0"/>
                        </a:spcAft>
                        <a:buNone/>
                      </a:pPr>
                      <a:r>
                        <a:rPr lang="pt-PT" sz="800" dirty="0">
                          <a:solidFill>
                            <a:schemeClr val="bg1"/>
                          </a:solidFill>
                          <a:sym typeface="Maven Pro"/>
                        </a:rPr>
                        <a:t>1</a:t>
                      </a:r>
                      <a:endParaRPr sz="800" dirty="0">
                        <a:solidFill>
                          <a:schemeClr val="bg1"/>
                        </a:solidFill>
                        <a:latin typeface="Maven Pro"/>
                        <a:ea typeface="Maven Pro"/>
                        <a:cs typeface="Maven Pro"/>
                        <a:sym typeface="Maven Pro"/>
                      </a:endParaRPr>
                    </a:p>
                  </a:txBody>
                  <a:tcPr marL="45720" marR="4572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410745151"/>
                  </a:ext>
                </a:extLst>
              </a:tr>
            </a:tbl>
          </a:graphicData>
        </a:graphic>
      </p:graphicFrame>
      <p:sp>
        <p:nvSpPr>
          <p:cNvPr id="22" name="Google Shape;1109;p38">
            <a:extLst>
              <a:ext uri="{FF2B5EF4-FFF2-40B4-BE49-F238E27FC236}">
                <a16:creationId xmlns:a16="http://schemas.microsoft.com/office/drawing/2014/main" id="{CB5768EE-8C24-3B98-658A-CEC10768643F}"/>
              </a:ext>
            </a:extLst>
          </p:cNvPr>
          <p:cNvSpPr txBox="1">
            <a:spLocks/>
          </p:cNvSpPr>
          <p:nvPr/>
        </p:nvSpPr>
        <p:spPr>
          <a:xfrm>
            <a:off x="696420" y="1240867"/>
            <a:ext cx="4126003" cy="7198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1"/>
              </a:buClr>
              <a:buSzPts val="1800"/>
              <a:buFont typeface="Maven Pro"/>
              <a:buChar char="●"/>
              <a:defRPr sz="1800" b="0" i="0" u="none" strike="noStrike" cap="none">
                <a:solidFill>
                  <a:schemeClr val="lt1"/>
                </a:solidFill>
                <a:latin typeface="Maven Pro"/>
                <a:ea typeface="Maven Pro"/>
                <a:cs typeface="Maven Pro"/>
                <a:sym typeface="Maven Pro"/>
              </a:defRPr>
            </a:lvl1pPr>
            <a:lvl2pPr marL="914400" marR="0" lvl="1"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2pPr>
            <a:lvl3pPr marL="1371600" marR="0" lvl="2"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3pPr>
            <a:lvl4pPr marL="1828800" marR="0" lvl="3"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4pPr>
            <a:lvl5pPr marL="2286000" marR="0" lvl="4"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5pPr>
            <a:lvl6pPr marL="2743200" marR="0" lvl="5"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6pPr>
            <a:lvl7pPr marL="3200400" marR="0" lvl="6"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7pPr>
            <a:lvl8pPr marL="3657600" marR="0" lvl="7"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8pPr>
            <a:lvl9pPr marL="4114800" marR="0" lvl="8" indent="-317500" algn="l" rtl="0">
              <a:lnSpc>
                <a:spcPct val="115000"/>
              </a:lnSpc>
              <a:spcBef>
                <a:spcPts val="1600"/>
              </a:spcBef>
              <a:spcAft>
                <a:spcPts val="160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9pPr>
          </a:lstStyle>
          <a:p>
            <a:pPr marL="0" indent="0">
              <a:lnSpc>
                <a:spcPct val="100000"/>
              </a:lnSpc>
              <a:buFont typeface="Maven Pro"/>
              <a:buNone/>
            </a:pPr>
            <a:r>
              <a:rPr lang="en-US" sz="1100" dirty="0"/>
              <a:t>Represented by the board and the vehicles on the board.</a:t>
            </a:r>
            <a:br>
              <a:rPr lang="en-US" sz="1100" dirty="0"/>
            </a:br>
            <a:r>
              <a:rPr lang="en-US" sz="1100" dirty="0"/>
              <a:t>board → dimension</a:t>
            </a:r>
          </a:p>
          <a:p>
            <a:pPr marL="0" indent="0">
              <a:lnSpc>
                <a:spcPct val="100000"/>
              </a:lnSpc>
              <a:buFont typeface="Maven Pro"/>
              <a:buNone/>
            </a:pPr>
            <a:r>
              <a:rPr lang="en-US" sz="1100" dirty="0"/>
              <a:t>vehicles → identification (id), position (x, y), orientation (orientation), size (length)</a:t>
            </a:r>
          </a:p>
          <a:p>
            <a:pPr marL="0" indent="0">
              <a:lnSpc>
                <a:spcPct val="100000"/>
              </a:lnSpc>
              <a:spcAft>
                <a:spcPts val="1600"/>
              </a:spcAft>
              <a:buFont typeface="Maven Pro"/>
              <a:buNone/>
            </a:pPr>
            <a:endParaRPr lang="en-US" sz="1200" dirty="0"/>
          </a:p>
        </p:txBody>
      </p:sp>
      <p:sp>
        <p:nvSpPr>
          <p:cNvPr id="23" name="Google Shape;1109;p38">
            <a:extLst>
              <a:ext uri="{FF2B5EF4-FFF2-40B4-BE49-F238E27FC236}">
                <a16:creationId xmlns:a16="http://schemas.microsoft.com/office/drawing/2014/main" id="{DB37A46B-38EB-7526-C101-328E0DBF39EA}"/>
              </a:ext>
            </a:extLst>
          </p:cNvPr>
          <p:cNvSpPr txBox="1">
            <a:spLocks/>
          </p:cNvSpPr>
          <p:nvPr/>
        </p:nvSpPr>
        <p:spPr>
          <a:xfrm>
            <a:off x="687665" y="2627685"/>
            <a:ext cx="3224684" cy="58710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1"/>
              </a:buClr>
              <a:buSzPts val="1800"/>
              <a:buFont typeface="Maven Pro"/>
              <a:buChar char="●"/>
              <a:defRPr sz="1800" b="0" i="0" u="none" strike="noStrike" cap="none">
                <a:solidFill>
                  <a:schemeClr val="lt1"/>
                </a:solidFill>
                <a:latin typeface="Maven Pro"/>
                <a:ea typeface="Maven Pro"/>
                <a:cs typeface="Maven Pro"/>
                <a:sym typeface="Maven Pro"/>
              </a:defRPr>
            </a:lvl1pPr>
            <a:lvl2pPr marL="914400" marR="0" lvl="1"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2pPr>
            <a:lvl3pPr marL="1371600" marR="0" lvl="2"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3pPr>
            <a:lvl4pPr marL="1828800" marR="0" lvl="3"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4pPr>
            <a:lvl5pPr marL="2286000" marR="0" lvl="4"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5pPr>
            <a:lvl6pPr marL="2743200" marR="0" lvl="5"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6pPr>
            <a:lvl7pPr marL="3200400" marR="0" lvl="6"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7pPr>
            <a:lvl8pPr marL="3657600" marR="0" lvl="7"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8pPr>
            <a:lvl9pPr marL="4114800" marR="0" lvl="8" indent="-317500" algn="l" rtl="0">
              <a:lnSpc>
                <a:spcPct val="115000"/>
              </a:lnSpc>
              <a:spcBef>
                <a:spcPts val="1600"/>
              </a:spcBef>
              <a:spcAft>
                <a:spcPts val="160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9pPr>
          </a:lstStyle>
          <a:p>
            <a:pPr marL="0" indent="0">
              <a:lnSpc>
                <a:spcPct val="100000"/>
              </a:lnSpc>
              <a:spcAft>
                <a:spcPts val="1600"/>
              </a:spcAft>
              <a:buFont typeface="Maven Pro"/>
              <a:buNone/>
            </a:pPr>
            <a:r>
              <a:rPr lang="en-US" sz="1200" dirty="0"/>
              <a:t>It is defined by the initial positions of all the vehicles on the board.</a:t>
            </a:r>
          </a:p>
          <a:p>
            <a:pPr marL="0" indent="0">
              <a:lnSpc>
                <a:spcPct val="100000"/>
              </a:lnSpc>
              <a:spcAft>
                <a:spcPts val="1600"/>
              </a:spcAft>
              <a:buFont typeface="Maven Pro"/>
              <a:buNone/>
            </a:pPr>
            <a:endParaRPr lang="en-US" sz="1200" dirty="0"/>
          </a:p>
        </p:txBody>
      </p:sp>
      <p:sp>
        <p:nvSpPr>
          <p:cNvPr id="25" name="Google Shape;1109;p38">
            <a:extLst>
              <a:ext uri="{FF2B5EF4-FFF2-40B4-BE49-F238E27FC236}">
                <a16:creationId xmlns:a16="http://schemas.microsoft.com/office/drawing/2014/main" id="{FD53A226-911B-2710-F3D6-7BB11349ED56}"/>
              </a:ext>
            </a:extLst>
          </p:cNvPr>
          <p:cNvSpPr txBox="1">
            <a:spLocks/>
          </p:cNvSpPr>
          <p:nvPr/>
        </p:nvSpPr>
        <p:spPr>
          <a:xfrm>
            <a:off x="711205" y="3744933"/>
            <a:ext cx="3224684" cy="58711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1"/>
              </a:buClr>
              <a:buSzPts val="1800"/>
              <a:buFont typeface="Maven Pro"/>
              <a:buChar char="●"/>
              <a:defRPr sz="1800" b="0" i="0" u="none" strike="noStrike" cap="none">
                <a:solidFill>
                  <a:schemeClr val="lt1"/>
                </a:solidFill>
                <a:latin typeface="Maven Pro"/>
                <a:ea typeface="Maven Pro"/>
                <a:cs typeface="Maven Pro"/>
                <a:sym typeface="Maven Pro"/>
              </a:defRPr>
            </a:lvl1pPr>
            <a:lvl2pPr marL="914400" marR="0" lvl="1"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2pPr>
            <a:lvl3pPr marL="1371600" marR="0" lvl="2"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3pPr>
            <a:lvl4pPr marL="1828800" marR="0" lvl="3"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4pPr>
            <a:lvl5pPr marL="2286000" marR="0" lvl="4"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5pPr>
            <a:lvl6pPr marL="2743200" marR="0" lvl="5"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6pPr>
            <a:lvl7pPr marL="3200400" marR="0" lvl="6"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7pPr>
            <a:lvl8pPr marL="3657600" marR="0" lvl="7"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8pPr>
            <a:lvl9pPr marL="4114800" marR="0" lvl="8" indent="-317500" algn="l" rtl="0">
              <a:lnSpc>
                <a:spcPct val="115000"/>
              </a:lnSpc>
              <a:spcBef>
                <a:spcPts val="1600"/>
              </a:spcBef>
              <a:spcAft>
                <a:spcPts val="160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9pPr>
          </a:lstStyle>
          <a:p>
            <a:pPr marL="0" indent="0">
              <a:lnSpc>
                <a:spcPct val="100000"/>
              </a:lnSpc>
              <a:spcAft>
                <a:spcPts val="1600"/>
              </a:spcAft>
              <a:buFont typeface="Maven Pro"/>
              <a:buNone/>
            </a:pPr>
            <a:r>
              <a:rPr lang="en-US" sz="1200" dirty="0"/>
              <a:t>Is to move the red car to the exit position; Checks if the red car is there.</a:t>
            </a:r>
          </a:p>
        </p:txBody>
      </p:sp>
      <p:sp>
        <p:nvSpPr>
          <p:cNvPr id="15" name="CaixaDeTexto 14">
            <a:extLst>
              <a:ext uri="{FF2B5EF4-FFF2-40B4-BE49-F238E27FC236}">
                <a16:creationId xmlns:a16="http://schemas.microsoft.com/office/drawing/2014/main" id="{B477BF1A-D73E-AD3A-79CF-292537FF0579}"/>
              </a:ext>
            </a:extLst>
          </p:cNvPr>
          <p:cNvSpPr txBox="1"/>
          <p:nvPr/>
        </p:nvSpPr>
        <p:spPr>
          <a:xfrm>
            <a:off x="4922489" y="1282264"/>
            <a:ext cx="2963882" cy="769441"/>
          </a:xfrm>
          <a:prstGeom prst="rect">
            <a:avLst/>
          </a:prstGeom>
          <a:noFill/>
        </p:spPr>
        <p:txBody>
          <a:bodyPr wrap="square">
            <a:spAutoFit/>
          </a:bodyPr>
          <a:lstStyle/>
          <a:p>
            <a:pPr marL="0" indent="0" algn="r">
              <a:lnSpc>
                <a:spcPct val="100000"/>
              </a:lnSpc>
              <a:spcAft>
                <a:spcPts val="1600"/>
              </a:spcAft>
              <a:buFont typeface="Maven Pro"/>
              <a:buNone/>
            </a:pPr>
            <a:r>
              <a:rPr lang="en-US" sz="1100" dirty="0">
                <a:solidFill>
                  <a:schemeClr val="lt1"/>
                </a:solidFill>
                <a:latin typeface="Maven Pro"/>
                <a:sym typeface="Maven Pro"/>
              </a:rPr>
              <a:t>Consist</a:t>
            </a:r>
            <a:r>
              <a:rPr lang="en-US" sz="1100" dirty="0">
                <a:solidFill>
                  <a:schemeClr val="lt1"/>
                </a:solidFill>
                <a:latin typeface="Maven Pro"/>
              </a:rPr>
              <a:t> on moving the blocks in any of the four cardinal directions (up, down, left or right), provided there is no obstacle in the way, each valid move has a cost of 1.</a:t>
            </a:r>
          </a:p>
        </p:txBody>
      </p:sp>
    </p:spTree>
    <p:extLst>
      <p:ext uri="{BB962C8B-B14F-4D97-AF65-F5344CB8AC3E}">
        <p14:creationId xmlns:p14="http://schemas.microsoft.com/office/powerpoint/2010/main" val="1689722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AFB283-7DE0-10FB-C23C-120399A132D5}"/>
              </a:ext>
            </a:extLst>
          </p:cNvPr>
          <p:cNvSpPr>
            <a:spLocks noGrp="1"/>
          </p:cNvSpPr>
          <p:nvPr>
            <p:ph type="ctrTitle"/>
          </p:nvPr>
        </p:nvSpPr>
        <p:spPr>
          <a:xfrm>
            <a:off x="729548" y="614652"/>
            <a:ext cx="3816830" cy="1112401"/>
          </a:xfrm>
        </p:spPr>
        <p:txBody>
          <a:bodyPr/>
          <a:lstStyle/>
          <a:p>
            <a:r>
              <a:rPr lang="pt-PT" dirty="0" err="1"/>
              <a:t>Heuristic</a:t>
            </a:r>
            <a:r>
              <a:rPr lang="pt-PT" dirty="0"/>
              <a:t>/</a:t>
            </a:r>
            <a:r>
              <a:rPr lang="pt-PT" dirty="0" err="1"/>
              <a:t>evaluation</a:t>
            </a:r>
            <a:r>
              <a:rPr lang="pt-PT" dirty="0"/>
              <a:t> </a:t>
            </a:r>
            <a:r>
              <a:rPr lang="pt-PT" dirty="0" err="1"/>
              <a:t>functions</a:t>
            </a:r>
            <a:r>
              <a:rPr lang="pt-PT" dirty="0"/>
              <a:t> </a:t>
            </a:r>
            <a:br>
              <a:rPr lang="pt-PT" dirty="0"/>
            </a:br>
            <a:endParaRPr lang="pt-PT" dirty="0"/>
          </a:p>
        </p:txBody>
      </p:sp>
      <p:sp>
        <p:nvSpPr>
          <p:cNvPr id="6" name="Título 5">
            <a:extLst>
              <a:ext uri="{FF2B5EF4-FFF2-40B4-BE49-F238E27FC236}">
                <a16:creationId xmlns:a16="http://schemas.microsoft.com/office/drawing/2014/main" id="{6D6C1B04-08D2-81F0-24F6-7FE8325AF528}"/>
              </a:ext>
            </a:extLst>
          </p:cNvPr>
          <p:cNvSpPr>
            <a:spLocks noGrp="1"/>
          </p:cNvSpPr>
          <p:nvPr>
            <p:ph type="ctrTitle" idx="4"/>
          </p:nvPr>
        </p:nvSpPr>
        <p:spPr>
          <a:xfrm>
            <a:off x="729548" y="461909"/>
            <a:ext cx="7676907" cy="577800"/>
          </a:xfrm>
        </p:spPr>
        <p:txBody>
          <a:bodyPr/>
          <a:lstStyle/>
          <a:p>
            <a:r>
              <a:rPr lang="pt-PT" dirty="0" err="1"/>
              <a:t>Formulation</a:t>
            </a:r>
            <a:r>
              <a:rPr lang="pt-PT" dirty="0"/>
              <a:t> </a:t>
            </a:r>
            <a:r>
              <a:rPr lang="pt-PT" dirty="0" err="1"/>
              <a:t>of</a:t>
            </a:r>
            <a:r>
              <a:rPr lang="pt-PT" dirty="0"/>
              <a:t> </a:t>
            </a:r>
            <a:r>
              <a:rPr lang="pt-PT" dirty="0" err="1"/>
              <a:t>the</a:t>
            </a:r>
            <a:r>
              <a:rPr lang="pt-PT" dirty="0"/>
              <a:t> </a:t>
            </a:r>
            <a:r>
              <a:rPr lang="pt-PT" dirty="0" err="1"/>
              <a:t>problem</a:t>
            </a:r>
            <a:r>
              <a:rPr lang="pt-PT" dirty="0"/>
              <a:t> as a </a:t>
            </a:r>
            <a:r>
              <a:rPr lang="pt-PT" dirty="0" err="1"/>
              <a:t>search</a:t>
            </a:r>
            <a:r>
              <a:rPr lang="pt-PT" dirty="0"/>
              <a:t> </a:t>
            </a:r>
            <a:r>
              <a:rPr lang="pt-PT" dirty="0" err="1"/>
              <a:t>problem</a:t>
            </a:r>
            <a:endParaRPr lang="pt-PT" dirty="0"/>
          </a:p>
        </p:txBody>
      </p:sp>
      <p:sp>
        <p:nvSpPr>
          <p:cNvPr id="11" name="CaixaDeTexto 10">
            <a:extLst>
              <a:ext uri="{FF2B5EF4-FFF2-40B4-BE49-F238E27FC236}">
                <a16:creationId xmlns:a16="http://schemas.microsoft.com/office/drawing/2014/main" id="{35BE1E94-DD14-085E-E03F-09EE7039297B}"/>
              </a:ext>
            </a:extLst>
          </p:cNvPr>
          <p:cNvSpPr txBox="1"/>
          <p:nvPr/>
        </p:nvSpPr>
        <p:spPr>
          <a:xfrm>
            <a:off x="729548" y="1206062"/>
            <a:ext cx="2167581" cy="400110"/>
          </a:xfrm>
          <a:prstGeom prst="rect">
            <a:avLst/>
          </a:prstGeom>
          <a:noFill/>
        </p:spPr>
        <p:txBody>
          <a:bodyPr wrap="none" rtlCol="0">
            <a:spAutoFit/>
          </a:bodyPr>
          <a:lstStyle/>
          <a:p>
            <a:r>
              <a:rPr lang="pt-PT" sz="2000" dirty="0">
                <a:solidFill>
                  <a:schemeClr val="lt1"/>
                </a:solidFill>
                <a:latin typeface="Share Tech"/>
                <a:sym typeface="Share Tech"/>
              </a:rPr>
              <a:t>Manhattan</a:t>
            </a:r>
            <a:r>
              <a:rPr lang="pt-PT" sz="2000" dirty="0"/>
              <a:t> </a:t>
            </a:r>
            <a:r>
              <a:rPr lang="pt-PT" sz="2000" dirty="0" err="1">
                <a:solidFill>
                  <a:schemeClr val="lt1"/>
                </a:solidFill>
                <a:latin typeface="Share Tech"/>
              </a:rPr>
              <a:t>distance</a:t>
            </a:r>
            <a:endParaRPr lang="pt-PT" sz="2000" dirty="0">
              <a:solidFill>
                <a:schemeClr val="lt1"/>
              </a:solidFill>
              <a:latin typeface="Share Tech"/>
            </a:endParaRPr>
          </a:p>
        </p:txBody>
      </p:sp>
      <p:sp>
        <p:nvSpPr>
          <p:cNvPr id="16" name="CaixaDeTexto 15">
            <a:extLst>
              <a:ext uri="{FF2B5EF4-FFF2-40B4-BE49-F238E27FC236}">
                <a16:creationId xmlns:a16="http://schemas.microsoft.com/office/drawing/2014/main" id="{6C74B67C-4D02-8B61-00A6-86230FAEA22A}"/>
              </a:ext>
            </a:extLst>
          </p:cNvPr>
          <p:cNvSpPr txBox="1"/>
          <p:nvPr/>
        </p:nvSpPr>
        <p:spPr>
          <a:xfrm>
            <a:off x="766054" y="1727053"/>
            <a:ext cx="7603894" cy="2677656"/>
          </a:xfrm>
          <a:prstGeom prst="rect">
            <a:avLst/>
          </a:prstGeom>
          <a:noFill/>
        </p:spPr>
        <p:txBody>
          <a:bodyPr wrap="square" rtlCol="0">
            <a:spAutoFit/>
          </a:bodyPr>
          <a:lstStyle/>
          <a:p>
            <a:pPr algn="just"/>
            <a:r>
              <a:rPr lang="pt-PT" dirty="0" err="1">
                <a:solidFill>
                  <a:schemeClr val="bg1"/>
                </a:solidFill>
                <a:latin typeface="Maven Pro" panose="020B0604020202020204" charset="0"/>
              </a:rPr>
              <a:t>The</a:t>
            </a:r>
            <a:r>
              <a:rPr lang="pt-PT" dirty="0">
                <a:solidFill>
                  <a:schemeClr val="bg1"/>
                </a:solidFill>
                <a:latin typeface="Maven Pro" panose="020B0604020202020204" charset="0"/>
              </a:rPr>
              <a:t> Manhattan </a:t>
            </a:r>
            <a:r>
              <a:rPr lang="pt-PT" dirty="0" err="1">
                <a:solidFill>
                  <a:schemeClr val="bg1"/>
                </a:solidFill>
                <a:latin typeface="Maven Pro" panose="020B0604020202020204" charset="0"/>
              </a:rPr>
              <a:t>distance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heuristic</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estimates</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the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shortest</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distance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between</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the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red</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car</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and</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the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possible</a:t>
            </a:r>
            <a:r>
              <a:rPr lang="pt-PT" dirty="0">
                <a:solidFill>
                  <a:schemeClr val="bg1"/>
                </a:solidFill>
                <a:latin typeface="Maven Pro" panose="020B0604020202020204" charset="0"/>
              </a:rPr>
              <a:t> exit </a:t>
            </a:r>
            <a:r>
              <a:rPr lang="pt-PT" dirty="0" err="1">
                <a:solidFill>
                  <a:schemeClr val="bg1"/>
                </a:solidFill>
                <a:latin typeface="Maven Pro" panose="020B0604020202020204" charset="0"/>
              </a:rPr>
              <a:t>leading</a:t>
            </a:r>
            <a:r>
              <a:rPr lang="pt-PT" dirty="0">
                <a:solidFill>
                  <a:schemeClr val="bg1"/>
                </a:solidFill>
                <a:latin typeface="Maven Pro" panose="020B0604020202020204" charset="0"/>
              </a:rPr>
              <a:t> to a </a:t>
            </a:r>
            <a:r>
              <a:rPr lang="pt-PT" dirty="0" err="1">
                <a:solidFill>
                  <a:schemeClr val="bg1"/>
                </a:solidFill>
                <a:latin typeface="Maven Pro" panose="020B0604020202020204" charset="0"/>
              </a:rPr>
              <a:t>solution</a:t>
            </a:r>
            <a:r>
              <a:rPr lang="pt-PT" dirty="0">
                <a:solidFill>
                  <a:schemeClr val="bg1"/>
                </a:solidFill>
                <a:latin typeface="Maven Pro" panose="020B0604020202020204" charset="0"/>
              </a:rPr>
              <a:t> more </a:t>
            </a:r>
            <a:r>
              <a:rPr lang="pt-PT" dirty="0" err="1">
                <a:solidFill>
                  <a:schemeClr val="bg1"/>
                </a:solidFill>
                <a:latin typeface="Maven Pro" panose="020B0604020202020204" charset="0"/>
              </a:rPr>
              <a:t>quickly</a:t>
            </a:r>
            <a:r>
              <a:rPr lang="pt-PT" dirty="0">
                <a:solidFill>
                  <a:schemeClr val="bg1"/>
                </a:solidFill>
                <a:latin typeface="Maven Pro" panose="020B0604020202020204" charset="0"/>
              </a:rPr>
              <a:t>. For </a:t>
            </a:r>
            <a:r>
              <a:rPr lang="pt-PT" dirty="0" err="1">
                <a:solidFill>
                  <a:schemeClr val="bg1"/>
                </a:solidFill>
                <a:latin typeface="Maven Pro" panose="020B0604020202020204" charset="0"/>
              </a:rPr>
              <a:t>the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Rush</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Hour</a:t>
            </a:r>
            <a:r>
              <a:rPr lang="pt-PT" dirty="0">
                <a:solidFill>
                  <a:schemeClr val="bg1"/>
                </a:solidFill>
                <a:latin typeface="Maven Pro" panose="020B0604020202020204" charset="0"/>
              </a:rPr>
              <a:t> game </a:t>
            </a:r>
            <a:r>
              <a:rPr lang="pt-PT" dirty="0" err="1">
                <a:solidFill>
                  <a:schemeClr val="bg1"/>
                </a:solidFill>
                <a:latin typeface="Maven Pro" panose="020B0604020202020204" charset="0"/>
              </a:rPr>
              <a:t>it</a:t>
            </a:r>
            <a:r>
              <a:rPr lang="pt-PT" dirty="0">
                <a:solidFill>
                  <a:schemeClr val="bg1"/>
                </a:solidFill>
                <a:latin typeface="Maven Pro" panose="020B0604020202020204" charset="0"/>
              </a:rPr>
              <a:t> can </a:t>
            </a:r>
            <a:r>
              <a:rPr lang="pt-PT" dirty="0" err="1">
                <a:solidFill>
                  <a:schemeClr val="bg1"/>
                </a:solidFill>
                <a:latin typeface="Maven Pro" panose="020B0604020202020204" charset="0"/>
              </a:rPr>
              <a:t>be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defined</a:t>
            </a:r>
            <a:r>
              <a:rPr lang="pt-PT" dirty="0">
                <a:solidFill>
                  <a:schemeClr val="bg1"/>
                </a:solidFill>
                <a:latin typeface="Maven Pro" panose="020B0604020202020204" charset="0"/>
              </a:rPr>
              <a:t> as </a:t>
            </a:r>
            <a:r>
              <a:rPr lang="pt-PT" dirty="0" err="1">
                <a:solidFill>
                  <a:schemeClr val="bg1"/>
                </a:solidFill>
                <a:latin typeface="Maven Pro" panose="020B0604020202020204" charset="0"/>
              </a:rPr>
              <a:t>follows</a:t>
            </a:r>
            <a:r>
              <a:rPr lang="pt-PT" dirty="0">
                <a:solidFill>
                  <a:schemeClr val="bg1"/>
                </a:solidFill>
                <a:latin typeface="Maven Pro" panose="020B0604020202020204" charset="0"/>
              </a:rPr>
              <a:t>:</a:t>
            </a:r>
          </a:p>
          <a:p>
            <a:pPr marL="171450" indent="-171450" algn="just">
              <a:buClr>
                <a:schemeClr val="bg1"/>
              </a:buClr>
              <a:buFont typeface="Arial" panose="020B0604020202020204" pitchFamily="34" charset="0"/>
              <a:buChar char="•"/>
            </a:pPr>
            <a:r>
              <a:rPr lang="pt-PT" dirty="0" err="1">
                <a:solidFill>
                  <a:schemeClr val="bg1"/>
                </a:solidFill>
                <a:latin typeface="Maven Pro" panose="020B0604020202020204" charset="0"/>
              </a:rPr>
              <a:t>Recognize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the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red</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car</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on</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the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board</a:t>
            </a:r>
            <a:r>
              <a:rPr lang="pt-PT" dirty="0">
                <a:solidFill>
                  <a:schemeClr val="bg1"/>
                </a:solidFill>
                <a:latin typeface="Maven Pro" panose="020B0604020202020204" charset="0"/>
              </a:rPr>
              <a:t> as </a:t>
            </a:r>
            <a:r>
              <a:rPr lang="pt-PT" dirty="0" err="1">
                <a:solidFill>
                  <a:schemeClr val="bg1"/>
                </a:solidFill>
                <a:latin typeface="Maven Pro" panose="020B0604020202020204" charset="0"/>
              </a:rPr>
              <a:t>the</a:t>
            </a:r>
            <a:r>
              <a:rPr lang="pt-PT" dirty="0">
                <a:solidFill>
                  <a:schemeClr val="bg1"/>
                </a:solidFill>
                <a:latin typeface="Maven Pro" panose="020B0604020202020204" charset="0"/>
              </a:rPr>
              <a:t> focal </a:t>
            </a:r>
            <a:r>
              <a:rPr lang="pt-PT" dirty="0" err="1">
                <a:solidFill>
                  <a:schemeClr val="bg1"/>
                </a:solidFill>
                <a:latin typeface="Maven Pro" panose="020B0604020202020204" charset="0"/>
              </a:rPr>
              <a:t>point</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of</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the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heuristic</a:t>
            </a:r>
            <a:r>
              <a:rPr lang="pt-PT" dirty="0">
                <a:solidFill>
                  <a:schemeClr val="bg1"/>
                </a:solidFill>
                <a:latin typeface="Maven Pro" panose="020B0604020202020204" charset="0"/>
              </a:rPr>
              <a:t>;</a:t>
            </a:r>
          </a:p>
          <a:p>
            <a:pPr marL="171450" indent="-171450" algn="just">
              <a:buClr>
                <a:schemeClr val="bg1"/>
              </a:buClr>
              <a:buFont typeface="Arial" panose="020B0604020202020204" pitchFamily="34" charset="0"/>
              <a:buChar char="•"/>
            </a:pPr>
            <a:r>
              <a:rPr lang="pt-PT" dirty="0">
                <a:solidFill>
                  <a:schemeClr val="bg1"/>
                </a:solidFill>
                <a:latin typeface="Maven Pro" panose="020B0604020202020204" charset="0"/>
              </a:rPr>
              <a:t>For </a:t>
            </a:r>
            <a:r>
              <a:rPr lang="pt-PT" dirty="0" err="1">
                <a:solidFill>
                  <a:schemeClr val="bg1"/>
                </a:solidFill>
                <a:latin typeface="Maven Pro" panose="020B0604020202020204" charset="0"/>
              </a:rPr>
              <a:t>each</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coordinate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occupied</a:t>
            </a:r>
            <a:r>
              <a:rPr lang="pt-PT" dirty="0">
                <a:solidFill>
                  <a:schemeClr val="bg1"/>
                </a:solidFill>
                <a:latin typeface="Maven Pro" panose="020B0604020202020204" charset="0"/>
              </a:rPr>
              <a:t> by </a:t>
            </a:r>
            <a:r>
              <a:rPr lang="pt-PT" dirty="0" err="1">
                <a:solidFill>
                  <a:schemeClr val="bg1"/>
                </a:solidFill>
                <a:latin typeface="Maven Pro" panose="020B0604020202020204" charset="0"/>
              </a:rPr>
              <a:t>the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red</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car</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it</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calculates</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the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distance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from</a:t>
            </a:r>
            <a:r>
              <a:rPr lang="pt-PT" dirty="0">
                <a:solidFill>
                  <a:schemeClr val="bg1"/>
                </a:solidFill>
                <a:latin typeface="Maven Pro" panose="020B0604020202020204" charset="0"/>
              </a:rPr>
              <a:t> Manhattan to </a:t>
            </a:r>
            <a:r>
              <a:rPr lang="pt-PT" dirty="0" err="1">
                <a:solidFill>
                  <a:schemeClr val="bg1"/>
                </a:solidFill>
                <a:latin typeface="Maven Pro" panose="020B0604020202020204" charset="0"/>
              </a:rPr>
              <a:t>the</a:t>
            </a:r>
            <a:r>
              <a:rPr lang="pt-PT" dirty="0">
                <a:solidFill>
                  <a:schemeClr val="bg1"/>
                </a:solidFill>
                <a:latin typeface="Maven Pro" panose="020B0604020202020204" charset="0"/>
              </a:rPr>
              <a:t> exit </a:t>
            </a:r>
            <a:r>
              <a:rPr lang="pt-PT" dirty="0" err="1">
                <a:solidFill>
                  <a:schemeClr val="bg1"/>
                </a:solidFill>
                <a:latin typeface="Maven Pro" panose="020B0604020202020204" charset="0"/>
              </a:rPr>
              <a:t>position</a:t>
            </a:r>
            <a:r>
              <a:rPr lang="pt-PT" dirty="0">
                <a:solidFill>
                  <a:schemeClr val="bg1"/>
                </a:solidFill>
                <a:latin typeface="Maven Pro" panose="020B0604020202020204" charset="0"/>
              </a:rPr>
              <a:t>, a </a:t>
            </a:r>
            <a:r>
              <a:rPr lang="pt-PT" dirty="0" err="1">
                <a:solidFill>
                  <a:schemeClr val="bg1"/>
                </a:solidFill>
                <a:latin typeface="Maven Pro" panose="020B0604020202020204" charset="0"/>
              </a:rPr>
              <a:t>distance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that</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represents</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the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minimum</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number</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of</a:t>
            </a:r>
            <a:r>
              <a:rPr lang="pt-PT" dirty="0">
                <a:solidFill>
                  <a:schemeClr val="bg1"/>
                </a:solidFill>
                <a:latin typeface="Maven Pro" panose="020B0604020202020204" charset="0"/>
              </a:rPr>
              <a:t> moves </a:t>
            </a:r>
            <a:r>
              <a:rPr lang="pt-PT" dirty="0" err="1">
                <a:solidFill>
                  <a:schemeClr val="bg1"/>
                </a:solidFill>
                <a:latin typeface="Maven Pro" panose="020B0604020202020204" charset="0"/>
              </a:rPr>
              <a:t>necessary</a:t>
            </a:r>
            <a:r>
              <a:rPr lang="pt-PT" dirty="0">
                <a:solidFill>
                  <a:schemeClr val="bg1"/>
                </a:solidFill>
                <a:latin typeface="Maven Pro" panose="020B0604020202020204" charset="0"/>
              </a:rPr>
              <a:t> to </a:t>
            </a:r>
            <a:r>
              <a:rPr lang="pt-PT" dirty="0" err="1">
                <a:solidFill>
                  <a:schemeClr val="bg1"/>
                </a:solidFill>
                <a:latin typeface="Maven Pro" panose="020B0604020202020204" charset="0"/>
              </a:rPr>
              <a:t>reach</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the</a:t>
            </a:r>
            <a:r>
              <a:rPr lang="pt-PT" dirty="0">
                <a:solidFill>
                  <a:schemeClr val="bg1"/>
                </a:solidFill>
                <a:latin typeface="Maven Pro" panose="020B0604020202020204" charset="0"/>
              </a:rPr>
              <a:t> exit, </a:t>
            </a:r>
            <a:r>
              <a:rPr lang="pt-PT" dirty="0" err="1">
                <a:solidFill>
                  <a:schemeClr val="bg1"/>
                </a:solidFill>
                <a:latin typeface="Maven Pro" panose="020B0604020202020204" charset="0"/>
              </a:rPr>
              <a:t>assuming</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that</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the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board</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is</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empty</a:t>
            </a:r>
            <a:r>
              <a:rPr lang="pt-PT" dirty="0">
                <a:solidFill>
                  <a:schemeClr val="bg1"/>
                </a:solidFill>
                <a:latin typeface="Maven Pro" panose="020B0604020202020204" charset="0"/>
              </a:rPr>
              <a:t>;</a:t>
            </a:r>
          </a:p>
          <a:p>
            <a:pPr marL="171450" indent="-171450" algn="just">
              <a:buClr>
                <a:schemeClr val="bg1"/>
              </a:buClr>
              <a:buFont typeface="Arial" panose="020B0604020202020204" pitchFamily="34" charset="0"/>
              <a:buChar char="•"/>
            </a:pPr>
            <a:r>
              <a:rPr lang="pt-PT" dirty="0" err="1">
                <a:solidFill>
                  <a:schemeClr val="bg1"/>
                </a:solidFill>
                <a:latin typeface="Maven Pro" panose="020B0604020202020204" charset="0"/>
              </a:rPr>
              <a:t>After</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obtaining</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the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distances</a:t>
            </a:r>
            <a:r>
              <a:rPr lang="pt-PT" dirty="0">
                <a:solidFill>
                  <a:schemeClr val="bg1"/>
                </a:solidFill>
                <a:latin typeface="Maven Pro" panose="020B0604020202020204" charset="0"/>
              </a:rPr>
              <a:t> for all </a:t>
            </a:r>
            <a:r>
              <a:rPr lang="pt-PT" dirty="0" err="1">
                <a:solidFill>
                  <a:schemeClr val="bg1"/>
                </a:solidFill>
                <a:latin typeface="Maven Pro" panose="020B0604020202020204" charset="0"/>
              </a:rPr>
              <a:t>the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coordinates</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occupied</a:t>
            </a:r>
            <a:r>
              <a:rPr lang="pt-PT" dirty="0">
                <a:solidFill>
                  <a:schemeClr val="bg1"/>
                </a:solidFill>
                <a:latin typeface="Maven Pro" panose="020B0604020202020204" charset="0"/>
              </a:rPr>
              <a:t> by </a:t>
            </a:r>
            <a:r>
              <a:rPr lang="pt-PT" dirty="0" err="1">
                <a:solidFill>
                  <a:schemeClr val="bg1"/>
                </a:solidFill>
                <a:latin typeface="Maven Pro" panose="020B0604020202020204" charset="0"/>
              </a:rPr>
              <a:t>the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red</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car</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choose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the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maximum</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distance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because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choosing</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the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furthest</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coordinate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allows</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us</a:t>
            </a:r>
            <a:r>
              <a:rPr lang="pt-PT" dirty="0">
                <a:solidFill>
                  <a:schemeClr val="bg1"/>
                </a:solidFill>
                <a:latin typeface="Maven Pro" panose="020B0604020202020204" charset="0"/>
              </a:rPr>
              <a:t> to </a:t>
            </a:r>
            <a:r>
              <a:rPr lang="pt-PT" dirty="0" err="1">
                <a:solidFill>
                  <a:schemeClr val="bg1"/>
                </a:solidFill>
                <a:latin typeface="Maven Pro" panose="020B0604020202020204" charset="0"/>
              </a:rPr>
              <a:t>know</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that</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we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need</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at</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most</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that</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number</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of</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movements</a:t>
            </a:r>
            <a:r>
              <a:rPr lang="pt-PT" dirty="0">
                <a:solidFill>
                  <a:schemeClr val="bg1"/>
                </a:solidFill>
                <a:latin typeface="Maven Pro" panose="020B0604020202020204" charset="0"/>
              </a:rPr>
              <a:t> to </a:t>
            </a:r>
            <a:r>
              <a:rPr lang="pt-PT" dirty="0" err="1">
                <a:solidFill>
                  <a:schemeClr val="bg1"/>
                </a:solidFill>
                <a:latin typeface="Maven Pro" panose="020B0604020202020204" charset="0"/>
              </a:rPr>
              <a:t>reach</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the</a:t>
            </a:r>
            <a:r>
              <a:rPr lang="pt-PT" dirty="0">
                <a:solidFill>
                  <a:schemeClr val="bg1"/>
                </a:solidFill>
                <a:latin typeface="Maven Pro" panose="020B0604020202020204" charset="0"/>
              </a:rPr>
              <a:t> exit </a:t>
            </a:r>
            <a:r>
              <a:rPr lang="pt-PT" dirty="0" err="1">
                <a:solidFill>
                  <a:schemeClr val="bg1"/>
                </a:solidFill>
                <a:latin typeface="Maven Pro" panose="020B0604020202020204" charset="0"/>
              </a:rPr>
              <a:t>position</a:t>
            </a:r>
            <a:r>
              <a:rPr lang="pt-PT" dirty="0">
                <a:solidFill>
                  <a:schemeClr val="bg1"/>
                </a:solidFill>
                <a:latin typeface="Maven Pro" panose="020B0604020202020204" charset="0"/>
              </a:rPr>
              <a:t>;</a:t>
            </a:r>
          </a:p>
          <a:p>
            <a:pPr marL="171450" indent="-171450" algn="just">
              <a:buClr>
                <a:schemeClr val="bg1"/>
              </a:buClr>
              <a:buFont typeface="Arial" panose="020B0604020202020204" pitchFamily="34" charset="0"/>
              <a:buChar char="•"/>
            </a:pPr>
            <a:r>
              <a:rPr lang="pt-PT" dirty="0" err="1">
                <a:solidFill>
                  <a:schemeClr val="bg1"/>
                </a:solidFill>
                <a:latin typeface="Maven Pro" panose="020B0604020202020204" charset="0"/>
              </a:rPr>
              <a:t>The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heuristic</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value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is</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used</a:t>
            </a:r>
            <a:r>
              <a:rPr lang="pt-PT" dirty="0">
                <a:solidFill>
                  <a:schemeClr val="bg1"/>
                </a:solidFill>
                <a:latin typeface="Maven Pro" panose="020B0604020202020204" charset="0"/>
              </a:rPr>
              <a:t> as a </a:t>
            </a:r>
            <a:r>
              <a:rPr lang="pt-PT" dirty="0" err="1">
                <a:solidFill>
                  <a:schemeClr val="bg1"/>
                </a:solidFill>
                <a:latin typeface="Maven Pro" panose="020B0604020202020204" charset="0"/>
              </a:rPr>
              <a:t>guide</a:t>
            </a:r>
            <a:r>
              <a:rPr lang="pt-PT" dirty="0">
                <a:solidFill>
                  <a:schemeClr val="bg1"/>
                </a:solidFill>
                <a:latin typeface="Maven Pro" panose="020B0604020202020204" charset="0"/>
              </a:rPr>
              <a:t> for </a:t>
            </a:r>
            <a:r>
              <a:rPr lang="pt-PT" dirty="0" err="1">
                <a:solidFill>
                  <a:schemeClr val="bg1"/>
                </a:solidFill>
                <a:latin typeface="Maven Pro" panose="020B0604020202020204" charset="0"/>
              </a:rPr>
              <a:t>the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search</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algorithm</a:t>
            </a:r>
            <a:r>
              <a:rPr lang="pt-PT" dirty="0">
                <a:solidFill>
                  <a:schemeClr val="bg1"/>
                </a:solidFill>
                <a:latin typeface="Maven Pro" panose="020B0604020202020204" charset="0"/>
              </a:rPr>
              <a:t> to explore </a:t>
            </a:r>
            <a:r>
              <a:rPr lang="pt-PT" dirty="0" err="1">
                <a:solidFill>
                  <a:schemeClr val="bg1"/>
                </a:solidFill>
                <a:latin typeface="Maven Pro" panose="020B0604020202020204" charset="0"/>
              </a:rPr>
              <a:t>the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state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space</a:t>
            </a:r>
            <a:r>
              <a:rPr lang="pt-PT" dirty="0">
                <a:solidFill>
                  <a:schemeClr val="bg1"/>
                </a:solidFill>
                <a:latin typeface="Maven Pro" panose="020B0604020202020204" charset="0"/>
              </a:rPr>
              <a:t> more </a:t>
            </a:r>
            <a:r>
              <a:rPr lang="pt-PT" dirty="0" err="1">
                <a:solidFill>
                  <a:schemeClr val="bg1"/>
                </a:solidFill>
                <a:latin typeface="Maven Pro" panose="020B0604020202020204" charset="0"/>
              </a:rPr>
              <a:t>effectively</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prioritizing</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the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states</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where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the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red</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car</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is</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closest</a:t>
            </a:r>
            <a:r>
              <a:rPr lang="pt-PT" dirty="0">
                <a:solidFill>
                  <a:schemeClr val="bg1"/>
                </a:solidFill>
                <a:latin typeface="Maven Pro" panose="020B0604020202020204" charset="0"/>
              </a:rPr>
              <a:t> to </a:t>
            </a:r>
            <a:r>
              <a:rPr lang="pt-PT" dirty="0" err="1">
                <a:solidFill>
                  <a:schemeClr val="bg1"/>
                </a:solidFill>
                <a:latin typeface="Maven Pro" panose="020B0604020202020204" charset="0"/>
              </a:rPr>
              <a:t>the</a:t>
            </a:r>
            <a:r>
              <a:rPr lang="pt-PT" dirty="0">
                <a:solidFill>
                  <a:schemeClr val="bg1"/>
                </a:solidFill>
                <a:latin typeface="Maven Pro" panose="020B0604020202020204" charset="0"/>
              </a:rPr>
              <a:t> exit </a:t>
            </a:r>
            <a:r>
              <a:rPr lang="pt-PT" dirty="0" err="1">
                <a:solidFill>
                  <a:schemeClr val="bg1"/>
                </a:solidFill>
                <a:latin typeface="Maven Pro" panose="020B0604020202020204" charset="0"/>
              </a:rPr>
              <a:t>position</a:t>
            </a:r>
            <a:r>
              <a:rPr lang="pt-PT" dirty="0">
                <a:solidFill>
                  <a:schemeClr val="bg1"/>
                </a:solidFill>
                <a:latin typeface="Maven Pro" panose="020B0604020202020204" charset="0"/>
              </a:rPr>
              <a:t>.</a:t>
            </a:r>
          </a:p>
        </p:txBody>
      </p:sp>
    </p:spTree>
    <p:extLst>
      <p:ext uri="{BB962C8B-B14F-4D97-AF65-F5344CB8AC3E}">
        <p14:creationId xmlns:p14="http://schemas.microsoft.com/office/powerpoint/2010/main" val="15348479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4E8496-09B0-82D0-E070-2079E7E28FF3}"/>
              </a:ext>
            </a:extLst>
          </p:cNvPr>
          <p:cNvSpPr>
            <a:spLocks noGrp="1"/>
          </p:cNvSpPr>
          <p:nvPr>
            <p:ph type="ctrTitle"/>
          </p:nvPr>
        </p:nvSpPr>
        <p:spPr>
          <a:xfrm>
            <a:off x="276558" y="420383"/>
            <a:ext cx="6705084" cy="577800"/>
          </a:xfrm>
        </p:spPr>
        <p:txBody>
          <a:bodyPr/>
          <a:lstStyle/>
          <a:p>
            <a:r>
              <a:rPr lang="pt-PT" dirty="0" err="1"/>
              <a:t>Implementation</a:t>
            </a:r>
            <a:r>
              <a:rPr lang="pt-PT" dirty="0"/>
              <a:t> </a:t>
            </a:r>
            <a:r>
              <a:rPr lang="pt-PT" dirty="0" err="1"/>
              <a:t>work</a:t>
            </a:r>
            <a:r>
              <a:rPr lang="pt-PT" dirty="0"/>
              <a:t> </a:t>
            </a:r>
            <a:r>
              <a:rPr lang="pt-PT" dirty="0" err="1"/>
              <a:t>already</a:t>
            </a:r>
            <a:r>
              <a:rPr lang="pt-PT" dirty="0"/>
              <a:t> </a:t>
            </a:r>
            <a:r>
              <a:rPr lang="pt-PT" dirty="0" err="1"/>
              <a:t>carried</a:t>
            </a:r>
            <a:r>
              <a:rPr lang="pt-PT" dirty="0"/>
              <a:t> out</a:t>
            </a:r>
          </a:p>
        </p:txBody>
      </p:sp>
      <p:sp>
        <p:nvSpPr>
          <p:cNvPr id="3" name="CaixaDeTexto 2">
            <a:extLst>
              <a:ext uri="{FF2B5EF4-FFF2-40B4-BE49-F238E27FC236}">
                <a16:creationId xmlns:a16="http://schemas.microsoft.com/office/drawing/2014/main" id="{4F133CA3-B0D2-1989-6407-6C3020731674}"/>
              </a:ext>
            </a:extLst>
          </p:cNvPr>
          <p:cNvSpPr txBox="1"/>
          <p:nvPr/>
        </p:nvSpPr>
        <p:spPr>
          <a:xfrm>
            <a:off x="305405" y="1348938"/>
            <a:ext cx="2662908" cy="492443"/>
          </a:xfrm>
          <a:prstGeom prst="rect">
            <a:avLst/>
          </a:prstGeom>
          <a:noFill/>
        </p:spPr>
        <p:txBody>
          <a:bodyPr wrap="none" rtlCol="0">
            <a:spAutoFit/>
          </a:bodyPr>
          <a:lstStyle/>
          <a:p>
            <a:r>
              <a:rPr lang="pt-PT" sz="1250" dirty="0" err="1">
                <a:solidFill>
                  <a:schemeClr val="lt1"/>
                </a:solidFill>
                <a:latin typeface="Maven Pro"/>
              </a:rPr>
              <a:t>Programming</a:t>
            </a:r>
            <a:r>
              <a:rPr lang="pt-PT" sz="1250" dirty="0">
                <a:solidFill>
                  <a:schemeClr val="lt1"/>
                </a:solidFill>
                <a:latin typeface="Maven Pro"/>
              </a:rPr>
              <a:t> </a:t>
            </a:r>
            <a:r>
              <a:rPr lang="pt-PT" sz="1250" dirty="0" err="1">
                <a:solidFill>
                  <a:schemeClr val="lt1"/>
                </a:solidFill>
                <a:latin typeface="Maven Pro"/>
              </a:rPr>
              <a:t>Language</a:t>
            </a:r>
            <a:r>
              <a:rPr lang="pt-PT" sz="1250" dirty="0">
                <a:solidFill>
                  <a:schemeClr val="lt1"/>
                </a:solidFill>
                <a:latin typeface="Maven Pro"/>
              </a:rPr>
              <a:t>: </a:t>
            </a:r>
            <a:r>
              <a:rPr lang="pt-PT" sz="1250" dirty="0" err="1">
                <a:solidFill>
                  <a:schemeClr val="lt1"/>
                </a:solidFill>
                <a:latin typeface="Maven Pro"/>
              </a:rPr>
              <a:t>Python</a:t>
            </a:r>
            <a:endParaRPr lang="pt-PT" sz="1250" dirty="0">
              <a:solidFill>
                <a:schemeClr val="lt1"/>
              </a:solidFill>
              <a:latin typeface="Maven Pro"/>
            </a:endParaRPr>
          </a:p>
          <a:p>
            <a:r>
              <a:rPr lang="pt-PT" sz="1250" dirty="0">
                <a:solidFill>
                  <a:schemeClr val="lt1"/>
                </a:solidFill>
                <a:latin typeface="Maven Pro"/>
              </a:rPr>
              <a:t>IDE: Visual </a:t>
            </a:r>
            <a:r>
              <a:rPr lang="pt-PT" sz="1250" dirty="0" err="1">
                <a:solidFill>
                  <a:schemeClr val="lt1"/>
                </a:solidFill>
                <a:latin typeface="Maven Pro"/>
              </a:rPr>
              <a:t>Studio</a:t>
            </a:r>
            <a:r>
              <a:rPr lang="pt-PT" sz="1250" dirty="0">
                <a:solidFill>
                  <a:schemeClr val="lt1"/>
                </a:solidFill>
                <a:latin typeface="Maven Pro"/>
              </a:rPr>
              <a:t> </a:t>
            </a:r>
            <a:r>
              <a:rPr lang="pt-PT" sz="1250" dirty="0" err="1">
                <a:solidFill>
                  <a:schemeClr val="lt1"/>
                </a:solidFill>
                <a:latin typeface="Maven Pro"/>
              </a:rPr>
              <a:t>Code</a:t>
            </a:r>
            <a:endParaRPr lang="pt-PT" sz="1250" dirty="0">
              <a:solidFill>
                <a:schemeClr val="lt1"/>
              </a:solidFill>
              <a:latin typeface="Maven Pro"/>
            </a:endParaRPr>
          </a:p>
        </p:txBody>
      </p:sp>
      <p:sp>
        <p:nvSpPr>
          <p:cNvPr id="4" name="CaixaDeTexto 3">
            <a:extLst>
              <a:ext uri="{FF2B5EF4-FFF2-40B4-BE49-F238E27FC236}">
                <a16:creationId xmlns:a16="http://schemas.microsoft.com/office/drawing/2014/main" id="{0F6C5882-2369-08B8-EFD3-F8866DC7C2A9}"/>
              </a:ext>
            </a:extLst>
          </p:cNvPr>
          <p:cNvSpPr txBox="1"/>
          <p:nvPr/>
        </p:nvSpPr>
        <p:spPr>
          <a:xfrm>
            <a:off x="300120" y="1087328"/>
            <a:ext cx="2856872" cy="523220"/>
          </a:xfrm>
          <a:prstGeom prst="rect">
            <a:avLst/>
          </a:prstGeom>
          <a:noFill/>
        </p:spPr>
        <p:txBody>
          <a:bodyPr wrap="square" rtlCol="0">
            <a:spAutoFit/>
          </a:bodyPr>
          <a:lstStyle>
            <a:defPPr marR="0" lvl="0" algn="l" rtl="0">
              <a:lnSpc>
                <a:spcPct val="100000"/>
              </a:lnSpc>
              <a:spcBef>
                <a:spcPts val="0"/>
              </a:spcBef>
              <a:spcAft>
                <a:spcPts val="0"/>
              </a:spcAft>
            </a:defPPr>
            <a:lvl1pPr>
              <a:defRPr b="1" cap="small">
                <a:solidFill>
                  <a:schemeClr val="lt1"/>
                </a:solidFill>
                <a:latin typeface="Maven Pro"/>
              </a:defRPr>
            </a:lvl1pPr>
          </a:lstStyle>
          <a:p>
            <a:r>
              <a:rPr lang="pt-PT" dirty="0" err="1"/>
              <a:t>Development</a:t>
            </a:r>
            <a:r>
              <a:rPr lang="pt-PT" dirty="0"/>
              <a:t> </a:t>
            </a:r>
            <a:r>
              <a:rPr lang="pt-PT" dirty="0" err="1"/>
              <a:t>Environment</a:t>
            </a:r>
            <a:r>
              <a:rPr lang="pt-PT" dirty="0"/>
              <a:t>:</a:t>
            </a:r>
          </a:p>
          <a:p>
            <a:endParaRPr lang="pt-PT" dirty="0"/>
          </a:p>
        </p:txBody>
      </p:sp>
      <p:sp>
        <p:nvSpPr>
          <p:cNvPr id="7" name="CaixaDeTexto 6">
            <a:extLst>
              <a:ext uri="{FF2B5EF4-FFF2-40B4-BE49-F238E27FC236}">
                <a16:creationId xmlns:a16="http://schemas.microsoft.com/office/drawing/2014/main" id="{A5E98254-0E88-B64E-FE81-EEB4DE21FB25}"/>
              </a:ext>
            </a:extLst>
          </p:cNvPr>
          <p:cNvSpPr txBox="1"/>
          <p:nvPr/>
        </p:nvSpPr>
        <p:spPr>
          <a:xfrm>
            <a:off x="6084040" y="1371421"/>
            <a:ext cx="1590500" cy="692497"/>
          </a:xfrm>
          <a:prstGeom prst="rect">
            <a:avLst/>
          </a:prstGeom>
          <a:noFill/>
        </p:spPr>
        <p:txBody>
          <a:bodyPr wrap="none" rtlCol="0">
            <a:spAutoFit/>
          </a:bodyPr>
          <a:lstStyle/>
          <a:p>
            <a:pPr>
              <a:buClr>
                <a:schemeClr val="bg1"/>
              </a:buClr>
              <a:buSzPct val="45000"/>
            </a:pPr>
            <a:r>
              <a:rPr lang="pt-PT" sz="1300" dirty="0" err="1">
                <a:solidFill>
                  <a:schemeClr val="bg1"/>
                </a:solidFill>
                <a:latin typeface="Maven Pro" panose="020B0604020202020204" charset="0"/>
              </a:rPr>
              <a:t>Breath-first</a:t>
            </a:r>
            <a:r>
              <a:rPr lang="pt-PT" sz="1300" dirty="0">
                <a:solidFill>
                  <a:schemeClr val="bg1"/>
                </a:solidFill>
                <a:latin typeface="Maven Pro" panose="020B0604020202020204" charset="0"/>
              </a:rPr>
              <a:t> </a:t>
            </a:r>
            <a:r>
              <a:rPr lang="pt-PT" sz="1300" dirty="0" err="1">
                <a:solidFill>
                  <a:schemeClr val="bg1"/>
                </a:solidFill>
                <a:latin typeface="Maven Pro" panose="020B0604020202020204" charset="0"/>
              </a:rPr>
              <a:t>serch</a:t>
            </a:r>
            <a:endParaRPr lang="pt-PT" sz="1300" dirty="0">
              <a:solidFill>
                <a:schemeClr val="bg1"/>
              </a:solidFill>
              <a:latin typeface="Maven Pro" panose="020B0604020202020204" charset="0"/>
            </a:endParaRPr>
          </a:p>
          <a:p>
            <a:pPr>
              <a:buClr>
                <a:schemeClr val="bg1"/>
              </a:buClr>
              <a:buSzPct val="45000"/>
            </a:pPr>
            <a:r>
              <a:rPr lang="pt-PT" sz="1300" dirty="0" err="1">
                <a:solidFill>
                  <a:schemeClr val="bg1"/>
                </a:solidFill>
                <a:latin typeface="Maven Pro" panose="020B0604020202020204" charset="0"/>
              </a:rPr>
              <a:t>Depth-first</a:t>
            </a:r>
            <a:r>
              <a:rPr lang="pt-PT" sz="1300" dirty="0">
                <a:solidFill>
                  <a:schemeClr val="bg1"/>
                </a:solidFill>
                <a:latin typeface="Maven Pro" panose="020B0604020202020204" charset="0"/>
              </a:rPr>
              <a:t> </a:t>
            </a:r>
            <a:r>
              <a:rPr lang="pt-PT" sz="1300" dirty="0" err="1">
                <a:solidFill>
                  <a:schemeClr val="bg1"/>
                </a:solidFill>
                <a:latin typeface="Maven Pro" panose="020B0604020202020204" charset="0"/>
              </a:rPr>
              <a:t>search</a:t>
            </a:r>
            <a:endParaRPr lang="pt-PT" sz="1300" dirty="0">
              <a:solidFill>
                <a:schemeClr val="bg1"/>
              </a:solidFill>
              <a:latin typeface="Maven Pro" panose="020B0604020202020204" charset="0"/>
            </a:endParaRPr>
          </a:p>
          <a:p>
            <a:pPr>
              <a:buClr>
                <a:schemeClr val="bg1"/>
              </a:buClr>
              <a:buSzPct val="45000"/>
            </a:pPr>
            <a:r>
              <a:rPr lang="pt-PT" sz="1300" dirty="0">
                <a:solidFill>
                  <a:schemeClr val="bg1"/>
                </a:solidFill>
                <a:latin typeface="Maven Pro" panose="020B0604020202020204" charset="0"/>
              </a:rPr>
              <a:t>A* </a:t>
            </a:r>
            <a:r>
              <a:rPr lang="pt-PT" sz="1300" dirty="0" err="1">
                <a:solidFill>
                  <a:schemeClr val="bg1"/>
                </a:solidFill>
                <a:latin typeface="Maven Pro" panose="020B0604020202020204" charset="0"/>
              </a:rPr>
              <a:t>Algorithm</a:t>
            </a:r>
            <a:endParaRPr lang="pt-PT" sz="1300" dirty="0">
              <a:solidFill>
                <a:schemeClr val="bg1"/>
              </a:solidFill>
              <a:latin typeface="Maven Pro" panose="020B0604020202020204" charset="0"/>
            </a:endParaRPr>
          </a:p>
        </p:txBody>
      </p:sp>
      <p:sp>
        <p:nvSpPr>
          <p:cNvPr id="10" name="CaixaDeTexto 9">
            <a:extLst>
              <a:ext uri="{FF2B5EF4-FFF2-40B4-BE49-F238E27FC236}">
                <a16:creationId xmlns:a16="http://schemas.microsoft.com/office/drawing/2014/main" id="{DBB16580-F1F0-CF1F-B0C4-B49C9C58C8BC}"/>
              </a:ext>
            </a:extLst>
          </p:cNvPr>
          <p:cNvSpPr txBox="1"/>
          <p:nvPr/>
        </p:nvSpPr>
        <p:spPr>
          <a:xfrm>
            <a:off x="6074681" y="3343338"/>
            <a:ext cx="888914" cy="292388"/>
          </a:xfrm>
          <a:prstGeom prst="rect">
            <a:avLst/>
          </a:prstGeom>
          <a:noFill/>
        </p:spPr>
        <p:txBody>
          <a:bodyPr wrap="square">
            <a:spAutoFit/>
          </a:bodyPr>
          <a:lstStyle/>
          <a:p>
            <a:r>
              <a:rPr lang="pt-PT" sz="1300" dirty="0" err="1">
                <a:solidFill>
                  <a:schemeClr val="lt1"/>
                </a:solidFill>
                <a:latin typeface="Maven Pro"/>
              </a:rPr>
              <a:t>Pygame</a:t>
            </a:r>
            <a:endParaRPr lang="pt-PT" sz="1300" dirty="0">
              <a:solidFill>
                <a:schemeClr val="lt1"/>
              </a:solidFill>
              <a:latin typeface="Maven Pro"/>
            </a:endParaRPr>
          </a:p>
        </p:txBody>
      </p:sp>
      <p:sp>
        <p:nvSpPr>
          <p:cNvPr id="11" name="CaixaDeTexto 10">
            <a:extLst>
              <a:ext uri="{FF2B5EF4-FFF2-40B4-BE49-F238E27FC236}">
                <a16:creationId xmlns:a16="http://schemas.microsoft.com/office/drawing/2014/main" id="{81D58A1F-9759-8213-D9E8-BA57335CCB67}"/>
              </a:ext>
            </a:extLst>
          </p:cNvPr>
          <p:cNvSpPr txBox="1"/>
          <p:nvPr/>
        </p:nvSpPr>
        <p:spPr>
          <a:xfrm>
            <a:off x="301090" y="3079978"/>
            <a:ext cx="1481496" cy="307777"/>
          </a:xfrm>
          <a:prstGeom prst="rect">
            <a:avLst/>
          </a:prstGeom>
          <a:noFill/>
        </p:spPr>
        <p:txBody>
          <a:bodyPr wrap="none" rtlCol="0">
            <a:spAutoFit/>
          </a:bodyPr>
          <a:lstStyle/>
          <a:p>
            <a:r>
              <a:rPr lang="pt-PT" b="1" cap="small" dirty="0">
                <a:solidFill>
                  <a:schemeClr val="lt1"/>
                </a:solidFill>
                <a:latin typeface="Maven Pro"/>
              </a:rPr>
              <a:t>File</a:t>
            </a:r>
            <a:r>
              <a:rPr lang="pt-PT" dirty="0"/>
              <a:t> </a:t>
            </a:r>
            <a:r>
              <a:rPr lang="pt-PT" b="1" cap="small" dirty="0" err="1">
                <a:solidFill>
                  <a:schemeClr val="lt1"/>
                </a:solidFill>
                <a:latin typeface="Maven Pro"/>
              </a:rPr>
              <a:t>Structure</a:t>
            </a:r>
            <a:r>
              <a:rPr lang="pt-PT" b="1" cap="small" dirty="0">
                <a:solidFill>
                  <a:schemeClr val="lt1"/>
                </a:solidFill>
                <a:latin typeface="Maven Pro"/>
              </a:rPr>
              <a:t>:</a:t>
            </a:r>
          </a:p>
        </p:txBody>
      </p:sp>
      <p:sp>
        <p:nvSpPr>
          <p:cNvPr id="13" name="CaixaDeTexto 12">
            <a:extLst>
              <a:ext uri="{FF2B5EF4-FFF2-40B4-BE49-F238E27FC236}">
                <a16:creationId xmlns:a16="http://schemas.microsoft.com/office/drawing/2014/main" id="{26CFFAB4-CF48-00D0-C724-D6DFCE19F8B6}"/>
              </a:ext>
            </a:extLst>
          </p:cNvPr>
          <p:cNvSpPr txBox="1"/>
          <p:nvPr/>
        </p:nvSpPr>
        <p:spPr>
          <a:xfrm>
            <a:off x="300120" y="2033141"/>
            <a:ext cx="1665841" cy="523220"/>
          </a:xfrm>
          <a:prstGeom prst="rect">
            <a:avLst/>
          </a:prstGeom>
          <a:noFill/>
        </p:spPr>
        <p:txBody>
          <a:bodyPr wrap="none" rtlCol="0">
            <a:spAutoFit/>
          </a:bodyPr>
          <a:lstStyle/>
          <a:p>
            <a:r>
              <a:rPr lang="pt-PT" b="1" cap="small" dirty="0">
                <a:solidFill>
                  <a:schemeClr val="lt1"/>
                </a:solidFill>
                <a:latin typeface="Maven Pro"/>
              </a:rPr>
              <a:t>Data</a:t>
            </a:r>
            <a:r>
              <a:rPr lang="pt-PT" dirty="0">
                <a:solidFill>
                  <a:schemeClr val="bg1"/>
                </a:solidFill>
              </a:rPr>
              <a:t> </a:t>
            </a:r>
            <a:r>
              <a:rPr lang="pt-PT" b="1" cap="small" dirty="0" err="1">
                <a:solidFill>
                  <a:schemeClr val="lt1"/>
                </a:solidFill>
                <a:latin typeface="Maven Pro"/>
              </a:rPr>
              <a:t>Structures</a:t>
            </a:r>
            <a:r>
              <a:rPr lang="pt-PT" b="1" cap="small" dirty="0">
                <a:solidFill>
                  <a:schemeClr val="bg1"/>
                </a:solidFill>
                <a:latin typeface="Maven Pro"/>
              </a:rPr>
              <a:t>:</a:t>
            </a:r>
          </a:p>
          <a:p>
            <a:endParaRPr lang="pt-PT" dirty="0"/>
          </a:p>
        </p:txBody>
      </p:sp>
      <p:sp>
        <p:nvSpPr>
          <p:cNvPr id="15" name="CaixaDeTexto 14">
            <a:extLst>
              <a:ext uri="{FF2B5EF4-FFF2-40B4-BE49-F238E27FC236}">
                <a16:creationId xmlns:a16="http://schemas.microsoft.com/office/drawing/2014/main" id="{64894721-0B92-3A6F-E5FD-E94C3342324D}"/>
              </a:ext>
            </a:extLst>
          </p:cNvPr>
          <p:cNvSpPr txBox="1"/>
          <p:nvPr/>
        </p:nvSpPr>
        <p:spPr>
          <a:xfrm>
            <a:off x="6074681" y="1082287"/>
            <a:ext cx="1183337" cy="523220"/>
          </a:xfrm>
          <a:prstGeom prst="rect">
            <a:avLst/>
          </a:prstGeom>
          <a:noFill/>
        </p:spPr>
        <p:txBody>
          <a:bodyPr wrap="none" rtlCol="0">
            <a:spAutoFit/>
          </a:bodyPr>
          <a:lstStyle/>
          <a:p>
            <a:r>
              <a:rPr lang="pt-PT" b="1" cap="small" dirty="0" err="1">
                <a:solidFill>
                  <a:schemeClr val="lt1"/>
                </a:solidFill>
                <a:latin typeface="Maven Pro"/>
              </a:rPr>
              <a:t>Algorithms</a:t>
            </a:r>
            <a:r>
              <a:rPr lang="pt-PT" dirty="0">
                <a:solidFill>
                  <a:schemeClr val="bg1"/>
                </a:solidFill>
              </a:rPr>
              <a:t>:</a:t>
            </a:r>
          </a:p>
          <a:p>
            <a:endParaRPr lang="pt-PT" dirty="0"/>
          </a:p>
        </p:txBody>
      </p:sp>
      <p:sp>
        <p:nvSpPr>
          <p:cNvPr id="17" name="CaixaDeTexto 16">
            <a:extLst>
              <a:ext uri="{FF2B5EF4-FFF2-40B4-BE49-F238E27FC236}">
                <a16:creationId xmlns:a16="http://schemas.microsoft.com/office/drawing/2014/main" id="{09E25290-C06E-15DE-4BDD-B65D154CC704}"/>
              </a:ext>
            </a:extLst>
          </p:cNvPr>
          <p:cNvSpPr txBox="1"/>
          <p:nvPr/>
        </p:nvSpPr>
        <p:spPr>
          <a:xfrm>
            <a:off x="6074681" y="3079978"/>
            <a:ext cx="2387192" cy="307777"/>
          </a:xfrm>
          <a:prstGeom prst="rect">
            <a:avLst/>
          </a:prstGeom>
          <a:noFill/>
        </p:spPr>
        <p:txBody>
          <a:bodyPr wrap="none" rtlCol="0">
            <a:spAutoFit/>
          </a:bodyPr>
          <a:lstStyle/>
          <a:p>
            <a:r>
              <a:rPr lang="pt-PT" b="1" cap="small" dirty="0" err="1">
                <a:solidFill>
                  <a:schemeClr val="lt1"/>
                </a:solidFill>
                <a:latin typeface="Maven Pro"/>
              </a:rPr>
              <a:t>Text</a:t>
            </a:r>
            <a:r>
              <a:rPr lang="pt-PT" b="1" cap="small" dirty="0">
                <a:solidFill>
                  <a:schemeClr val="bg1"/>
                </a:solidFill>
                <a:latin typeface="Maven Pro"/>
              </a:rPr>
              <a:t>/</a:t>
            </a:r>
            <a:r>
              <a:rPr lang="pt-PT" b="1" cap="small" dirty="0" err="1">
                <a:solidFill>
                  <a:schemeClr val="lt1"/>
                </a:solidFill>
                <a:latin typeface="Maven Pro"/>
              </a:rPr>
              <a:t>Graphical</a:t>
            </a:r>
            <a:r>
              <a:rPr lang="pt-PT" b="1" cap="small" dirty="0">
                <a:solidFill>
                  <a:schemeClr val="lt1"/>
                </a:solidFill>
                <a:latin typeface="Maven Pro"/>
              </a:rPr>
              <a:t> Interface:</a:t>
            </a:r>
          </a:p>
        </p:txBody>
      </p:sp>
      <p:sp>
        <p:nvSpPr>
          <p:cNvPr id="18" name="CaixaDeTexto 17">
            <a:extLst>
              <a:ext uri="{FF2B5EF4-FFF2-40B4-BE49-F238E27FC236}">
                <a16:creationId xmlns:a16="http://schemas.microsoft.com/office/drawing/2014/main" id="{36DE3AE9-3AA4-D2B5-9052-671FFE8EEFC3}"/>
              </a:ext>
            </a:extLst>
          </p:cNvPr>
          <p:cNvSpPr txBox="1"/>
          <p:nvPr/>
        </p:nvSpPr>
        <p:spPr>
          <a:xfrm>
            <a:off x="296857" y="2325528"/>
            <a:ext cx="5721906" cy="492443"/>
          </a:xfrm>
          <a:prstGeom prst="rect">
            <a:avLst/>
          </a:prstGeom>
          <a:noFill/>
        </p:spPr>
        <p:txBody>
          <a:bodyPr wrap="square" rtlCol="0">
            <a:spAutoFit/>
          </a:bodyPr>
          <a:lstStyle/>
          <a:p>
            <a:r>
              <a:rPr lang="pt-PT" sz="1250" dirty="0">
                <a:solidFill>
                  <a:schemeClr val="lt1"/>
                </a:solidFill>
                <a:latin typeface="Maven Pro"/>
              </a:rPr>
              <a:t>To </a:t>
            </a:r>
            <a:r>
              <a:rPr lang="pt-PT" sz="1250" dirty="0" err="1">
                <a:solidFill>
                  <a:schemeClr val="lt1"/>
                </a:solidFill>
                <a:latin typeface="Maven Pro"/>
              </a:rPr>
              <a:t>represent</a:t>
            </a:r>
            <a:r>
              <a:rPr lang="pt-PT" sz="1250" dirty="0">
                <a:solidFill>
                  <a:schemeClr val="lt1"/>
                </a:solidFill>
                <a:latin typeface="Maven Pro"/>
              </a:rPr>
              <a:t> </a:t>
            </a:r>
            <a:r>
              <a:rPr lang="pt-PT" sz="1250" dirty="0" err="1">
                <a:solidFill>
                  <a:schemeClr val="lt1"/>
                </a:solidFill>
                <a:latin typeface="Maven Pro"/>
              </a:rPr>
              <a:t>the</a:t>
            </a:r>
            <a:r>
              <a:rPr lang="pt-PT" sz="1250" dirty="0">
                <a:solidFill>
                  <a:schemeClr val="lt1"/>
                </a:solidFill>
                <a:latin typeface="Maven Pro"/>
              </a:rPr>
              <a:t> </a:t>
            </a:r>
            <a:r>
              <a:rPr lang="pt-PT" sz="1250" dirty="0" err="1">
                <a:solidFill>
                  <a:schemeClr val="lt1"/>
                </a:solidFill>
                <a:latin typeface="Maven Pro"/>
              </a:rPr>
              <a:t>board</a:t>
            </a:r>
            <a:r>
              <a:rPr lang="pt-PT" sz="1250" dirty="0">
                <a:solidFill>
                  <a:schemeClr val="lt1"/>
                </a:solidFill>
                <a:latin typeface="Maven Pro"/>
              </a:rPr>
              <a:t> </a:t>
            </a:r>
            <a:r>
              <a:rPr lang="pt-PT" sz="1250" dirty="0" err="1">
                <a:solidFill>
                  <a:schemeClr val="lt1"/>
                </a:solidFill>
                <a:latin typeface="Maven Pro"/>
              </a:rPr>
              <a:t>and</a:t>
            </a:r>
            <a:r>
              <a:rPr lang="pt-PT" sz="1250" dirty="0">
                <a:solidFill>
                  <a:schemeClr val="lt1"/>
                </a:solidFill>
                <a:latin typeface="Maven Pro"/>
              </a:rPr>
              <a:t> </a:t>
            </a:r>
            <a:r>
              <a:rPr lang="pt-PT" sz="1250" dirty="0" err="1">
                <a:solidFill>
                  <a:schemeClr val="lt1"/>
                </a:solidFill>
                <a:latin typeface="Maven Pro"/>
              </a:rPr>
              <a:t>vehicle</a:t>
            </a:r>
            <a:r>
              <a:rPr lang="pt-PT" sz="1250" dirty="0">
                <a:solidFill>
                  <a:schemeClr val="lt1"/>
                </a:solidFill>
                <a:latin typeface="Maven Pro"/>
              </a:rPr>
              <a:t> </a:t>
            </a:r>
            <a:r>
              <a:rPr lang="pt-PT" sz="1250" dirty="0" err="1">
                <a:solidFill>
                  <a:schemeClr val="lt1"/>
                </a:solidFill>
                <a:latin typeface="Maven Pro"/>
              </a:rPr>
              <a:t>positions</a:t>
            </a:r>
            <a:r>
              <a:rPr lang="pt-PT" sz="1250" dirty="0">
                <a:solidFill>
                  <a:schemeClr val="lt1"/>
                </a:solidFill>
                <a:latin typeface="Maven Pro"/>
              </a:rPr>
              <a:t>, </a:t>
            </a:r>
            <a:r>
              <a:rPr lang="pt-PT" sz="1250" dirty="0" err="1">
                <a:solidFill>
                  <a:schemeClr val="lt1"/>
                </a:solidFill>
                <a:latin typeface="Maven Pro"/>
              </a:rPr>
              <a:t>we</a:t>
            </a:r>
            <a:r>
              <a:rPr lang="pt-PT" sz="1250" dirty="0">
                <a:solidFill>
                  <a:schemeClr val="lt1"/>
                </a:solidFill>
                <a:latin typeface="Maven Pro"/>
              </a:rPr>
              <a:t> use a </a:t>
            </a:r>
            <a:r>
              <a:rPr lang="pt-PT" sz="1250" dirty="0" err="1">
                <a:solidFill>
                  <a:schemeClr val="lt1"/>
                </a:solidFill>
                <a:latin typeface="Maven Pro"/>
              </a:rPr>
              <a:t>matrix</a:t>
            </a:r>
            <a:r>
              <a:rPr lang="pt-PT" sz="1250" dirty="0">
                <a:solidFill>
                  <a:schemeClr val="lt1"/>
                </a:solidFill>
                <a:latin typeface="Maven Pro"/>
              </a:rPr>
              <a:t> </a:t>
            </a:r>
            <a:r>
              <a:rPr lang="pt-PT" sz="1250" dirty="0" err="1">
                <a:solidFill>
                  <a:schemeClr val="lt1"/>
                </a:solidFill>
                <a:latin typeface="Maven Pro"/>
              </a:rPr>
              <a:t>or</a:t>
            </a:r>
            <a:r>
              <a:rPr lang="pt-PT" sz="1250" dirty="0">
                <a:solidFill>
                  <a:schemeClr val="lt1"/>
                </a:solidFill>
                <a:latin typeface="Maven Pro"/>
              </a:rPr>
              <a:t> a </a:t>
            </a:r>
            <a:r>
              <a:rPr lang="pt-PT" sz="1250" dirty="0" err="1">
                <a:solidFill>
                  <a:schemeClr val="lt1"/>
                </a:solidFill>
                <a:latin typeface="Maven Pro"/>
              </a:rPr>
              <a:t>grid</a:t>
            </a:r>
            <a:r>
              <a:rPr lang="pt-PT" sz="1250" dirty="0">
                <a:solidFill>
                  <a:schemeClr val="lt1"/>
                </a:solidFill>
                <a:latin typeface="Maven Pro"/>
              </a:rPr>
              <a:t>.</a:t>
            </a:r>
          </a:p>
          <a:p>
            <a:r>
              <a:rPr lang="pt-PT" sz="1250" dirty="0">
                <a:solidFill>
                  <a:schemeClr val="lt1"/>
                </a:solidFill>
                <a:latin typeface="Maven Pro"/>
              </a:rPr>
              <a:t>To </a:t>
            </a:r>
            <a:r>
              <a:rPr lang="pt-PT" sz="1250" dirty="0" err="1">
                <a:solidFill>
                  <a:schemeClr val="lt1"/>
                </a:solidFill>
                <a:latin typeface="Maven Pro"/>
              </a:rPr>
              <a:t>represent</a:t>
            </a:r>
            <a:r>
              <a:rPr lang="pt-PT" sz="1250" dirty="0">
                <a:solidFill>
                  <a:schemeClr val="lt1"/>
                </a:solidFill>
                <a:latin typeface="Maven Pro"/>
              </a:rPr>
              <a:t> </a:t>
            </a:r>
            <a:r>
              <a:rPr lang="pt-PT" sz="1250" dirty="0" err="1">
                <a:solidFill>
                  <a:schemeClr val="lt1"/>
                </a:solidFill>
                <a:latin typeface="Maven Pro"/>
              </a:rPr>
              <a:t>the</a:t>
            </a:r>
            <a:r>
              <a:rPr lang="pt-PT" sz="1250" dirty="0">
                <a:solidFill>
                  <a:schemeClr val="lt1"/>
                </a:solidFill>
                <a:latin typeface="Maven Pro"/>
              </a:rPr>
              <a:t> </a:t>
            </a:r>
            <a:r>
              <a:rPr lang="pt-PT" sz="1250" dirty="0" err="1">
                <a:solidFill>
                  <a:schemeClr val="lt1"/>
                </a:solidFill>
                <a:latin typeface="Maven Pro"/>
              </a:rPr>
              <a:t>state</a:t>
            </a:r>
            <a:r>
              <a:rPr lang="pt-PT" sz="1250" dirty="0">
                <a:solidFill>
                  <a:schemeClr val="lt1"/>
                </a:solidFill>
                <a:latin typeface="Maven Pro"/>
              </a:rPr>
              <a:t> </a:t>
            </a:r>
            <a:r>
              <a:rPr lang="pt-PT" sz="1250" dirty="0" err="1">
                <a:solidFill>
                  <a:schemeClr val="lt1"/>
                </a:solidFill>
                <a:latin typeface="Maven Pro"/>
              </a:rPr>
              <a:t>of</a:t>
            </a:r>
            <a:r>
              <a:rPr lang="pt-PT" sz="1250" dirty="0">
                <a:solidFill>
                  <a:schemeClr val="lt1"/>
                </a:solidFill>
                <a:latin typeface="Maven Pro"/>
              </a:rPr>
              <a:t> </a:t>
            </a:r>
            <a:r>
              <a:rPr lang="pt-PT" sz="1250" dirty="0" err="1">
                <a:solidFill>
                  <a:schemeClr val="lt1"/>
                </a:solidFill>
                <a:latin typeface="Maven Pro"/>
              </a:rPr>
              <a:t>the</a:t>
            </a:r>
            <a:r>
              <a:rPr lang="pt-PT" sz="1250" dirty="0">
                <a:solidFill>
                  <a:schemeClr val="lt1"/>
                </a:solidFill>
                <a:latin typeface="Maven Pro"/>
              </a:rPr>
              <a:t> puzzle, </a:t>
            </a:r>
            <a:r>
              <a:rPr lang="pt-PT" sz="1250" dirty="0" err="1">
                <a:solidFill>
                  <a:schemeClr val="lt1"/>
                </a:solidFill>
                <a:latin typeface="Maven Pro"/>
              </a:rPr>
              <a:t>we</a:t>
            </a:r>
            <a:r>
              <a:rPr lang="pt-PT" sz="1250" dirty="0">
                <a:solidFill>
                  <a:schemeClr val="lt1"/>
                </a:solidFill>
                <a:latin typeface="Maven Pro"/>
              </a:rPr>
              <a:t> use </a:t>
            </a:r>
            <a:r>
              <a:rPr lang="pt-PT" sz="1250" dirty="0" err="1">
                <a:solidFill>
                  <a:schemeClr val="lt1"/>
                </a:solidFill>
                <a:latin typeface="Maven Pro"/>
              </a:rPr>
              <a:t>lists</a:t>
            </a:r>
            <a:r>
              <a:rPr lang="pt-PT" sz="1250" dirty="0">
                <a:solidFill>
                  <a:schemeClr val="lt1"/>
                </a:solidFill>
                <a:latin typeface="Maven Pro"/>
              </a:rPr>
              <a:t> </a:t>
            </a:r>
            <a:r>
              <a:rPr lang="pt-PT" sz="1250" dirty="0" err="1">
                <a:solidFill>
                  <a:schemeClr val="lt1"/>
                </a:solidFill>
                <a:latin typeface="Maven Pro"/>
              </a:rPr>
              <a:t>or</a:t>
            </a:r>
            <a:r>
              <a:rPr lang="pt-PT" sz="1250" dirty="0">
                <a:solidFill>
                  <a:schemeClr val="lt1"/>
                </a:solidFill>
                <a:latin typeface="Maven Pro"/>
              </a:rPr>
              <a:t> </a:t>
            </a:r>
            <a:r>
              <a:rPr lang="pt-PT" sz="1250" dirty="0" err="1">
                <a:solidFill>
                  <a:schemeClr val="lt1"/>
                </a:solidFill>
                <a:latin typeface="Maven Pro"/>
              </a:rPr>
              <a:t>tuples</a:t>
            </a:r>
            <a:r>
              <a:rPr lang="pt-PT" sz="1250" dirty="0">
                <a:solidFill>
                  <a:schemeClr val="lt1"/>
                </a:solidFill>
                <a:latin typeface="Maven Pro"/>
              </a:rPr>
              <a:t>.</a:t>
            </a:r>
          </a:p>
        </p:txBody>
      </p:sp>
      <p:sp>
        <p:nvSpPr>
          <p:cNvPr id="19" name="CaixaDeTexto 18">
            <a:extLst>
              <a:ext uri="{FF2B5EF4-FFF2-40B4-BE49-F238E27FC236}">
                <a16:creationId xmlns:a16="http://schemas.microsoft.com/office/drawing/2014/main" id="{B5E7A546-7E60-66BF-76A9-787FBE7EB5E6}"/>
              </a:ext>
            </a:extLst>
          </p:cNvPr>
          <p:cNvSpPr txBox="1"/>
          <p:nvPr/>
        </p:nvSpPr>
        <p:spPr>
          <a:xfrm>
            <a:off x="297724" y="3364504"/>
            <a:ext cx="5721906" cy="830997"/>
          </a:xfrm>
          <a:prstGeom prst="rect">
            <a:avLst/>
          </a:prstGeom>
          <a:noFill/>
        </p:spPr>
        <p:txBody>
          <a:bodyPr wrap="square" rtlCol="0">
            <a:spAutoFit/>
          </a:bodyPr>
          <a:lstStyle/>
          <a:p>
            <a:r>
              <a:rPr lang="pt-PT" sz="1200" dirty="0" err="1">
                <a:solidFill>
                  <a:schemeClr val="bg1"/>
                </a:solidFill>
                <a:latin typeface="Maven Pro" panose="020B0604020202020204" charset="0"/>
              </a:rPr>
              <a:t>Organization</a:t>
            </a:r>
            <a:r>
              <a:rPr lang="pt-PT" sz="1200" dirty="0">
                <a:solidFill>
                  <a:schemeClr val="bg1"/>
                </a:solidFill>
                <a:latin typeface="Maven Pro" panose="020B0604020202020204" charset="0"/>
              </a:rPr>
              <a:t> </a:t>
            </a:r>
            <a:r>
              <a:rPr lang="pt-PT" sz="1200" dirty="0" err="1">
                <a:solidFill>
                  <a:schemeClr val="bg1"/>
                </a:solidFill>
                <a:latin typeface="Maven Pro" panose="020B0604020202020204" charset="0"/>
              </a:rPr>
              <a:t>of</a:t>
            </a:r>
            <a:r>
              <a:rPr lang="pt-PT" sz="1200" dirty="0">
                <a:solidFill>
                  <a:schemeClr val="bg1"/>
                </a:solidFill>
                <a:latin typeface="Maven Pro" panose="020B0604020202020204" charset="0"/>
              </a:rPr>
              <a:t> </a:t>
            </a:r>
            <a:r>
              <a:rPr lang="pt-PT" sz="1200" dirty="0" err="1">
                <a:solidFill>
                  <a:schemeClr val="bg1"/>
                </a:solidFill>
                <a:latin typeface="Maven Pro" panose="020B0604020202020204" charset="0"/>
              </a:rPr>
              <a:t>Python</a:t>
            </a:r>
            <a:r>
              <a:rPr lang="pt-PT" sz="1200" dirty="0">
                <a:solidFill>
                  <a:schemeClr val="bg1"/>
                </a:solidFill>
                <a:latin typeface="Maven Pro" panose="020B0604020202020204" charset="0"/>
              </a:rPr>
              <a:t> modules </a:t>
            </a:r>
            <a:r>
              <a:rPr lang="pt-PT" sz="1200" dirty="0" err="1">
                <a:solidFill>
                  <a:schemeClr val="bg1"/>
                </a:solidFill>
                <a:latin typeface="Maven Pro" panose="020B0604020202020204" charset="0"/>
              </a:rPr>
              <a:t>and</a:t>
            </a:r>
            <a:r>
              <a:rPr lang="pt-PT" sz="1200" dirty="0">
                <a:solidFill>
                  <a:schemeClr val="bg1"/>
                </a:solidFill>
                <a:latin typeface="Maven Pro" panose="020B0604020202020204" charset="0"/>
              </a:rPr>
              <a:t> </a:t>
            </a:r>
            <a:r>
              <a:rPr lang="pt-PT" sz="1200" dirty="0" err="1">
                <a:solidFill>
                  <a:schemeClr val="bg1"/>
                </a:solidFill>
                <a:latin typeface="Maven Pro" panose="020B0604020202020204" charset="0"/>
              </a:rPr>
              <a:t>configuration</a:t>
            </a:r>
            <a:r>
              <a:rPr lang="pt-PT" sz="1200" dirty="0">
                <a:solidFill>
                  <a:schemeClr val="bg1"/>
                </a:solidFill>
                <a:latin typeface="Maven Pro" panose="020B0604020202020204" charset="0"/>
              </a:rPr>
              <a:t> files:</a:t>
            </a:r>
          </a:p>
          <a:p>
            <a:r>
              <a:rPr lang="pt-PT" sz="1200" dirty="0" err="1">
                <a:solidFill>
                  <a:schemeClr val="bg1"/>
                </a:solidFill>
                <a:latin typeface="Maven Pro" panose="020B0604020202020204" charset="0"/>
              </a:rPr>
              <a:t>Main</a:t>
            </a:r>
            <a:r>
              <a:rPr lang="pt-PT" sz="1200" dirty="0">
                <a:solidFill>
                  <a:schemeClr val="bg1"/>
                </a:solidFill>
                <a:latin typeface="Maven Pro" panose="020B0604020202020204" charset="0"/>
              </a:rPr>
              <a:t> Module: for game </a:t>
            </a:r>
            <a:r>
              <a:rPr lang="pt-PT" sz="1200" dirty="0" err="1">
                <a:solidFill>
                  <a:schemeClr val="bg1"/>
                </a:solidFill>
                <a:latin typeface="Maven Pro" panose="020B0604020202020204" charset="0"/>
              </a:rPr>
              <a:t>logic</a:t>
            </a:r>
            <a:r>
              <a:rPr lang="pt-PT" sz="1200" dirty="0">
                <a:solidFill>
                  <a:schemeClr val="bg1"/>
                </a:solidFill>
                <a:latin typeface="Maven Pro" panose="020B0604020202020204" charset="0"/>
              </a:rPr>
              <a:t> </a:t>
            </a:r>
            <a:r>
              <a:rPr lang="pt-PT" sz="1200" dirty="0" err="1">
                <a:solidFill>
                  <a:schemeClr val="bg1"/>
                </a:solidFill>
                <a:latin typeface="Maven Pro" panose="020B0604020202020204" charset="0"/>
              </a:rPr>
              <a:t>and</a:t>
            </a:r>
            <a:r>
              <a:rPr lang="pt-PT" sz="1200" dirty="0">
                <a:solidFill>
                  <a:schemeClr val="bg1"/>
                </a:solidFill>
                <a:latin typeface="Maven Pro" panose="020B0604020202020204" charset="0"/>
              </a:rPr>
              <a:t> </a:t>
            </a:r>
            <a:r>
              <a:rPr lang="pt-PT" sz="1200" dirty="0" err="1">
                <a:solidFill>
                  <a:schemeClr val="bg1"/>
                </a:solidFill>
                <a:latin typeface="Maven Pro" panose="020B0604020202020204" charset="0"/>
              </a:rPr>
              <a:t>search</a:t>
            </a:r>
            <a:r>
              <a:rPr lang="pt-PT" sz="1200" dirty="0">
                <a:solidFill>
                  <a:schemeClr val="bg1"/>
                </a:solidFill>
                <a:latin typeface="Maven Pro" panose="020B0604020202020204" charset="0"/>
              </a:rPr>
              <a:t> </a:t>
            </a:r>
            <a:r>
              <a:rPr lang="pt-PT" sz="1200" dirty="0" err="1">
                <a:solidFill>
                  <a:schemeClr val="bg1"/>
                </a:solidFill>
                <a:latin typeface="Maven Pro" panose="020B0604020202020204" charset="0"/>
              </a:rPr>
              <a:t>algorithms</a:t>
            </a:r>
            <a:r>
              <a:rPr lang="pt-PT" sz="1200" dirty="0">
                <a:solidFill>
                  <a:schemeClr val="bg1"/>
                </a:solidFill>
                <a:latin typeface="Maven Pro" panose="020B0604020202020204" charset="0"/>
              </a:rPr>
              <a:t>. </a:t>
            </a:r>
          </a:p>
          <a:p>
            <a:r>
              <a:rPr lang="pt-PT" sz="1200" dirty="0">
                <a:solidFill>
                  <a:schemeClr val="bg1"/>
                </a:solidFill>
                <a:latin typeface="Maven Pro" panose="020B0604020202020204" charset="0"/>
              </a:rPr>
              <a:t>GUI Module: for </a:t>
            </a:r>
            <a:r>
              <a:rPr lang="pt-PT" sz="1200" dirty="0" err="1">
                <a:solidFill>
                  <a:schemeClr val="bg1"/>
                </a:solidFill>
                <a:latin typeface="Maven Pro" panose="020B0604020202020204" charset="0"/>
              </a:rPr>
              <a:t>graphical</a:t>
            </a:r>
            <a:r>
              <a:rPr lang="pt-PT" sz="1200" dirty="0">
                <a:solidFill>
                  <a:schemeClr val="bg1"/>
                </a:solidFill>
                <a:latin typeface="Maven Pro" panose="020B0604020202020204" charset="0"/>
              </a:rPr>
              <a:t> </a:t>
            </a:r>
            <a:r>
              <a:rPr lang="pt-PT" sz="1200" dirty="0" err="1">
                <a:solidFill>
                  <a:schemeClr val="bg1"/>
                </a:solidFill>
                <a:latin typeface="Maven Pro" panose="020B0604020202020204" charset="0"/>
              </a:rPr>
              <a:t>user</a:t>
            </a:r>
            <a:r>
              <a:rPr lang="pt-PT" sz="1200" dirty="0">
                <a:solidFill>
                  <a:schemeClr val="bg1"/>
                </a:solidFill>
                <a:latin typeface="Maven Pro" panose="020B0604020202020204" charset="0"/>
              </a:rPr>
              <a:t> interface </a:t>
            </a:r>
            <a:r>
              <a:rPr lang="pt-PT" sz="1200" dirty="0" err="1">
                <a:solidFill>
                  <a:schemeClr val="bg1"/>
                </a:solidFill>
                <a:latin typeface="Maven Pro" panose="020B0604020202020204" charset="0"/>
              </a:rPr>
              <a:t>implementation</a:t>
            </a:r>
            <a:r>
              <a:rPr lang="pt-PT" sz="1200" dirty="0">
                <a:solidFill>
                  <a:schemeClr val="bg1"/>
                </a:solidFill>
                <a:latin typeface="Maven Pro" panose="020B0604020202020204" charset="0"/>
              </a:rPr>
              <a:t> using </a:t>
            </a:r>
            <a:r>
              <a:rPr lang="pt-PT" sz="1200" dirty="0" err="1">
                <a:solidFill>
                  <a:schemeClr val="bg1"/>
                </a:solidFill>
                <a:latin typeface="Maven Pro" panose="020B0604020202020204" charset="0"/>
              </a:rPr>
              <a:t>Pygame</a:t>
            </a:r>
            <a:r>
              <a:rPr lang="pt-PT" sz="1200" dirty="0">
                <a:solidFill>
                  <a:schemeClr val="bg1"/>
                </a:solidFill>
                <a:latin typeface="Maven Pro" panose="020B0604020202020204" charset="0"/>
              </a:rPr>
              <a:t>. </a:t>
            </a:r>
          </a:p>
          <a:p>
            <a:r>
              <a:rPr lang="pt-PT" sz="1200" dirty="0" err="1">
                <a:solidFill>
                  <a:schemeClr val="bg1"/>
                </a:solidFill>
                <a:latin typeface="Maven Pro" panose="020B0604020202020204" charset="0"/>
              </a:rPr>
              <a:t>Utilities</a:t>
            </a:r>
            <a:r>
              <a:rPr lang="pt-PT" sz="1200" dirty="0">
                <a:solidFill>
                  <a:schemeClr val="bg1"/>
                </a:solidFill>
                <a:latin typeface="Maven Pro" panose="020B0604020202020204" charset="0"/>
              </a:rPr>
              <a:t> Module: </a:t>
            </a:r>
            <a:r>
              <a:rPr lang="pt-PT" sz="1200" dirty="0" err="1">
                <a:solidFill>
                  <a:schemeClr val="bg1"/>
                </a:solidFill>
                <a:latin typeface="Maven Pro" panose="020B0604020202020204" charset="0"/>
              </a:rPr>
              <a:t>contains</a:t>
            </a:r>
            <a:r>
              <a:rPr lang="pt-PT" sz="1200" dirty="0">
                <a:solidFill>
                  <a:schemeClr val="bg1"/>
                </a:solidFill>
                <a:latin typeface="Maven Pro" panose="020B0604020202020204" charset="0"/>
              </a:rPr>
              <a:t> </a:t>
            </a:r>
            <a:r>
              <a:rPr lang="pt-PT" sz="1200" dirty="0" err="1">
                <a:solidFill>
                  <a:schemeClr val="bg1"/>
                </a:solidFill>
                <a:latin typeface="Maven Pro" panose="020B0604020202020204" charset="0"/>
              </a:rPr>
              <a:t>utility</a:t>
            </a:r>
            <a:r>
              <a:rPr lang="pt-PT" sz="1200" dirty="0">
                <a:solidFill>
                  <a:schemeClr val="bg1"/>
                </a:solidFill>
                <a:latin typeface="Maven Pro" panose="020B0604020202020204" charset="0"/>
              </a:rPr>
              <a:t> </a:t>
            </a:r>
            <a:r>
              <a:rPr lang="pt-PT" sz="1200" dirty="0" err="1">
                <a:solidFill>
                  <a:schemeClr val="bg1"/>
                </a:solidFill>
                <a:latin typeface="Maven Pro" panose="020B0604020202020204" charset="0"/>
              </a:rPr>
              <a:t>or</a:t>
            </a:r>
            <a:r>
              <a:rPr lang="pt-PT" sz="1200" dirty="0">
                <a:solidFill>
                  <a:schemeClr val="bg1"/>
                </a:solidFill>
                <a:latin typeface="Maven Pro" panose="020B0604020202020204" charset="0"/>
              </a:rPr>
              <a:t> </a:t>
            </a:r>
            <a:r>
              <a:rPr lang="pt-PT" sz="1200" dirty="0" err="1">
                <a:solidFill>
                  <a:schemeClr val="bg1"/>
                </a:solidFill>
                <a:latin typeface="Maven Pro" panose="020B0604020202020204" charset="0"/>
              </a:rPr>
              <a:t>helper</a:t>
            </a:r>
            <a:r>
              <a:rPr lang="pt-PT" sz="1200" dirty="0">
                <a:solidFill>
                  <a:schemeClr val="bg1"/>
                </a:solidFill>
                <a:latin typeface="Maven Pro" panose="020B0604020202020204" charset="0"/>
              </a:rPr>
              <a:t> </a:t>
            </a:r>
            <a:r>
              <a:rPr lang="pt-PT" sz="1200" dirty="0" err="1">
                <a:solidFill>
                  <a:schemeClr val="bg1"/>
                </a:solidFill>
                <a:latin typeface="Maven Pro" panose="020B0604020202020204" charset="0"/>
              </a:rPr>
              <a:t>functions</a:t>
            </a:r>
            <a:r>
              <a:rPr lang="pt-PT" sz="1200" dirty="0">
                <a:solidFill>
                  <a:schemeClr val="bg1"/>
                </a:solidFill>
                <a:latin typeface="Maven Pro" panose="020B0604020202020204" charset="0"/>
              </a:rPr>
              <a:t> </a:t>
            </a:r>
            <a:r>
              <a:rPr lang="pt-PT" sz="1200" dirty="0" err="1">
                <a:solidFill>
                  <a:schemeClr val="bg1"/>
                </a:solidFill>
                <a:latin typeface="Maven Pro" panose="020B0604020202020204" charset="0"/>
              </a:rPr>
              <a:t>that</a:t>
            </a:r>
            <a:r>
              <a:rPr lang="pt-PT" sz="1200" dirty="0">
                <a:solidFill>
                  <a:schemeClr val="bg1"/>
                </a:solidFill>
                <a:latin typeface="Maven Pro" panose="020B0604020202020204" charset="0"/>
              </a:rPr>
              <a:t> are </a:t>
            </a:r>
            <a:r>
              <a:rPr lang="pt-PT" sz="1200" dirty="0" err="1">
                <a:solidFill>
                  <a:schemeClr val="bg1"/>
                </a:solidFill>
                <a:latin typeface="Maven Pro" panose="020B0604020202020204" charset="0"/>
              </a:rPr>
              <a:t>used</a:t>
            </a:r>
            <a:r>
              <a:rPr lang="pt-PT" sz="1200" dirty="0">
                <a:solidFill>
                  <a:schemeClr val="bg1"/>
                </a:solidFill>
                <a:latin typeface="Maven Pro" panose="020B0604020202020204" charset="0"/>
              </a:rPr>
              <a:t> in </a:t>
            </a:r>
            <a:r>
              <a:rPr lang="pt-PT" sz="1200" dirty="0" err="1">
                <a:solidFill>
                  <a:schemeClr val="bg1"/>
                </a:solidFill>
                <a:latin typeface="Maven Pro" panose="020B0604020202020204" charset="0"/>
              </a:rPr>
              <a:t>the</a:t>
            </a:r>
            <a:r>
              <a:rPr lang="pt-PT" sz="1200" dirty="0">
                <a:solidFill>
                  <a:schemeClr val="bg1"/>
                </a:solidFill>
                <a:latin typeface="Maven Pro" panose="020B0604020202020204" charset="0"/>
              </a:rPr>
              <a:t> Project.</a:t>
            </a:r>
          </a:p>
        </p:txBody>
      </p:sp>
    </p:spTree>
    <p:extLst>
      <p:ext uri="{BB962C8B-B14F-4D97-AF65-F5344CB8AC3E}">
        <p14:creationId xmlns:p14="http://schemas.microsoft.com/office/powerpoint/2010/main" val="5863626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ela 4">
            <a:extLst>
              <a:ext uri="{FF2B5EF4-FFF2-40B4-BE49-F238E27FC236}">
                <a16:creationId xmlns:a16="http://schemas.microsoft.com/office/drawing/2014/main" id="{31464E85-BEB6-3786-29A3-90313CCC198C}"/>
              </a:ext>
            </a:extLst>
          </p:cNvPr>
          <p:cNvGraphicFramePr>
            <a:graphicFrameLocks noGrp="1"/>
          </p:cNvGraphicFramePr>
          <p:nvPr>
            <p:extLst>
              <p:ext uri="{D42A27DB-BD31-4B8C-83A1-F6EECF244321}">
                <p14:modId xmlns:p14="http://schemas.microsoft.com/office/powerpoint/2010/main" val="4077055673"/>
              </p:ext>
            </p:extLst>
          </p:nvPr>
        </p:nvGraphicFramePr>
        <p:xfrm>
          <a:off x="465826" y="1"/>
          <a:ext cx="8678175" cy="4993200"/>
        </p:xfrm>
        <a:graphic>
          <a:graphicData uri="http://schemas.openxmlformats.org/drawingml/2006/table">
            <a:tbl>
              <a:tblPr firstRow="1" firstCol="1" bandRow="1">
                <a:tableStyleId>{7E9639D4-E3E2-4D34-9284-5A2195B3D0D7}</a:tableStyleId>
              </a:tblPr>
              <a:tblGrid>
                <a:gridCol w="1735635">
                  <a:extLst>
                    <a:ext uri="{9D8B030D-6E8A-4147-A177-3AD203B41FA5}">
                      <a16:colId xmlns:a16="http://schemas.microsoft.com/office/drawing/2014/main" val="4225834048"/>
                    </a:ext>
                  </a:extLst>
                </a:gridCol>
                <a:gridCol w="1735635">
                  <a:extLst>
                    <a:ext uri="{9D8B030D-6E8A-4147-A177-3AD203B41FA5}">
                      <a16:colId xmlns:a16="http://schemas.microsoft.com/office/drawing/2014/main" val="383231823"/>
                    </a:ext>
                  </a:extLst>
                </a:gridCol>
                <a:gridCol w="1735635">
                  <a:extLst>
                    <a:ext uri="{9D8B030D-6E8A-4147-A177-3AD203B41FA5}">
                      <a16:colId xmlns:a16="http://schemas.microsoft.com/office/drawing/2014/main" val="4210171288"/>
                    </a:ext>
                  </a:extLst>
                </a:gridCol>
                <a:gridCol w="1735635">
                  <a:extLst>
                    <a:ext uri="{9D8B030D-6E8A-4147-A177-3AD203B41FA5}">
                      <a16:colId xmlns:a16="http://schemas.microsoft.com/office/drawing/2014/main" val="3168467826"/>
                    </a:ext>
                  </a:extLst>
                </a:gridCol>
                <a:gridCol w="1735635">
                  <a:extLst>
                    <a:ext uri="{9D8B030D-6E8A-4147-A177-3AD203B41FA5}">
                      <a16:colId xmlns:a16="http://schemas.microsoft.com/office/drawing/2014/main" val="4199566854"/>
                    </a:ext>
                  </a:extLst>
                </a:gridCol>
              </a:tblGrid>
              <a:tr h="453659">
                <a:tc>
                  <a:txBody>
                    <a:bodyPr/>
                    <a:lstStyle/>
                    <a:p>
                      <a:pPr algn="ctr"/>
                      <a:r>
                        <a:rPr lang="pt-PT" sz="1200" b="1" i="0" u="none" strike="noStrike" cap="small" baseline="0" dirty="0" err="1">
                          <a:solidFill>
                            <a:srgbClr val="EF9270"/>
                          </a:solidFill>
                          <a:latin typeface="+mn-lt"/>
                          <a:ea typeface="+mn-ea"/>
                          <a:cs typeface="+mn-cs"/>
                          <a:sym typeface="Arial"/>
                        </a:rPr>
                        <a:t>Board</a:t>
                      </a:r>
                      <a:r>
                        <a:rPr lang="pt-PT" sz="1200" cap="small" baseline="0" dirty="0">
                          <a:solidFill>
                            <a:srgbClr val="EF9270"/>
                          </a:solidFill>
                        </a:rPr>
                        <a:t> 6x6</a:t>
                      </a:r>
                      <a:br>
                        <a:rPr lang="pt-PT" sz="1200" cap="small" baseline="0" dirty="0">
                          <a:solidFill>
                            <a:schemeClr val="bg1"/>
                          </a:solidFill>
                        </a:rPr>
                      </a:br>
                      <a:r>
                        <a:rPr lang="pt-PT" sz="1200" cap="small" baseline="0" dirty="0" err="1">
                          <a:solidFill>
                            <a:schemeClr val="bg1"/>
                          </a:solidFill>
                        </a:rPr>
                        <a:t>Level</a:t>
                      </a:r>
                      <a:endParaRPr lang="pt-PT" sz="1200" cap="small" baseline="0" dirty="0">
                        <a:solidFill>
                          <a:schemeClr val="bg1"/>
                        </a:solidFill>
                      </a:endParaRPr>
                    </a:p>
                  </a:txBody>
                  <a:tcPr anchor="ctr"/>
                </a:tc>
                <a:tc>
                  <a:txBody>
                    <a:bodyPr/>
                    <a:lstStyle/>
                    <a:p>
                      <a:pPr algn="ctr"/>
                      <a:r>
                        <a:rPr lang="pt-PT" sz="1200" cap="small" baseline="0" dirty="0" err="1">
                          <a:solidFill>
                            <a:schemeClr val="bg1"/>
                          </a:solidFill>
                        </a:rPr>
                        <a:t>Algorithm</a:t>
                      </a:r>
                      <a:endParaRPr lang="pt-PT" sz="1200" cap="small" baseline="0" dirty="0">
                        <a:solidFill>
                          <a:schemeClr val="bg1"/>
                        </a:solidFill>
                      </a:endParaRPr>
                    </a:p>
                  </a:txBody>
                  <a:tcPr anchor="ctr"/>
                </a:tc>
                <a:tc>
                  <a:txBody>
                    <a:bodyPr/>
                    <a:lstStyle/>
                    <a:p>
                      <a:pPr algn="ctr"/>
                      <a:r>
                        <a:rPr lang="pt-PT" sz="1200" cap="small" baseline="0" dirty="0">
                          <a:solidFill>
                            <a:schemeClr val="bg1"/>
                          </a:solidFill>
                        </a:rPr>
                        <a:t>Time</a:t>
                      </a:r>
                    </a:p>
                  </a:txBody>
                  <a:tcPr anchor="ctr"/>
                </a:tc>
                <a:tc>
                  <a:txBody>
                    <a:bodyPr/>
                    <a:lstStyle/>
                    <a:p>
                      <a:pPr algn="ctr"/>
                      <a:r>
                        <a:rPr lang="pt-PT" sz="1200" cap="small" baseline="0" dirty="0">
                          <a:solidFill>
                            <a:schemeClr val="bg1"/>
                          </a:solidFill>
                        </a:rPr>
                        <a:t>Nodes</a:t>
                      </a:r>
                    </a:p>
                  </a:txBody>
                  <a:tcPr anchor="ctr"/>
                </a:tc>
                <a:tc>
                  <a:txBody>
                    <a:bodyPr/>
                    <a:lstStyle/>
                    <a:p>
                      <a:pPr algn="ctr"/>
                      <a:r>
                        <a:rPr lang="pt-PT" sz="1200" b="1" i="0" u="none" strike="noStrike" cap="small" baseline="0" dirty="0" err="1">
                          <a:solidFill>
                            <a:schemeClr val="bg1"/>
                          </a:solidFill>
                          <a:latin typeface="+mn-lt"/>
                          <a:ea typeface="+mn-ea"/>
                          <a:cs typeface="+mn-cs"/>
                          <a:sym typeface="Arial"/>
                        </a:rPr>
                        <a:t>Length</a:t>
                      </a:r>
                      <a:r>
                        <a:rPr lang="pt-PT" sz="1200" b="1" i="0" u="none" strike="noStrike" cap="small" baseline="0" dirty="0">
                          <a:solidFill>
                            <a:schemeClr val="bg1"/>
                          </a:solidFill>
                          <a:latin typeface="+mn-lt"/>
                          <a:ea typeface="+mn-ea"/>
                          <a:cs typeface="+mn-cs"/>
                          <a:sym typeface="Arial"/>
                        </a:rPr>
                        <a:t> </a:t>
                      </a:r>
                      <a:r>
                        <a:rPr lang="pt-PT" sz="1200" b="1" i="0" u="none" strike="noStrike" cap="small" baseline="0" dirty="0" err="1">
                          <a:solidFill>
                            <a:schemeClr val="bg1"/>
                          </a:solidFill>
                          <a:latin typeface="+mn-lt"/>
                          <a:ea typeface="+mn-ea"/>
                          <a:cs typeface="+mn-cs"/>
                          <a:sym typeface="Arial"/>
                        </a:rPr>
                        <a:t>solution</a:t>
                      </a:r>
                      <a:endParaRPr lang="pt-PT" sz="1200" b="1" i="0" u="none" strike="noStrike" cap="small" baseline="0" dirty="0">
                        <a:solidFill>
                          <a:schemeClr val="bg1"/>
                        </a:solidFill>
                        <a:latin typeface="+mn-lt"/>
                        <a:ea typeface="+mn-ea"/>
                        <a:cs typeface="+mn-cs"/>
                        <a:sym typeface="Arial"/>
                      </a:endParaRPr>
                    </a:p>
                  </a:txBody>
                  <a:tcPr anchor="ctr"/>
                </a:tc>
                <a:extLst>
                  <a:ext uri="{0D108BD9-81ED-4DB2-BD59-A6C34878D82A}">
                    <a16:rowId xmlns:a16="http://schemas.microsoft.com/office/drawing/2014/main" val="1134648701"/>
                  </a:ext>
                </a:extLst>
              </a:tr>
              <a:tr h="378000">
                <a:tc>
                  <a:txBody>
                    <a:bodyPr/>
                    <a:lstStyle/>
                    <a:p>
                      <a:pPr algn="ctr"/>
                      <a:r>
                        <a:rPr lang="pt-PT" sz="1100" b="0" u="none" strike="noStrike" cap="none" baseline="0" dirty="0">
                          <a:solidFill>
                            <a:schemeClr val="bg1"/>
                          </a:solidFill>
                          <a:sym typeface="Arial"/>
                        </a:rPr>
                        <a:t> </a:t>
                      </a:r>
                      <a:r>
                        <a:rPr lang="pt-PT" sz="1100" b="1" u="none" strike="noStrike" cap="none" baseline="0" dirty="0" err="1">
                          <a:solidFill>
                            <a:schemeClr val="bg1"/>
                          </a:solidFill>
                          <a:sym typeface="Arial"/>
                        </a:rPr>
                        <a:t>beginner</a:t>
                      </a:r>
                      <a:r>
                        <a:rPr lang="pt-PT" sz="1100" b="1" u="none" strike="noStrike" cap="none" baseline="0" dirty="0">
                          <a:solidFill>
                            <a:schemeClr val="bg1"/>
                          </a:solidFill>
                          <a:sym typeface="Arial"/>
                        </a:rPr>
                        <a:t> </a:t>
                      </a:r>
                      <a:endParaRPr lang="pt-PT" sz="1100" dirty="0">
                        <a:solidFill>
                          <a:schemeClr val="bg1"/>
                        </a:solidFill>
                      </a:endParaRPr>
                    </a:p>
                  </a:txBody>
                  <a:tcPr anchor="ctr"/>
                </a:tc>
                <a:tc>
                  <a:txBody>
                    <a:bodyPr/>
                    <a:lstStyle/>
                    <a:p>
                      <a:pPr algn="ctr"/>
                      <a:r>
                        <a:rPr lang="pt-PT" sz="1100" b="1" u="none" strike="noStrike" cap="none" baseline="0" dirty="0">
                          <a:solidFill>
                            <a:schemeClr val="bg1"/>
                          </a:solidFill>
                          <a:sym typeface="Arial"/>
                        </a:rPr>
                        <a:t> BFS</a:t>
                      </a:r>
                      <a:endParaRPr lang="pt-PT" sz="1100" b="1" dirty="0">
                        <a:solidFill>
                          <a:schemeClr val="bg1"/>
                        </a:solidFill>
                      </a:endParaRPr>
                    </a:p>
                  </a:txBody>
                  <a:tcPr anchor="ctr"/>
                </a:tc>
                <a:tc>
                  <a:txBody>
                    <a:bodyPr/>
                    <a:lstStyle/>
                    <a:p>
                      <a:pPr algn="ctr"/>
                      <a:r>
                        <a:rPr lang="pt-PT" sz="1100" b="0" u="none" strike="noStrike" cap="none" baseline="0" dirty="0">
                          <a:solidFill>
                            <a:schemeClr val="bg1"/>
                          </a:solidFill>
                          <a:sym typeface="Arial"/>
                        </a:rPr>
                        <a:t> 0.6562466621398926</a:t>
                      </a:r>
                      <a:endParaRPr lang="pt-PT" sz="1100" dirty="0">
                        <a:solidFill>
                          <a:schemeClr val="bg1"/>
                        </a:solidFill>
                      </a:endParaRPr>
                    </a:p>
                  </a:txBody>
                  <a:tcPr anchor="ctr"/>
                </a:tc>
                <a:tc>
                  <a:txBody>
                    <a:bodyPr/>
                    <a:lstStyle/>
                    <a:p>
                      <a:pPr algn="ctr"/>
                      <a:r>
                        <a:rPr lang="pt-PT" sz="1100" b="0" u="none" strike="noStrike" cap="none" baseline="0" dirty="0">
                          <a:solidFill>
                            <a:schemeClr val="bg1"/>
                          </a:solidFill>
                          <a:sym typeface="Arial"/>
                        </a:rPr>
                        <a:t> 1072</a:t>
                      </a:r>
                      <a:endParaRPr lang="pt-PT" sz="1100" dirty="0">
                        <a:solidFill>
                          <a:schemeClr val="bg1"/>
                        </a:solidFill>
                      </a:endParaRPr>
                    </a:p>
                  </a:txBody>
                  <a:tcPr anchor="ctr"/>
                </a:tc>
                <a:tc>
                  <a:txBody>
                    <a:bodyPr/>
                    <a:lstStyle/>
                    <a:p>
                      <a:pPr algn="ctr"/>
                      <a:r>
                        <a:rPr lang="pt-PT" sz="1100" dirty="0">
                          <a:solidFill>
                            <a:schemeClr val="bg1"/>
                          </a:solidFill>
                        </a:rPr>
                        <a:t>17</a:t>
                      </a:r>
                    </a:p>
                  </a:txBody>
                  <a:tcPr anchor="ctr"/>
                </a:tc>
                <a:extLst>
                  <a:ext uri="{0D108BD9-81ED-4DB2-BD59-A6C34878D82A}">
                    <a16:rowId xmlns:a16="http://schemas.microsoft.com/office/drawing/2014/main" val="2614842981"/>
                  </a:ext>
                </a:extLst>
              </a:tr>
              <a:tr h="37800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pt-PT" sz="1100" b="1" u="none" strike="noStrike" cap="none" baseline="0" dirty="0" err="1">
                          <a:solidFill>
                            <a:schemeClr val="bg1"/>
                          </a:solidFill>
                          <a:sym typeface="Arial"/>
                        </a:rPr>
                        <a:t>beginner</a:t>
                      </a:r>
                      <a:endParaRPr lang="pt-PT" sz="1100" dirty="0">
                        <a:solidFill>
                          <a:schemeClr val="bg1"/>
                        </a:solidFill>
                      </a:endParaRPr>
                    </a:p>
                  </a:txBody>
                  <a:tcPr anchor="ctr"/>
                </a:tc>
                <a:tc>
                  <a:txBody>
                    <a:bodyPr/>
                    <a:lstStyle/>
                    <a:p>
                      <a:pPr algn="ctr"/>
                      <a:r>
                        <a:rPr lang="pt-PT" sz="1100" b="1" dirty="0">
                          <a:solidFill>
                            <a:schemeClr val="bg1"/>
                          </a:solidFill>
                        </a:rPr>
                        <a:t>DFS</a:t>
                      </a:r>
                    </a:p>
                  </a:txBody>
                  <a:tcPr anchor="ctr"/>
                </a:tc>
                <a:tc>
                  <a:txBody>
                    <a:bodyPr/>
                    <a:lstStyle/>
                    <a:p>
                      <a:pPr algn="ctr"/>
                      <a:r>
                        <a:rPr lang="pt-PT" sz="1100" dirty="0">
                          <a:solidFill>
                            <a:schemeClr val="bg1"/>
                          </a:solidFill>
                        </a:rPr>
                        <a:t>0.046881914138793945</a:t>
                      </a:r>
                    </a:p>
                  </a:txBody>
                  <a:tcPr anchor="ctr"/>
                </a:tc>
                <a:tc>
                  <a:txBody>
                    <a:bodyPr/>
                    <a:lstStyle/>
                    <a:p>
                      <a:pPr algn="ctr"/>
                      <a:r>
                        <a:rPr lang="pt-PT" sz="1100" dirty="0">
                          <a:solidFill>
                            <a:schemeClr val="bg1"/>
                          </a:solidFill>
                        </a:rPr>
                        <a:t>163</a:t>
                      </a:r>
                    </a:p>
                  </a:txBody>
                  <a:tcPr anchor="ctr"/>
                </a:tc>
                <a:tc>
                  <a:txBody>
                    <a:bodyPr/>
                    <a:lstStyle/>
                    <a:p>
                      <a:pPr algn="ctr"/>
                      <a:r>
                        <a:rPr lang="pt-PT" sz="1100" dirty="0">
                          <a:solidFill>
                            <a:schemeClr val="bg1"/>
                          </a:solidFill>
                        </a:rPr>
                        <a:t>160</a:t>
                      </a:r>
                    </a:p>
                  </a:txBody>
                  <a:tcPr anchor="ctr"/>
                </a:tc>
                <a:extLst>
                  <a:ext uri="{0D108BD9-81ED-4DB2-BD59-A6C34878D82A}">
                    <a16:rowId xmlns:a16="http://schemas.microsoft.com/office/drawing/2014/main" val="111316425"/>
                  </a:ext>
                </a:extLst>
              </a:tr>
              <a:tr h="37800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pt-PT" sz="1100" b="1" u="none" strike="noStrike" cap="none" baseline="0" dirty="0" err="1">
                          <a:solidFill>
                            <a:schemeClr val="bg1"/>
                          </a:solidFill>
                          <a:sym typeface="Arial"/>
                        </a:rPr>
                        <a:t>beginner</a:t>
                      </a:r>
                      <a:endParaRPr lang="pt-PT" sz="1100" b="1" i="0" u="none" strike="noStrike" cap="none" baseline="0" dirty="0">
                        <a:solidFill>
                          <a:schemeClr val="bg1"/>
                        </a:solidFill>
                        <a:latin typeface="Arial"/>
                        <a:cs typeface="Arial"/>
                        <a:sym typeface="Arial"/>
                      </a:endParaRPr>
                    </a:p>
                  </a:txBody>
                  <a:tcPr anchor="ctr">
                    <a:lnB w="12700" cap="flat" cmpd="sng" algn="ctr">
                      <a:solidFill>
                        <a:srgbClr val="FF9973"/>
                      </a:solidFill>
                      <a:prstDash val="solid"/>
                      <a:round/>
                      <a:headEnd type="none" w="med" len="med"/>
                      <a:tailEnd type="none" w="med" len="med"/>
                    </a:lnB>
                  </a:tcPr>
                </a:tc>
                <a:tc>
                  <a:txBody>
                    <a:bodyPr/>
                    <a:lstStyle/>
                    <a:p>
                      <a:pPr algn="ctr"/>
                      <a:r>
                        <a:rPr lang="pt-PT" sz="1100" b="1" dirty="0">
                          <a:solidFill>
                            <a:schemeClr val="bg1"/>
                          </a:solidFill>
                        </a:rPr>
                        <a:t>A*</a:t>
                      </a:r>
                    </a:p>
                  </a:txBody>
                  <a:tcPr anchor="ctr">
                    <a:lnB w="12700" cap="flat" cmpd="sng" algn="ctr">
                      <a:solidFill>
                        <a:srgbClr val="FF9973"/>
                      </a:solidFill>
                      <a:prstDash val="solid"/>
                      <a:round/>
                      <a:headEnd type="none" w="med" len="med"/>
                      <a:tailEnd type="none" w="med" len="med"/>
                    </a:lnB>
                  </a:tcPr>
                </a:tc>
                <a:tc>
                  <a:txBody>
                    <a:bodyPr/>
                    <a:lstStyle/>
                    <a:p>
                      <a:pPr algn="ctr"/>
                      <a:r>
                        <a:rPr lang="pt-PT" sz="1100" b="0" i="0" u="none" strike="noStrike" cap="none" dirty="0">
                          <a:solidFill>
                            <a:schemeClr val="bg1"/>
                          </a:solidFill>
                          <a:latin typeface="+mn-lt"/>
                          <a:cs typeface="Arial"/>
                          <a:sym typeface="Arial"/>
                        </a:rPr>
                        <a:t>1.7731499671936035</a:t>
                      </a:r>
                      <a:endParaRPr lang="pt-PT" sz="1100" b="0" i="0" u="none" strike="noStrike" cap="none" dirty="0">
                        <a:solidFill>
                          <a:schemeClr val="bg1"/>
                        </a:solidFill>
                        <a:latin typeface="Arial"/>
                        <a:cs typeface="Arial"/>
                        <a:sym typeface="Arial"/>
                      </a:endParaRPr>
                    </a:p>
                  </a:txBody>
                  <a:tcPr anchor="ctr">
                    <a:lnB w="12700" cap="flat" cmpd="sng" algn="ctr">
                      <a:solidFill>
                        <a:srgbClr val="FF9973"/>
                      </a:solidFill>
                      <a:prstDash val="solid"/>
                      <a:round/>
                      <a:headEnd type="none" w="med" len="med"/>
                      <a:tailEnd type="none" w="med" len="med"/>
                    </a:lnB>
                  </a:tcPr>
                </a:tc>
                <a:tc>
                  <a:txBody>
                    <a:bodyPr/>
                    <a:lstStyle/>
                    <a:p>
                      <a:pPr algn="ctr"/>
                      <a:r>
                        <a:rPr lang="pt-PT" sz="1100" dirty="0">
                          <a:solidFill>
                            <a:schemeClr val="bg1"/>
                          </a:solidFill>
                        </a:rPr>
                        <a:t>4</a:t>
                      </a:r>
                    </a:p>
                  </a:txBody>
                  <a:tcPr anchor="ctr">
                    <a:lnB w="12700" cap="flat" cmpd="sng" algn="ctr">
                      <a:solidFill>
                        <a:srgbClr val="FF9973"/>
                      </a:solidFill>
                      <a:prstDash val="solid"/>
                      <a:round/>
                      <a:headEnd type="none" w="med" len="med"/>
                      <a:tailEnd type="none" w="med" len="med"/>
                    </a:lnB>
                  </a:tcPr>
                </a:tc>
                <a:tc>
                  <a:txBody>
                    <a:bodyPr/>
                    <a:lstStyle/>
                    <a:p>
                      <a:pPr algn="ctr"/>
                      <a:endParaRPr lang="pt-PT" sz="1100" dirty="0">
                        <a:solidFill>
                          <a:schemeClr val="bg1"/>
                        </a:solidFill>
                      </a:endParaRPr>
                    </a:p>
                  </a:txBody>
                  <a:tcPr anchor="ctr">
                    <a:lnB w="12700" cap="flat" cmpd="sng" algn="ctr">
                      <a:solidFill>
                        <a:srgbClr val="FF9973"/>
                      </a:solidFill>
                      <a:prstDash val="solid"/>
                      <a:round/>
                      <a:headEnd type="none" w="med" len="med"/>
                      <a:tailEnd type="none" w="med" len="med"/>
                    </a:lnB>
                  </a:tcPr>
                </a:tc>
                <a:extLst>
                  <a:ext uri="{0D108BD9-81ED-4DB2-BD59-A6C34878D82A}">
                    <a16:rowId xmlns:a16="http://schemas.microsoft.com/office/drawing/2014/main" val="1378393370"/>
                  </a:ext>
                </a:extLst>
              </a:tr>
              <a:tr h="37800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pt-PT" sz="1100" b="1" u="none" strike="noStrike" cap="none" baseline="0" dirty="0" err="1">
                          <a:solidFill>
                            <a:schemeClr val="bg1"/>
                          </a:solidFill>
                          <a:sym typeface="Arial"/>
                        </a:rPr>
                        <a:t>intermediate</a:t>
                      </a:r>
                      <a:endParaRPr lang="pt-PT" sz="1100" b="1" i="0" u="none" strike="noStrike" cap="none" baseline="0" dirty="0">
                        <a:solidFill>
                          <a:schemeClr val="bg1"/>
                        </a:solidFill>
                        <a:latin typeface="Arial"/>
                        <a:cs typeface="Arial"/>
                        <a:sym typeface="Arial"/>
                      </a:endParaRPr>
                    </a:p>
                  </a:txBody>
                  <a:tcPr anchor="ctr">
                    <a:lnT w="12700" cap="flat" cmpd="sng" algn="ctr">
                      <a:solidFill>
                        <a:srgbClr val="FF9973"/>
                      </a:solidFill>
                      <a:prstDash val="solid"/>
                      <a:round/>
                      <a:headEnd type="none" w="med" len="med"/>
                      <a:tailEnd type="none" w="med" len="med"/>
                    </a:lnT>
                  </a:tcPr>
                </a:tc>
                <a:tc>
                  <a:txBody>
                    <a:bodyPr/>
                    <a:lstStyle/>
                    <a:p>
                      <a:pPr algn="ctr"/>
                      <a:r>
                        <a:rPr lang="pt-PT" sz="1100" b="1" u="none" strike="noStrike" cap="none" baseline="0" dirty="0">
                          <a:solidFill>
                            <a:schemeClr val="bg1"/>
                          </a:solidFill>
                          <a:sym typeface="Arial"/>
                        </a:rPr>
                        <a:t> BFS </a:t>
                      </a:r>
                      <a:endParaRPr lang="pt-PT" sz="1100" b="1" dirty="0">
                        <a:solidFill>
                          <a:schemeClr val="bg1"/>
                        </a:solidFill>
                      </a:endParaRPr>
                    </a:p>
                  </a:txBody>
                  <a:tcPr anchor="ctr">
                    <a:lnT w="12700" cap="flat" cmpd="sng" algn="ctr">
                      <a:solidFill>
                        <a:srgbClr val="FF9973"/>
                      </a:solidFill>
                      <a:prstDash val="solid"/>
                      <a:round/>
                      <a:headEnd type="none" w="med" len="med"/>
                      <a:tailEnd type="none" w="med" len="med"/>
                    </a:lnT>
                  </a:tcPr>
                </a:tc>
                <a:tc>
                  <a:txBody>
                    <a:bodyPr/>
                    <a:lstStyle/>
                    <a:p>
                      <a:pPr algn="ctr"/>
                      <a:r>
                        <a:rPr lang="pt-PT" sz="1100" b="0" u="none" strike="noStrike" cap="none" dirty="0">
                          <a:solidFill>
                            <a:schemeClr val="bg1"/>
                          </a:solidFill>
                          <a:sym typeface="Arial"/>
                        </a:rPr>
                        <a:t> 0.3437495231628418 </a:t>
                      </a:r>
                      <a:endParaRPr lang="pt-PT" sz="1100" b="0" i="0" u="none" strike="noStrike" cap="none" dirty="0">
                        <a:solidFill>
                          <a:schemeClr val="bg1"/>
                        </a:solidFill>
                        <a:latin typeface="Arial"/>
                        <a:cs typeface="Arial"/>
                        <a:sym typeface="Arial"/>
                      </a:endParaRPr>
                    </a:p>
                  </a:txBody>
                  <a:tcPr anchor="ctr">
                    <a:lnT w="12700" cap="flat" cmpd="sng" algn="ctr">
                      <a:solidFill>
                        <a:srgbClr val="FF9973"/>
                      </a:solidFill>
                      <a:prstDash val="solid"/>
                      <a:round/>
                      <a:headEnd type="none" w="med" len="med"/>
                      <a:tailEnd type="none" w="med" len="med"/>
                    </a:lnT>
                  </a:tcPr>
                </a:tc>
                <a:tc>
                  <a:txBody>
                    <a:bodyPr/>
                    <a:lstStyle/>
                    <a:p>
                      <a:pPr algn="ctr"/>
                      <a:r>
                        <a:rPr lang="pt-PT" sz="1100" dirty="0">
                          <a:solidFill>
                            <a:schemeClr val="bg1"/>
                          </a:solidFill>
                        </a:rPr>
                        <a:t>849</a:t>
                      </a:r>
                    </a:p>
                  </a:txBody>
                  <a:tcPr anchor="ctr">
                    <a:lnT w="12700" cap="flat" cmpd="sng" algn="ctr">
                      <a:solidFill>
                        <a:srgbClr val="FF9973"/>
                      </a:solidFill>
                      <a:prstDash val="solid"/>
                      <a:round/>
                      <a:headEnd type="none" w="med" len="med"/>
                      <a:tailEnd type="none" w="med" len="med"/>
                    </a:lnT>
                  </a:tcPr>
                </a:tc>
                <a:tc>
                  <a:txBody>
                    <a:bodyPr/>
                    <a:lstStyle/>
                    <a:p>
                      <a:pPr algn="ctr"/>
                      <a:r>
                        <a:rPr lang="pt-PT" sz="1100" dirty="0">
                          <a:solidFill>
                            <a:schemeClr val="bg1"/>
                          </a:solidFill>
                        </a:rPr>
                        <a:t>57</a:t>
                      </a:r>
                    </a:p>
                  </a:txBody>
                  <a:tcPr anchor="ctr">
                    <a:lnT w="12700" cap="flat" cmpd="sng" algn="ctr">
                      <a:solidFill>
                        <a:srgbClr val="FF9973"/>
                      </a:solidFill>
                      <a:prstDash val="solid"/>
                      <a:round/>
                      <a:headEnd type="none" w="med" len="med"/>
                      <a:tailEnd type="none" w="med" len="med"/>
                    </a:lnT>
                  </a:tcPr>
                </a:tc>
                <a:extLst>
                  <a:ext uri="{0D108BD9-81ED-4DB2-BD59-A6C34878D82A}">
                    <a16:rowId xmlns:a16="http://schemas.microsoft.com/office/drawing/2014/main" val="1790665309"/>
                  </a:ext>
                </a:extLst>
              </a:tr>
              <a:tr h="37800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pt-PT" sz="1100" b="1" u="none" strike="noStrike" cap="none" baseline="0" dirty="0" err="1">
                          <a:solidFill>
                            <a:schemeClr val="bg1"/>
                          </a:solidFill>
                          <a:sym typeface="Arial"/>
                        </a:rPr>
                        <a:t>intermediate</a:t>
                      </a:r>
                      <a:endParaRPr lang="pt-PT" sz="1100" dirty="0">
                        <a:solidFill>
                          <a:schemeClr val="bg1"/>
                        </a:solidFill>
                      </a:endParaRPr>
                    </a:p>
                  </a:txBody>
                  <a:tcPr anchor="ctr"/>
                </a:tc>
                <a:tc>
                  <a:txBody>
                    <a:bodyPr/>
                    <a:lstStyle/>
                    <a:p>
                      <a:pPr algn="ctr"/>
                      <a:r>
                        <a:rPr lang="pt-PT" sz="1100" b="1" dirty="0">
                          <a:solidFill>
                            <a:schemeClr val="bg1"/>
                          </a:solidFill>
                        </a:rPr>
                        <a:t>DFS</a:t>
                      </a:r>
                    </a:p>
                  </a:txBody>
                  <a:tcPr anchor="ctr"/>
                </a:tc>
                <a:tc>
                  <a:txBody>
                    <a:bodyPr/>
                    <a:lstStyle/>
                    <a:p>
                      <a:pPr algn="ctr"/>
                      <a:r>
                        <a:rPr lang="pt-PT" sz="1100" b="0" u="none" strike="noStrike" cap="none" dirty="0">
                          <a:solidFill>
                            <a:schemeClr val="bg1"/>
                          </a:solidFill>
                          <a:sym typeface="Arial"/>
                        </a:rPr>
                        <a:t>0.09393453598022461 </a:t>
                      </a:r>
                      <a:endParaRPr lang="pt-PT" sz="1100" b="0" i="0" u="none" strike="noStrike" cap="none" dirty="0">
                        <a:solidFill>
                          <a:schemeClr val="bg1"/>
                        </a:solidFill>
                        <a:latin typeface="Arial"/>
                        <a:cs typeface="Arial"/>
                        <a:sym typeface="Arial"/>
                      </a:endParaRPr>
                    </a:p>
                  </a:txBody>
                  <a:tcPr anchor="ctr"/>
                </a:tc>
                <a:tc>
                  <a:txBody>
                    <a:bodyPr/>
                    <a:lstStyle/>
                    <a:p>
                      <a:pPr algn="ctr"/>
                      <a:r>
                        <a:rPr lang="pt-PT" sz="1100" dirty="0">
                          <a:solidFill>
                            <a:schemeClr val="bg1"/>
                          </a:solidFill>
                        </a:rPr>
                        <a:t>327</a:t>
                      </a:r>
                    </a:p>
                  </a:txBody>
                  <a:tcPr anchor="ctr"/>
                </a:tc>
                <a:tc>
                  <a:txBody>
                    <a:bodyPr/>
                    <a:lstStyle/>
                    <a:p>
                      <a:pPr algn="ctr"/>
                      <a:r>
                        <a:rPr lang="pt-PT" sz="1100" dirty="0">
                          <a:solidFill>
                            <a:schemeClr val="bg1"/>
                          </a:solidFill>
                        </a:rPr>
                        <a:t>161</a:t>
                      </a:r>
                    </a:p>
                  </a:txBody>
                  <a:tcPr anchor="ctr"/>
                </a:tc>
                <a:extLst>
                  <a:ext uri="{0D108BD9-81ED-4DB2-BD59-A6C34878D82A}">
                    <a16:rowId xmlns:a16="http://schemas.microsoft.com/office/drawing/2014/main" val="2356059830"/>
                  </a:ext>
                </a:extLst>
              </a:tr>
              <a:tr h="37800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pt-PT" sz="1100" b="1" u="none" strike="noStrike" cap="none" baseline="0" dirty="0" err="1">
                          <a:solidFill>
                            <a:schemeClr val="bg1"/>
                          </a:solidFill>
                          <a:sym typeface="Arial"/>
                        </a:rPr>
                        <a:t>intermediate</a:t>
                      </a:r>
                      <a:endParaRPr lang="pt-PT" sz="1100" b="1" i="0" u="none" strike="noStrike" cap="none" baseline="0" dirty="0">
                        <a:solidFill>
                          <a:schemeClr val="bg1"/>
                        </a:solidFill>
                        <a:latin typeface="Arial"/>
                        <a:cs typeface="Arial"/>
                        <a:sym typeface="Arial"/>
                      </a:endParaRPr>
                    </a:p>
                  </a:txBody>
                  <a:tcPr anchor="ctr">
                    <a:lnB w="12700" cap="flat" cmpd="sng" algn="ctr">
                      <a:solidFill>
                        <a:srgbClr val="FF9973"/>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pt-PT" sz="1100" b="1" dirty="0">
                          <a:solidFill>
                            <a:schemeClr val="bg1"/>
                          </a:solidFill>
                        </a:rPr>
                        <a:t>A*</a:t>
                      </a:r>
                    </a:p>
                  </a:txBody>
                  <a:tcPr anchor="ctr">
                    <a:lnB w="12700" cap="flat" cmpd="sng" algn="ctr">
                      <a:solidFill>
                        <a:srgbClr val="FF9973"/>
                      </a:solidFill>
                      <a:prstDash val="solid"/>
                      <a:round/>
                      <a:headEnd type="none" w="med" len="med"/>
                      <a:tailEnd type="none" w="med" len="med"/>
                    </a:lnB>
                  </a:tcPr>
                </a:tc>
                <a:tc>
                  <a:txBody>
                    <a:bodyPr/>
                    <a:lstStyle/>
                    <a:p>
                      <a:pPr algn="ctr"/>
                      <a:r>
                        <a:rPr lang="pt-PT" sz="1100" b="0" i="0" u="none" strike="noStrike" cap="none" dirty="0">
                          <a:solidFill>
                            <a:schemeClr val="bg1"/>
                          </a:solidFill>
                          <a:latin typeface="+mn-lt"/>
                          <a:cs typeface="Arial"/>
                          <a:sym typeface="Arial"/>
                        </a:rPr>
                        <a:t>1.0236270427703857</a:t>
                      </a:r>
                      <a:endParaRPr lang="pt-PT" sz="1100" b="0" i="0" u="none" strike="noStrike" cap="none" dirty="0">
                        <a:solidFill>
                          <a:schemeClr val="bg1"/>
                        </a:solidFill>
                        <a:latin typeface="Arial"/>
                        <a:cs typeface="Arial"/>
                        <a:sym typeface="Arial"/>
                      </a:endParaRPr>
                    </a:p>
                  </a:txBody>
                  <a:tcPr anchor="ctr">
                    <a:lnB w="12700" cap="flat" cmpd="sng" algn="ctr">
                      <a:solidFill>
                        <a:srgbClr val="FF9973"/>
                      </a:solidFill>
                      <a:prstDash val="solid"/>
                      <a:round/>
                      <a:headEnd type="none" w="med" len="med"/>
                      <a:tailEnd type="none" w="med" len="med"/>
                    </a:lnB>
                  </a:tcPr>
                </a:tc>
                <a:tc>
                  <a:txBody>
                    <a:bodyPr/>
                    <a:lstStyle/>
                    <a:p>
                      <a:pPr algn="ctr"/>
                      <a:r>
                        <a:rPr lang="pt-PT" sz="1100" dirty="0">
                          <a:solidFill>
                            <a:schemeClr val="bg1"/>
                          </a:solidFill>
                        </a:rPr>
                        <a:t>11</a:t>
                      </a:r>
                    </a:p>
                  </a:txBody>
                  <a:tcPr anchor="ctr">
                    <a:lnB w="12700" cap="flat" cmpd="sng" algn="ctr">
                      <a:solidFill>
                        <a:srgbClr val="FF9973"/>
                      </a:solidFill>
                      <a:prstDash val="solid"/>
                      <a:round/>
                      <a:headEnd type="none" w="med" len="med"/>
                      <a:tailEnd type="none" w="med" len="med"/>
                    </a:lnB>
                  </a:tcPr>
                </a:tc>
                <a:tc>
                  <a:txBody>
                    <a:bodyPr/>
                    <a:lstStyle/>
                    <a:p>
                      <a:pPr algn="ctr"/>
                      <a:endParaRPr lang="pt-PT" sz="1100" dirty="0">
                        <a:solidFill>
                          <a:schemeClr val="bg1"/>
                        </a:solidFill>
                      </a:endParaRPr>
                    </a:p>
                  </a:txBody>
                  <a:tcPr anchor="ctr">
                    <a:lnB w="12700" cap="flat" cmpd="sng" algn="ctr">
                      <a:solidFill>
                        <a:srgbClr val="FF9973"/>
                      </a:solidFill>
                      <a:prstDash val="solid"/>
                      <a:round/>
                      <a:headEnd type="none" w="med" len="med"/>
                      <a:tailEnd type="none" w="med" len="med"/>
                    </a:lnB>
                  </a:tcPr>
                </a:tc>
                <a:extLst>
                  <a:ext uri="{0D108BD9-81ED-4DB2-BD59-A6C34878D82A}">
                    <a16:rowId xmlns:a16="http://schemas.microsoft.com/office/drawing/2014/main" val="30234864"/>
                  </a:ext>
                </a:extLst>
              </a:tr>
              <a:tr h="37800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pt-PT" sz="1100" b="1" u="none" strike="noStrike" cap="none" baseline="0" dirty="0" err="1">
                          <a:solidFill>
                            <a:schemeClr val="bg1"/>
                          </a:solidFill>
                          <a:sym typeface="Arial"/>
                        </a:rPr>
                        <a:t>advanced</a:t>
                      </a:r>
                      <a:endParaRPr lang="pt-PT" sz="1100" b="1" i="0" u="none" strike="noStrike" cap="none" baseline="0" dirty="0">
                        <a:solidFill>
                          <a:schemeClr val="bg1"/>
                        </a:solidFill>
                        <a:latin typeface="Arial"/>
                        <a:cs typeface="Arial"/>
                        <a:sym typeface="Arial"/>
                      </a:endParaRPr>
                    </a:p>
                  </a:txBody>
                  <a:tcPr anchor="ctr">
                    <a:lnT w="12700" cap="flat" cmpd="sng" algn="ctr">
                      <a:solidFill>
                        <a:srgbClr val="FF9973"/>
                      </a:solidFill>
                      <a:prstDash val="solid"/>
                      <a:round/>
                      <a:headEnd type="none" w="med" len="med"/>
                      <a:tailEnd type="none" w="med" len="med"/>
                    </a:lnT>
                  </a:tcPr>
                </a:tc>
                <a:tc>
                  <a:txBody>
                    <a:bodyPr/>
                    <a:lstStyle/>
                    <a:p>
                      <a:pPr algn="ctr"/>
                      <a:r>
                        <a:rPr lang="pt-PT" sz="1100" b="1" u="none" strike="noStrike" cap="none" baseline="0" dirty="0">
                          <a:solidFill>
                            <a:schemeClr val="bg1"/>
                          </a:solidFill>
                          <a:sym typeface="Arial"/>
                        </a:rPr>
                        <a:t> BFS</a:t>
                      </a:r>
                      <a:endParaRPr lang="pt-PT" sz="1100" b="1" dirty="0">
                        <a:solidFill>
                          <a:schemeClr val="bg1"/>
                        </a:solidFill>
                      </a:endParaRPr>
                    </a:p>
                  </a:txBody>
                  <a:tcPr anchor="ctr">
                    <a:lnT w="12700" cap="flat" cmpd="sng" algn="ctr">
                      <a:solidFill>
                        <a:srgbClr val="FF9973"/>
                      </a:solidFill>
                      <a:prstDash val="solid"/>
                      <a:round/>
                      <a:headEnd type="none" w="med" len="med"/>
                      <a:tailEnd type="none" w="med" len="med"/>
                    </a:lnT>
                  </a:tcPr>
                </a:tc>
                <a:tc>
                  <a:txBody>
                    <a:bodyPr/>
                    <a:lstStyle/>
                    <a:p>
                      <a:pPr algn="ctr"/>
                      <a:r>
                        <a:rPr lang="pt-PT" sz="1100" b="0" u="none" strike="noStrike" cap="none" dirty="0">
                          <a:solidFill>
                            <a:schemeClr val="bg1"/>
                          </a:solidFill>
                          <a:sym typeface="Arial"/>
                        </a:rPr>
                        <a:t>0.06249833106994629</a:t>
                      </a:r>
                      <a:endParaRPr lang="pt-PT" sz="1100" b="0" i="0" u="none" strike="noStrike" cap="none" dirty="0">
                        <a:solidFill>
                          <a:schemeClr val="bg1"/>
                        </a:solidFill>
                        <a:latin typeface="Arial"/>
                        <a:cs typeface="Arial"/>
                        <a:sym typeface="Arial"/>
                      </a:endParaRPr>
                    </a:p>
                  </a:txBody>
                  <a:tcPr anchor="ctr">
                    <a:lnT w="12700" cap="flat" cmpd="sng" algn="ctr">
                      <a:solidFill>
                        <a:srgbClr val="FF9973"/>
                      </a:solidFill>
                      <a:prstDash val="solid"/>
                      <a:round/>
                      <a:headEnd type="none" w="med" len="med"/>
                      <a:tailEnd type="none" w="med" len="med"/>
                    </a:lnT>
                  </a:tcPr>
                </a:tc>
                <a:tc>
                  <a:txBody>
                    <a:bodyPr/>
                    <a:lstStyle/>
                    <a:p>
                      <a:pPr algn="ctr"/>
                      <a:r>
                        <a:rPr lang="pt-PT" sz="1100" dirty="0">
                          <a:solidFill>
                            <a:schemeClr val="bg1"/>
                          </a:solidFill>
                        </a:rPr>
                        <a:t>262</a:t>
                      </a:r>
                    </a:p>
                  </a:txBody>
                  <a:tcPr anchor="ctr">
                    <a:lnT w="12700" cap="flat" cmpd="sng" algn="ctr">
                      <a:solidFill>
                        <a:srgbClr val="FF9973"/>
                      </a:solidFill>
                      <a:prstDash val="solid"/>
                      <a:round/>
                      <a:headEnd type="none" w="med" len="med"/>
                      <a:tailEnd type="none" w="med" len="med"/>
                    </a:lnT>
                  </a:tcPr>
                </a:tc>
                <a:tc>
                  <a:txBody>
                    <a:bodyPr/>
                    <a:lstStyle/>
                    <a:p>
                      <a:pPr algn="ctr"/>
                      <a:r>
                        <a:rPr lang="pt-PT" sz="1100" dirty="0">
                          <a:solidFill>
                            <a:schemeClr val="bg1"/>
                          </a:solidFill>
                        </a:rPr>
                        <a:t>50</a:t>
                      </a:r>
                    </a:p>
                  </a:txBody>
                  <a:tcPr anchor="ctr">
                    <a:lnT w="12700" cap="flat" cmpd="sng" algn="ctr">
                      <a:solidFill>
                        <a:srgbClr val="FF9973"/>
                      </a:solidFill>
                      <a:prstDash val="solid"/>
                      <a:round/>
                      <a:headEnd type="none" w="med" len="med"/>
                      <a:tailEnd type="none" w="med" len="med"/>
                    </a:lnT>
                  </a:tcPr>
                </a:tc>
                <a:extLst>
                  <a:ext uri="{0D108BD9-81ED-4DB2-BD59-A6C34878D82A}">
                    <a16:rowId xmlns:a16="http://schemas.microsoft.com/office/drawing/2014/main" val="1931409145"/>
                  </a:ext>
                </a:extLst>
              </a:tr>
              <a:tr h="37800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pt-PT" sz="1100" b="1" u="none" strike="noStrike" cap="none" baseline="0" dirty="0" err="1">
                          <a:solidFill>
                            <a:schemeClr val="bg1"/>
                          </a:solidFill>
                          <a:sym typeface="Arial"/>
                        </a:rPr>
                        <a:t>advanced</a:t>
                      </a:r>
                      <a:endParaRPr lang="pt-PT" sz="1100" dirty="0">
                        <a:solidFill>
                          <a:schemeClr val="bg1"/>
                        </a:solidFill>
                      </a:endParaRPr>
                    </a:p>
                  </a:txBody>
                  <a:tcPr anchor="ctr"/>
                </a:tc>
                <a:tc>
                  <a:txBody>
                    <a:bodyPr/>
                    <a:lstStyle/>
                    <a:p>
                      <a:pPr algn="ctr"/>
                      <a:r>
                        <a:rPr lang="pt-PT" sz="1100" b="1" dirty="0">
                          <a:solidFill>
                            <a:schemeClr val="bg1"/>
                          </a:solidFill>
                        </a:rPr>
                        <a:t>DFS</a:t>
                      </a:r>
                    </a:p>
                  </a:txBody>
                  <a:tcPr anchor="ctr"/>
                </a:tc>
                <a:tc>
                  <a:txBody>
                    <a:bodyPr/>
                    <a:lstStyle/>
                    <a:p>
                      <a:pPr algn="ctr"/>
                      <a:r>
                        <a:rPr lang="pt-PT" sz="1100" b="0" u="none" strike="noStrike" cap="none" dirty="0">
                          <a:solidFill>
                            <a:schemeClr val="bg1"/>
                          </a:solidFill>
                          <a:sym typeface="Arial"/>
                        </a:rPr>
                        <a:t>0.031258583068847656</a:t>
                      </a:r>
                      <a:endParaRPr lang="pt-PT" sz="1100" b="0" i="0" u="none" strike="noStrike" cap="none" dirty="0">
                        <a:solidFill>
                          <a:schemeClr val="bg1"/>
                        </a:solidFill>
                        <a:latin typeface="Arial"/>
                        <a:cs typeface="Arial"/>
                        <a:sym typeface="Arial"/>
                      </a:endParaRPr>
                    </a:p>
                  </a:txBody>
                  <a:tcPr anchor="ctr"/>
                </a:tc>
                <a:tc>
                  <a:txBody>
                    <a:bodyPr/>
                    <a:lstStyle/>
                    <a:p>
                      <a:pPr algn="ctr"/>
                      <a:r>
                        <a:rPr lang="pt-PT" sz="1100" dirty="0">
                          <a:solidFill>
                            <a:schemeClr val="bg1"/>
                          </a:solidFill>
                        </a:rPr>
                        <a:t>132</a:t>
                      </a:r>
                    </a:p>
                  </a:txBody>
                  <a:tcPr anchor="ctr"/>
                </a:tc>
                <a:tc>
                  <a:txBody>
                    <a:bodyPr/>
                    <a:lstStyle/>
                    <a:p>
                      <a:pPr algn="ctr"/>
                      <a:r>
                        <a:rPr lang="pt-PT" sz="1100" dirty="0">
                          <a:solidFill>
                            <a:schemeClr val="bg1"/>
                          </a:solidFill>
                        </a:rPr>
                        <a:t>108</a:t>
                      </a:r>
                    </a:p>
                  </a:txBody>
                  <a:tcPr anchor="ctr"/>
                </a:tc>
                <a:extLst>
                  <a:ext uri="{0D108BD9-81ED-4DB2-BD59-A6C34878D82A}">
                    <a16:rowId xmlns:a16="http://schemas.microsoft.com/office/drawing/2014/main" val="1245921884"/>
                  </a:ext>
                </a:extLst>
              </a:tr>
              <a:tr h="37800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pt-PT" sz="1100" b="1" i="0" u="none" strike="noStrike" cap="none" baseline="0" dirty="0" err="1">
                          <a:solidFill>
                            <a:schemeClr val="bg1"/>
                          </a:solidFill>
                          <a:latin typeface="+mn-lt"/>
                          <a:ea typeface="+mn-ea"/>
                          <a:cs typeface="+mn-cs"/>
                          <a:sym typeface="Arial"/>
                        </a:rPr>
                        <a:t>advanced</a:t>
                      </a:r>
                      <a:endParaRPr lang="pt-PT" sz="1100" b="1" i="0" u="none" strike="noStrike" cap="none" baseline="0" dirty="0">
                        <a:solidFill>
                          <a:schemeClr val="bg1"/>
                        </a:solidFill>
                        <a:latin typeface="+mn-lt"/>
                        <a:ea typeface="+mn-ea"/>
                        <a:cs typeface="+mn-cs"/>
                        <a:sym typeface="Arial"/>
                      </a:endParaRPr>
                    </a:p>
                  </a:txBody>
                  <a:tcPr anchor="ctr">
                    <a:lnB w="12700" cap="flat" cmpd="sng" algn="ctr">
                      <a:solidFill>
                        <a:srgbClr val="FF9973"/>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pt-PT" sz="1100" b="1" i="0" u="none" strike="noStrike" cap="none" baseline="0" dirty="0">
                          <a:solidFill>
                            <a:schemeClr val="bg1"/>
                          </a:solidFill>
                          <a:latin typeface="+mn-lt"/>
                          <a:ea typeface="+mn-ea"/>
                          <a:cs typeface="+mn-cs"/>
                          <a:sym typeface="Arial"/>
                        </a:rPr>
                        <a:t>A*</a:t>
                      </a:r>
                    </a:p>
                  </a:txBody>
                  <a:tcPr anchor="ctr">
                    <a:lnB w="12700" cap="flat" cmpd="sng" algn="ctr">
                      <a:solidFill>
                        <a:srgbClr val="FF9973"/>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pt-PT" sz="1100" b="0" i="0" u="none" strike="noStrike" cap="none" baseline="0" dirty="0">
                          <a:solidFill>
                            <a:schemeClr val="bg1"/>
                          </a:solidFill>
                          <a:latin typeface="+mn-lt"/>
                          <a:ea typeface="+mn-ea"/>
                          <a:cs typeface="+mn-cs"/>
                          <a:sym typeface="Arial"/>
                        </a:rPr>
                        <a:t>0.24954986572265625</a:t>
                      </a:r>
                    </a:p>
                  </a:txBody>
                  <a:tcPr anchor="ctr">
                    <a:lnB w="12700" cap="flat" cmpd="sng" algn="ctr">
                      <a:solidFill>
                        <a:srgbClr val="FF9973"/>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pt-PT" sz="1100" b="0" i="0" u="none" strike="noStrike" cap="none" baseline="0" dirty="0">
                          <a:solidFill>
                            <a:schemeClr val="bg1"/>
                          </a:solidFill>
                          <a:latin typeface="+mn-lt"/>
                          <a:ea typeface="+mn-ea"/>
                          <a:cs typeface="+mn-cs"/>
                          <a:sym typeface="Arial"/>
                        </a:rPr>
                        <a:t>3</a:t>
                      </a:r>
                    </a:p>
                  </a:txBody>
                  <a:tcPr anchor="ctr">
                    <a:lnB w="12700" cap="flat" cmpd="sng" algn="ctr">
                      <a:solidFill>
                        <a:srgbClr val="FF9973"/>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pt-PT" sz="1100" b="1" i="0" u="none" strike="noStrike" cap="none" baseline="0" dirty="0">
                        <a:solidFill>
                          <a:schemeClr val="bg1"/>
                        </a:solidFill>
                        <a:latin typeface="+mn-lt"/>
                        <a:ea typeface="+mn-ea"/>
                        <a:cs typeface="+mn-cs"/>
                        <a:sym typeface="Arial"/>
                      </a:endParaRPr>
                    </a:p>
                  </a:txBody>
                  <a:tcPr anchor="ctr">
                    <a:lnB w="12700" cap="flat" cmpd="sng" algn="ctr">
                      <a:solidFill>
                        <a:srgbClr val="FF9973"/>
                      </a:solidFill>
                      <a:prstDash val="solid"/>
                      <a:round/>
                      <a:headEnd type="none" w="med" len="med"/>
                      <a:tailEnd type="none" w="med" len="med"/>
                    </a:lnB>
                  </a:tcPr>
                </a:tc>
                <a:extLst>
                  <a:ext uri="{0D108BD9-81ED-4DB2-BD59-A6C34878D82A}">
                    <a16:rowId xmlns:a16="http://schemas.microsoft.com/office/drawing/2014/main" val="3846130710"/>
                  </a:ext>
                </a:extLst>
              </a:tr>
              <a:tr h="37800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pt-PT" sz="1100" b="1" u="none" strike="noStrike" cap="none" baseline="0" dirty="0">
                          <a:solidFill>
                            <a:schemeClr val="bg1"/>
                          </a:solidFill>
                          <a:sym typeface="Arial"/>
                        </a:rPr>
                        <a:t>expert</a:t>
                      </a:r>
                      <a:endParaRPr lang="pt-PT" sz="1100" b="1" i="0" u="none" strike="noStrike" cap="none" baseline="0" dirty="0">
                        <a:solidFill>
                          <a:schemeClr val="bg1"/>
                        </a:solidFill>
                        <a:latin typeface="Arial"/>
                        <a:cs typeface="Arial"/>
                        <a:sym typeface="Arial"/>
                      </a:endParaRPr>
                    </a:p>
                  </a:txBody>
                  <a:tcPr anchor="ctr">
                    <a:lnT w="12700" cap="flat" cmpd="sng" algn="ctr">
                      <a:solidFill>
                        <a:srgbClr val="FF9973"/>
                      </a:solidFill>
                      <a:prstDash val="solid"/>
                      <a:round/>
                      <a:headEnd type="none" w="med" len="med"/>
                      <a:tailEnd type="none" w="med" len="med"/>
                    </a:lnT>
                  </a:tcPr>
                </a:tc>
                <a:tc>
                  <a:txBody>
                    <a:bodyPr/>
                    <a:lstStyle/>
                    <a:p>
                      <a:pPr algn="ctr"/>
                      <a:r>
                        <a:rPr lang="pt-PT" sz="1100" b="1" u="none" strike="noStrike" cap="none" baseline="0" dirty="0">
                          <a:solidFill>
                            <a:schemeClr val="bg1"/>
                          </a:solidFill>
                          <a:sym typeface="Arial"/>
                        </a:rPr>
                        <a:t> BFS</a:t>
                      </a:r>
                      <a:endParaRPr lang="pt-PT" sz="1100" b="1" dirty="0">
                        <a:solidFill>
                          <a:schemeClr val="bg1"/>
                        </a:solidFill>
                      </a:endParaRPr>
                    </a:p>
                  </a:txBody>
                  <a:tcPr anchor="ctr">
                    <a:lnT w="12700" cap="flat" cmpd="sng" algn="ctr">
                      <a:solidFill>
                        <a:srgbClr val="FF9973"/>
                      </a:solidFill>
                      <a:prstDash val="solid"/>
                      <a:round/>
                      <a:headEnd type="none" w="med" len="med"/>
                      <a:tailEnd type="none" w="med" len="med"/>
                    </a:lnT>
                  </a:tcPr>
                </a:tc>
                <a:tc>
                  <a:txBody>
                    <a:bodyPr/>
                    <a:lstStyle/>
                    <a:p>
                      <a:pPr algn="ctr"/>
                      <a:r>
                        <a:rPr lang="pt-PT" sz="1100" b="0" u="none" strike="noStrike" cap="none" dirty="0">
                          <a:solidFill>
                            <a:schemeClr val="bg1"/>
                          </a:solidFill>
                          <a:sym typeface="Arial"/>
                        </a:rPr>
                        <a:t>1.2190465927124023</a:t>
                      </a:r>
                      <a:endParaRPr lang="pt-PT" sz="1100" b="0" i="0" u="none" strike="noStrike" cap="none" dirty="0">
                        <a:solidFill>
                          <a:schemeClr val="bg1"/>
                        </a:solidFill>
                        <a:latin typeface="Arial"/>
                        <a:cs typeface="Arial"/>
                        <a:sym typeface="Arial"/>
                      </a:endParaRPr>
                    </a:p>
                  </a:txBody>
                  <a:tcPr anchor="ctr">
                    <a:lnT w="12700" cap="flat" cmpd="sng" algn="ctr">
                      <a:solidFill>
                        <a:srgbClr val="FF9973"/>
                      </a:solidFill>
                      <a:prstDash val="solid"/>
                      <a:round/>
                      <a:headEnd type="none" w="med" len="med"/>
                      <a:tailEnd type="none" w="med" len="med"/>
                    </a:lnT>
                  </a:tcPr>
                </a:tc>
                <a:tc>
                  <a:txBody>
                    <a:bodyPr/>
                    <a:lstStyle/>
                    <a:p>
                      <a:pPr algn="ctr"/>
                      <a:r>
                        <a:rPr lang="pt-PT" sz="1100" dirty="0">
                          <a:solidFill>
                            <a:schemeClr val="bg1"/>
                          </a:solidFill>
                        </a:rPr>
                        <a:t>3927</a:t>
                      </a:r>
                    </a:p>
                  </a:txBody>
                  <a:tcPr anchor="ctr">
                    <a:lnT w="12700" cap="flat" cmpd="sng" algn="ctr">
                      <a:solidFill>
                        <a:srgbClr val="FF9973"/>
                      </a:solidFill>
                      <a:prstDash val="solid"/>
                      <a:round/>
                      <a:headEnd type="none" w="med" len="med"/>
                      <a:tailEnd type="none" w="med" len="med"/>
                    </a:lnT>
                  </a:tcPr>
                </a:tc>
                <a:tc>
                  <a:txBody>
                    <a:bodyPr/>
                    <a:lstStyle/>
                    <a:p>
                      <a:pPr algn="ctr"/>
                      <a:r>
                        <a:rPr lang="pt-PT" sz="1100" dirty="0">
                          <a:solidFill>
                            <a:schemeClr val="bg1"/>
                          </a:solidFill>
                        </a:rPr>
                        <a:t>70</a:t>
                      </a:r>
                    </a:p>
                  </a:txBody>
                  <a:tcPr anchor="ctr">
                    <a:lnT w="12700" cap="flat" cmpd="sng" algn="ctr">
                      <a:solidFill>
                        <a:srgbClr val="FF9973"/>
                      </a:solidFill>
                      <a:prstDash val="solid"/>
                      <a:round/>
                      <a:headEnd type="none" w="med" len="med"/>
                      <a:tailEnd type="none" w="med" len="med"/>
                    </a:lnT>
                  </a:tcPr>
                </a:tc>
                <a:extLst>
                  <a:ext uri="{0D108BD9-81ED-4DB2-BD59-A6C34878D82A}">
                    <a16:rowId xmlns:a16="http://schemas.microsoft.com/office/drawing/2014/main" val="686880455"/>
                  </a:ext>
                </a:extLst>
              </a:tr>
              <a:tr h="37800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pt-PT" sz="1100" b="1" u="none" strike="noStrike" cap="none" baseline="0" dirty="0">
                          <a:solidFill>
                            <a:schemeClr val="bg1"/>
                          </a:solidFill>
                          <a:sym typeface="Arial"/>
                        </a:rPr>
                        <a:t>expert</a:t>
                      </a:r>
                      <a:endParaRPr lang="pt-PT" sz="1100" dirty="0">
                        <a:solidFill>
                          <a:schemeClr val="bg1"/>
                        </a:solidFill>
                      </a:endParaRPr>
                    </a:p>
                  </a:txBody>
                  <a:tcPr anchor="ctr"/>
                </a:tc>
                <a:tc>
                  <a:txBody>
                    <a:bodyPr/>
                    <a:lstStyle/>
                    <a:p>
                      <a:pPr algn="ctr"/>
                      <a:r>
                        <a:rPr lang="pt-PT" sz="1100" b="1" dirty="0">
                          <a:solidFill>
                            <a:schemeClr val="bg1"/>
                          </a:solidFill>
                        </a:rPr>
                        <a:t>DFS</a:t>
                      </a:r>
                    </a:p>
                  </a:txBody>
                  <a:tcPr anchor="ctr"/>
                </a:tc>
                <a:tc>
                  <a:txBody>
                    <a:bodyPr/>
                    <a:lstStyle/>
                    <a:p>
                      <a:pPr algn="ctr"/>
                      <a:r>
                        <a:rPr lang="pt-PT" sz="1100" b="0" u="none" strike="noStrike" cap="none" dirty="0">
                          <a:solidFill>
                            <a:schemeClr val="bg1"/>
                          </a:solidFill>
                          <a:sym typeface="Arial"/>
                        </a:rPr>
                        <a:t>0.6250030994415283</a:t>
                      </a:r>
                      <a:endParaRPr lang="pt-PT" sz="1100" b="0" i="0" u="none" strike="noStrike" cap="none" dirty="0">
                        <a:solidFill>
                          <a:schemeClr val="bg1"/>
                        </a:solidFill>
                        <a:latin typeface="Arial"/>
                        <a:cs typeface="Arial"/>
                        <a:sym typeface="Arial"/>
                      </a:endParaRPr>
                    </a:p>
                  </a:txBody>
                  <a:tcPr anchor="ctr"/>
                </a:tc>
                <a:tc>
                  <a:txBody>
                    <a:bodyPr/>
                    <a:lstStyle/>
                    <a:p>
                      <a:pPr algn="ctr"/>
                      <a:r>
                        <a:rPr lang="pt-PT" sz="1100" dirty="0">
                          <a:solidFill>
                            <a:schemeClr val="bg1"/>
                          </a:solidFill>
                        </a:rPr>
                        <a:t>1375</a:t>
                      </a:r>
                    </a:p>
                  </a:txBody>
                  <a:tcPr anchor="ctr"/>
                </a:tc>
                <a:tc>
                  <a:txBody>
                    <a:bodyPr/>
                    <a:lstStyle/>
                    <a:p>
                      <a:pPr algn="ctr"/>
                      <a:r>
                        <a:rPr lang="pt-PT" sz="1100" dirty="0">
                          <a:solidFill>
                            <a:schemeClr val="bg1"/>
                          </a:solidFill>
                        </a:rPr>
                        <a:t>1117</a:t>
                      </a:r>
                    </a:p>
                  </a:txBody>
                  <a:tcPr anchor="ctr"/>
                </a:tc>
                <a:extLst>
                  <a:ext uri="{0D108BD9-81ED-4DB2-BD59-A6C34878D82A}">
                    <a16:rowId xmlns:a16="http://schemas.microsoft.com/office/drawing/2014/main" val="3723652585"/>
                  </a:ext>
                </a:extLst>
              </a:tr>
              <a:tr h="37800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pt-PT" sz="1100" b="1" u="none" strike="noStrike" cap="none" baseline="0" dirty="0">
                          <a:solidFill>
                            <a:schemeClr val="bg1"/>
                          </a:solidFill>
                          <a:sym typeface="Arial"/>
                        </a:rPr>
                        <a:t>expert</a:t>
                      </a:r>
                      <a:endParaRPr lang="pt-PT" sz="1100" dirty="0">
                        <a:solidFill>
                          <a:schemeClr val="bg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pt-PT" sz="1100" b="1" dirty="0">
                          <a:solidFill>
                            <a:schemeClr val="bg1"/>
                          </a:solidFill>
                        </a:rPr>
                        <a:t>A*</a:t>
                      </a:r>
                    </a:p>
                  </a:txBody>
                  <a:tcPr anchor="ctr"/>
                </a:tc>
                <a:tc>
                  <a:txBody>
                    <a:bodyPr/>
                    <a:lstStyle/>
                    <a:p>
                      <a:pPr algn="ctr"/>
                      <a:r>
                        <a:rPr lang="pt-PT" sz="1100" b="0" i="0" u="none" strike="noStrike" cap="none" dirty="0">
                          <a:solidFill>
                            <a:schemeClr val="bg1"/>
                          </a:solidFill>
                          <a:latin typeface="+mn-lt"/>
                          <a:cs typeface="Arial"/>
                          <a:sym typeface="Arial"/>
                        </a:rPr>
                        <a:t>5.690542221069336</a:t>
                      </a:r>
                      <a:endParaRPr lang="pt-PT" sz="1100" b="0" i="0" u="none" strike="noStrike" cap="none" dirty="0">
                        <a:solidFill>
                          <a:schemeClr val="bg1"/>
                        </a:solidFill>
                        <a:latin typeface="Arial"/>
                        <a:cs typeface="Arial"/>
                        <a:sym typeface="Arial"/>
                      </a:endParaRPr>
                    </a:p>
                  </a:txBody>
                  <a:tcPr anchor="ctr"/>
                </a:tc>
                <a:tc>
                  <a:txBody>
                    <a:bodyPr/>
                    <a:lstStyle/>
                    <a:p>
                      <a:pPr algn="ctr"/>
                      <a:r>
                        <a:rPr lang="pt-PT" sz="1100" dirty="0">
                          <a:solidFill>
                            <a:schemeClr val="bg1"/>
                          </a:solidFill>
                        </a:rPr>
                        <a:t>72</a:t>
                      </a:r>
                    </a:p>
                  </a:txBody>
                  <a:tcPr anchor="ctr"/>
                </a:tc>
                <a:tc>
                  <a:txBody>
                    <a:bodyPr/>
                    <a:lstStyle/>
                    <a:p>
                      <a:pPr algn="ctr"/>
                      <a:endParaRPr lang="pt-PT" sz="1100" dirty="0">
                        <a:solidFill>
                          <a:schemeClr val="bg1"/>
                        </a:solidFill>
                      </a:endParaRPr>
                    </a:p>
                  </a:txBody>
                  <a:tcPr anchor="ctr"/>
                </a:tc>
                <a:extLst>
                  <a:ext uri="{0D108BD9-81ED-4DB2-BD59-A6C34878D82A}">
                    <a16:rowId xmlns:a16="http://schemas.microsoft.com/office/drawing/2014/main" val="2190030249"/>
                  </a:ext>
                </a:extLst>
              </a:tr>
            </a:tbl>
          </a:graphicData>
        </a:graphic>
      </p:graphicFrame>
      <p:sp>
        <p:nvSpPr>
          <p:cNvPr id="2" name="CaixaDeTexto 1">
            <a:extLst>
              <a:ext uri="{FF2B5EF4-FFF2-40B4-BE49-F238E27FC236}">
                <a16:creationId xmlns:a16="http://schemas.microsoft.com/office/drawing/2014/main" id="{8EE86700-593B-0FC0-CD54-619B16F707C1}"/>
              </a:ext>
            </a:extLst>
          </p:cNvPr>
          <p:cNvSpPr txBox="1"/>
          <p:nvPr/>
        </p:nvSpPr>
        <p:spPr>
          <a:xfrm rot="16200000">
            <a:off x="-2417861" y="2402473"/>
            <a:ext cx="5143501" cy="338554"/>
          </a:xfrm>
          <a:prstGeom prst="rect">
            <a:avLst/>
          </a:prstGeom>
          <a:solidFill>
            <a:schemeClr val="bg1"/>
          </a:solidFill>
        </p:spPr>
        <p:txBody>
          <a:bodyPr wrap="square">
            <a:spAutoFit/>
          </a:bodyPr>
          <a:lstStyle/>
          <a:p>
            <a:pPr algn="ctr"/>
            <a:r>
              <a:rPr lang="pt-PT" sz="1600" b="1" dirty="0" err="1">
                <a:solidFill>
                  <a:srgbClr val="EF9270"/>
                </a:solidFill>
              </a:rPr>
              <a:t>Algorithms</a:t>
            </a:r>
            <a:r>
              <a:rPr lang="pt-PT" sz="1600" b="1" dirty="0">
                <a:solidFill>
                  <a:srgbClr val="EF9270"/>
                </a:solidFill>
              </a:rPr>
              <a:t> </a:t>
            </a:r>
            <a:r>
              <a:rPr lang="pt-PT" sz="1600" b="1" dirty="0" err="1">
                <a:solidFill>
                  <a:srgbClr val="EF9270"/>
                </a:solidFill>
              </a:rPr>
              <a:t>implemented</a:t>
            </a:r>
            <a:r>
              <a:rPr lang="pt-PT" sz="1600" b="1" dirty="0">
                <a:solidFill>
                  <a:srgbClr val="EF9270"/>
                </a:solidFill>
              </a:rPr>
              <a:t> </a:t>
            </a:r>
            <a:r>
              <a:rPr lang="pt-PT" sz="1600" b="1" dirty="0" err="1">
                <a:solidFill>
                  <a:srgbClr val="EF9270"/>
                </a:solidFill>
              </a:rPr>
              <a:t>and</a:t>
            </a:r>
            <a:r>
              <a:rPr lang="pt-PT" sz="1600" b="1" dirty="0">
                <a:solidFill>
                  <a:srgbClr val="EF9270"/>
                </a:solidFill>
              </a:rPr>
              <a:t> experimental </a:t>
            </a:r>
            <a:r>
              <a:rPr lang="pt-PT" sz="1600" b="1" dirty="0" err="1">
                <a:solidFill>
                  <a:srgbClr val="EF9270"/>
                </a:solidFill>
              </a:rPr>
              <a:t>results</a:t>
            </a:r>
            <a:endParaRPr lang="pt-PT" sz="1600" b="1" dirty="0">
              <a:solidFill>
                <a:srgbClr val="EF9270"/>
              </a:solidFill>
            </a:endParaRPr>
          </a:p>
        </p:txBody>
      </p:sp>
    </p:spTree>
    <p:extLst>
      <p:ext uri="{BB962C8B-B14F-4D97-AF65-F5344CB8AC3E}">
        <p14:creationId xmlns:p14="http://schemas.microsoft.com/office/powerpoint/2010/main" val="3330693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ela 4">
            <a:extLst>
              <a:ext uri="{FF2B5EF4-FFF2-40B4-BE49-F238E27FC236}">
                <a16:creationId xmlns:a16="http://schemas.microsoft.com/office/drawing/2014/main" id="{31464E85-BEB6-3786-29A3-90313CCC198C}"/>
              </a:ext>
            </a:extLst>
          </p:cNvPr>
          <p:cNvGraphicFramePr>
            <a:graphicFrameLocks noGrp="1"/>
          </p:cNvGraphicFramePr>
          <p:nvPr>
            <p:extLst>
              <p:ext uri="{D42A27DB-BD31-4B8C-83A1-F6EECF244321}">
                <p14:modId xmlns:p14="http://schemas.microsoft.com/office/powerpoint/2010/main" val="2480690145"/>
              </p:ext>
            </p:extLst>
          </p:nvPr>
        </p:nvGraphicFramePr>
        <p:xfrm>
          <a:off x="439947" y="105743"/>
          <a:ext cx="8698444" cy="1552213"/>
        </p:xfrm>
        <a:graphic>
          <a:graphicData uri="http://schemas.openxmlformats.org/drawingml/2006/table">
            <a:tbl>
              <a:tblPr firstRow="1" firstCol="1" bandRow="1">
                <a:tableStyleId>{7E9639D4-E3E2-4D34-9284-5A2195B3D0D7}</a:tableStyleId>
              </a:tblPr>
              <a:tblGrid>
                <a:gridCol w="1740811">
                  <a:extLst>
                    <a:ext uri="{9D8B030D-6E8A-4147-A177-3AD203B41FA5}">
                      <a16:colId xmlns:a16="http://schemas.microsoft.com/office/drawing/2014/main" val="4225834048"/>
                    </a:ext>
                  </a:extLst>
                </a:gridCol>
                <a:gridCol w="1735200">
                  <a:extLst>
                    <a:ext uri="{9D8B030D-6E8A-4147-A177-3AD203B41FA5}">
                      <a16:colId xmlns:a16="http://schemas.microsoft.com/office/drawing/2014/main" val="383231823"/>
                    </a:ext>
                  </a:extLst>
                </a:gridCol>
                <a:gridCol w="1740811">
                  <a:extLst>
                    <a:ext uri="{9D8B030D-6E8A-4147-A177-3AD203B41FA5}">
                      <a16:colId xmlns:a16="http://schemas.microsoft.com/office/drawing/2014/main" val="4210171288"/>
                    </a:ext>
                  </a:extLst>
                </a:gridCol>
                <a:gridCol w="1740811">
                  <a:extLst>
                    <a:ext uri="{9D8B030D-6E8A-4147-A177-3AD203B41FA5}">
                      <a16:colId xmlns:a16="http://schemas.microsoft.com/office/drawing/2014/main" val="3168467826"/>
                    </a:ext>
                  </a:extLst>
                </a:gridCol>
                <a:gridCol w="1740811">
                  <a:extLst>
                    <a:ext uri="{9D8B030D-6E8A-4147-A177-3AD203B41FA5}">
                      <a16:colId xmlns:a16="http://schemas.microsoft.com/office/drawing/2014/main" val="4199566854"/>
                    </a:ext>
                  </a:extLst>
                </a:gridCol>
              </a:tblGrid>
              <a:tr h="364213">
                <a:tc>
                  <a:txBody>
                    <a:bodyPr/>
                    <a:lstStyle/>
                    <a:p>
                      <a:pPr algn="ctr"/>
                      <a:r>
                        <a:rPr lang="pt-PT" sz="1200" b="1" i="0" u="none" strike="noStrike" cap="small" baseline="0" dirty="0" err="1">
                          <a:solidFill>
                            <a:srgbClr val="EF9270"/>
                          </a:solidFill>
                          <a:latin typeface="+mn-lt"/>
                          <a:ea typeface="+mn-ea"/>
                          <a:cs typeface="+mn-cs"/>
                          <a:sym typeface="Arial"/>
                        </a:rPr>
                        <a:t>Board</a:t>
                      </a:r>
                      <a:endParaRPr lang="pt-PT" sz="1200" b="1" i="0" u="none" strike="noStrike" cap="small" baseline="0" dirty="0">
                        <a:solidFill>
                          <a:srgbClr val="EF9270"/>
                        </a:solidFill>
                        <a:latin typeface="+mn-lt"/>
                        <a:ea typeface="+mn-ea"/>
                        <a:cs typeface="+mn-cs"/>
                        <a:sym typeface="Arial"/>
                      </a:endParaRPr>
                    </a:p>
                  </a:txBody>
                  <a:tcPr anchor="ctr"/>
                </a:tc>
                <a:tc>
                  <a:txBody>
                    <a:bodyPr/>
                    <a:lstStyle/>
                    <a:p>
                      <a:pPr algn="ctr"/>
                      <a:r>
                        <a:rPr lang="pt-PT" sz="1200" cap="small" baseline="0" dirty="0" err="1">
                          <a:solidFill>
                            <a:schemeClr val="bg1"/>
                          </a:solidFill>
                        </a:rPr>
                        <a:t>Algorithm</a:t>
                      </a:r>
                      <a:endParaRPr lang="pt-PT" sz="1200" cap="small" baseline="0" dirty="0">
                        <a:solidFill>
                          <a:schemeClr val="bg1"/>
                        </a:solidFill>
                      </a:endParaRPr>
                    </a:p>
                  </a:txBody>
                  <a:tcPr anchor="ctr"/>
                </a:tc>
                <a:tc>
                  <a:txBody>
                    <a:bodyPr/>
                    <a:lstStyle/>
                    <a:p>
                      <a:pPr algn="ctr"/>
                      <a:r>
                        <a:rPr lang="pt-PT" sz="1200" cap="small" baseline="0" dirty="0">
                          <a:solidFill>
                            <a:schemeClr val="bg1"/>
                          </a:solidFill>
                        </a:rPr>
                        <a:t>Time</a:t>
                      </a:r>
                    </a:p>
                  </a:txBody>
                  <a:tcPr anchor="ctr"/>
                </a:tc>
                <a:tc>
                  <a:txBody>
                    <a:bodyPr/>
                    <a:lstStyle/>
                    <a:p>
                      <a:pPr algn="ctr"/>
                      <a:r>
                        <a:rPr lang="pt-PT" sz="1200" cap="small" baseline="0" dirty="0">
                          <a:solidFill>
                            <a:schemeClr val="bg1"/>
                          </a:solidFill>
                        </a:rPr>
                        <a:t>Nodes</a:t>
                      </a:r>
                    </a:p>
                  </a:txBody>
                  <a:tcPr anchor="ctr"/>
                </a:tc>
                <a:tc>
                  <a:txBody>
                    <a:bodyPr/>
                    <a:lstStyle/>
                    <a:p>
                      <a:pPr algn="ctr"/>
                      <a:r>
                        <a:rPr lang="pt-PT" sz="1400" b="1" i="0" u="none" strike="noStrike" cap="small" baseline="0" dirty="0" err="1">
                          <a:solidFill>
                            <a:schemeClr val="bg1"/>
                          </a:solidFill>
                          <a:latin typeface="+mn-lt"/>
                          <a:ea typeface="+mn-ea"/>
                          <a:cs typeface="+mn-cs"/>
                          <a:sym typeface="Arial"/>
                        </a:rPr>
                        <a:t>Length</a:t>
                      </a:r>
                      <a:r>
                        <a:rPr lang="pt-PT" sz="1400" b="1" i="0" u="none" strike="noStrike" cap="small" baseline="0" dirty="0">
                          <a:solidFill>
                            <a:schemeClr val="bg1"/>
                          </a:solidFill>
                          <a:latin typeface="+mn-lt"/>
                          <a:ea typeface="+mn-ea"/>
                          <a:cs typeface="+mn-cs"/>
                          <a:sym typeface="Arial"/>
                        </a:rPr>
                        <a:t> </a:t>
                      </a:r>
                      <a:r>
                        <a:rPr lang="pt-PT" sz="1400" b="1" i="0" u="none" strike="noStrike" cap="small" baseline="0" dirty="0" err="1">
                          <a:solidFill>
                            <a:schemeClr val="bg1"/>
                          </a:solidFill>
                          <a:latin typeface="+mn-lt"/>
                          <a:ea typeface="+mn-ea"/>
                          <a:cs typeface="+mn-cs"/>
                          <a:sym typeface="Arial"/>
                        </a:rPr>
                        <a:t>solution</a:t>
                      </a:r>
                      <a:endParaRPr lang="pt-PT" sz="1400" b="1" i="0" u="none" strike="noStrike" cap="small" baseline="0" dirty="0">
                        <a:solidFill>
                          <a:schemeClr val="bg1"/>
                        </a:solidFill>
                        <a:latin typeface="+mn-lt"/>
                        <a:ea typeface="+mn-ea"/>
                        <a:cs typeface="+mn-cs"/>
                        <a:sym typeface="Arial"/>
                      </a:endParaRPr>
                    </a:p>
                  </a:txBody>
                  <a:tcPr anchor="ctr"/>
                </a:tc>
                <a:extLst>
                  <a:ext uri="{0D108BD9-81ED-4DB2-BD59-A6C34878D82A}">
                    <a16:rowId xmlns:a16="http://schemas.microsoft.com/office/drawing/2014/main" val="1134648701"/>
                  </a:ext>
                </a:extLst>
              </a:tr>
              <a:tr h="39600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pt-PT" sz="1100" dirty="0">
                          <a:solidFill>
                            <a:schemeClr val="bg1"/>
                          </a:solidFill>
                        </a:rPr>
                        <a:t>game_9x9</a:t>
                      </a:r>
                    </a:p>
                  </a:txBody>
                  <a:tcPr anchor="ctr"/>
                </a:tc>
                <a:tc>
                  <a:txBody>
                    <a:bodyPr/>
                    <a:lstStyle/>
                    <a:p>
                      <a:pPr algn="ctr"/>
                      <a:r>
                        <a:rPr lang="pt-PT" sz="1100" b="0" u="none" strike="noStrike" cap="none" baseline="0" dirty="0">
                          <a:solidFill>
                            <a:schemeClr val="bg1"/>
                          </a:solidFill>
                          <a:sym typeface="Arial"/>
                        </a:rPr>
                        <a:t> </a:t>
                      </a:r>
                      <a:r>
                        <a:rPr lang="pt-PT" sz="1100" b="1" i="0" u="none" strike="noStrike" cap="none" dirty="0">
                          <a:solidFill>
                            <a:schemeClr val="bg1"/>
                          </a:solidFill>
                          <a:latin typeface="+mn-lt"/>
                          <a:ea typeface="+mn-ea"/>
                          <a:cs typeface="+mn-cs"/>
                          <a:sym typeface="Arial"/>
                        </a:rPr>
                        <a:t>BFS</a:t>
                      </a:r>
                    </a:p>
                  </a:txBody>
                  <a:tcPr anchor="ctr"/>
                </a:tc>
                <a:tc>
                  <a:txBody>
                    <a:bodyPr/>
                    <a:lstStyle/>
                    <a:p>
                      <a:pPr algn="ctr"/>
                      <a:r>
                        <a:rPr lang="pt-PT" sz="1100" b="0" i="0" u="none" strike="noStrike" cap="none" dirty="0">
                          <a:solidFill>
                            <a:schemeClr val="bg1"/>
                          </a:solidFill>
                          <a:latin typeface="+mn-lt"/>
                          <a:cs typeface="Arial"/>
                          <a:sym typeface="Arial"/>
                        </a:rPr>
                        <a:t>421.68164134025574</a:t>
                      </a:r>
                      <a:endParaRPr lang="pt-PT" sz="1100" b="0" i="0" u="none" strike="noStrike" cap="none" dirty="0">
                        <a:solidFill>
                          <a:schemeClr val="bg1"/>
                        </a:solidFill>
                        <a:latin typeface="Arial"/>
                        <a:cs typeface="Arial"/>
                        <a:sym typeface="Arial"/>
                      </a:endParaRPr>
                    </a:p>
                  </a:txBody>
                  <a:tcPr anchor="ctr"/>
                </a:tc>
                <a:tc>
                  <a:txBody>
                    <a:bodyPr/>
                    <a:lstStyle/>
                    <a:p>
                      <a:pPr algn="ctr"/>
                      <a:r>
                        <a:rPr lang="pt-PT" sz="1100" dirty="0">
                          <a:solidFill>
                            <a:schemeClr val="bg1"/>
                          </a:solidFill>
                        </a:rPr>
                        <a:t>347037</a:t>
                      </a:r>
                    </a:p>
                  </a:txBody>
                  <a:tcPr anchor="ctr"/>
                </a:tc>
                <a:tc>
                  <a:txBody>
                    <a:bodyPr/>
                    <a:lstStyle/>
                    <a:p>
                      <a:pPr algn="ctr"/>
                      <a:r>
                        <a:rPr lang="pt-PT" sz="1100" dirty="0">
                          <a:solidFill>
                            <a:schemeClr val="bg1"/>
                          </a:solidFill>
                        </a:rPr>
                        <a:t>52</a:t>
                      </a:r>
                    </a:p>
                  </a:txBody>
                  <a:tcPr anchor="ctr"/>
                </a:tc>
                <a:extLst>
                  <a:ext uri="{0D108BD9-81ED-4DB2-BD59-A6C34878D82A}">
                    <a16:rowId xmlns:a16="http://schemas.microsoft.com/office/drawing/2014/main" val="2614842981"/>
                  </a:ext>
                </a:extLst>
              </a:tr>
              <a:tr h="39600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pt-PT" sz="1100" dirty="0">
                          <a:solidFill>
                            <a:schemeClr val="bg1"/>
                          </a:solidFill>
                        </a:rPr>
                        <a:t>game_9x9</a:t>
                      </a:r>
                    </a:p>
                  </a:txBody>
                  <a:tcPr anchor="ctr"/>
                </a:tc>
                <a:tc>
                  <a:txBody>
                    <a:bodyPr/>
                    <a:lstStyle/>
                    <a:p>
                      <a:pPr marR="0" algn="ctr" rtl="0">
                        <a:lnSpc>
                          <a:spcPct val="100000"/>
                        </a:lnSpc>
                        <a:spcBef>
                          <a:spcPts val="0"/>
                        </a:spcBef>
                        <a:spcAft>
                          <a:spcPts val="0"/>
                        </a:spcAft>
                        <a:buClr>
                          <a:srgbClr val="000000"/>
                        </a:buClr>
                        <a:buFont typeface="Arial"/>
                      </a:pPr>
                      <a:r>
                        <a:rPr lang="pt-PT" sz="1100" b="1" i="0" u="none" strike="noStrike" cap="none" dirty="0">
                          <a:solidFill>
                            <a:schemeClr val="bg1"/>
                          </a:solidFill>
                          <a:latin typeface="+mn-lt"/>
                          <a:ea typeface="+mn-ea"/>
                          <a:cs typeface="+mn-cs"/>
                          <a:sym typeface="Arial"/>
                        </a:rPr>
                        <a:t>DFS</a:t>
                      </a:r>
                    </a:p>
                  </a:txBody>
                  <a:tcPr anchor="ctr"/>
                </a:tc>
                <a:tc>
                  <a:txBody>
                    <a:bodyPr/>
                    <a:lstStyle/>
                    <a:p>
                      <a:pPr algn="ctr"/>
                      <a:r>
                        <a:rPr lang="pt-PT" sz="1100" b="0" i="0" u="none" strike="noStrike" cap="none" dirty="0">
                          <a:solidFill>
                            <a:schemeClr val="bg1"/>
                          </a:solidFill>
                          <a:latin typeface="+mn-lt"/>
                          <a:cs typeface="Arial"/>
                          <a:sym typeface="Arial"/>
                        </a:rPr>
                        <a:t>52.863196849823</a:t>
                      </a:r>
                      <a:endParaRPr lang="pt-PT" sz="1100" b="0" i="0" u="none" strike="noStrike" cap="none" dirty="0">
                        <a:solidFill>
                          <a:schemeClr val="bg1"/>
                        </a:solidFill>
                        <a:latin typeface="Arial"/>
                        <a:cs typeface="Arial"/>
                        <a:sym typeface="Arial"/>
                      </a:endParaRPr>
                    </a:p>
                  </a:txBody>
                  <a:tcPr anchor="ctr"/>
                </a:tc>
                <a:tc>
                  <a:txBody>
                    <a:bodyPr/>
                    <a:lstStyle/>
                    <a:p>
                      <a:pPr algn="ctr"/>
                      <a:r>
                        <a:rPr lang="pt-PT" sz="1100" dirty="0">
                          <a:solidFill>
                            <a:schemeClr val="bg1"/>
                          </a:solidFill>
                        </a:rPr>
                        <a:t>32719</a:t>
                      </a:r>
                    </a:p>
                  </a:txBody>
                  <a:tcPr anchor="ctr"/>
                </a:tc>
                <a:tc>
                  <a:txBody>
                    <a:bodyPr/>
                    <a:lstStyle/>
                    <a:p>
                      <a:pPr algn="ctr"/>
                      <a:r>
                        <a:rPr lang="pt-PT" sz="1100" dirty="0">
                          <a:solidFill>
                            <a:schemeClr val="bg1"/>
                          </a:solidFill>
                        </a:rPr>
                        <a:t>32719</a:t>
                      </a:r>
                    </a:p>
                  </a:txBody>
                  <a:tcPr anchor="ctr"/>
                </a:tc>
                <a:extLst>
                  <a:ext uri="{0D108BD9-81ED-4DB2-BD59-A6C34878D82A}">
                    <a16:rowId xmlns:a16="http://schemas.microsoft.com/office/drawing/2014/main" val="111316425"/>
                  </a:ext>
                </a:extLst>
              </a:tr>
              <a:tr h="39600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pt-PT" sz="1100" dirty="0">
                          <a:solidFill>
                            <a:schemeClr val="bg1"/>
                          </a:solidFill>
                        </a:rPr>
                        <a:t>game_9x9</a:t>
                      </a:r>
                    </a:p>
                  </a:txBody>
                  <a:tcPr anchor="ctr">
                    <a:lnB w="12700" cap="flat" cmpd="sng" algn="ctr">
                      <a:solidFill>
                        <a:srgbClr val="FF9973"/>
                      </a:solidFill>
                      <a:prstDash val="solid"/>
                      <a:round/>
                      <a:headEnd type="none" w="med" len="med"/>
                      <a:tailEnd type="none" w="med" len="med"/>
                    </a:lnB>
                  </a:tcPr>
                </a:tc>
                <a:tc>
                  <a:txBody>
                    <a:bodyPr/>
                    <a:lstStyle/>
                    <a:p>
                      <a:pPr algn="ctr"/>
                      <a:r>
                        <a:rPr lang="pt-PT" sz="1100" b="1" dirty="0">
                          <a:solidFill>
                            <a:schemeClr val="bg1"/>
                          </a:solidFill>
                        </a:rPr>
                        <a:t>A*</a:t>
                      </a:r>
                    </a:p>
                  </a:txBody>
                  <a:tcPr anchor="ctr">
                    <a:lnB w="12700" cap="flat" cmpd="sng" algn="ctr">
                      <a:solidFill>
                        <a:srgbClr val="FF9973"/>
                      </a:solidFill>
                      <a:prstDash val="solid"/>
                      <a:round/>
                      <a:headEnd type="none" w="med" len="med"/>
                      <a:tailEnd type="none" w="med" len="med"/>
                    </a:lnB>
                  </a:tcPr>
                </a:tc>
                <a:tc>
                  <a:txBody>
                    <a:bodyPr/>
                    <a:lstStyle/>
                    <a:p>
                      <a:pPr algn="ctr"/>
                      <a:r>
                        <a:rPr lang="pt-PT" sz="1100" b="0" i="0" u="none" strike="noStrike" cap="none" dirty="0">
                          <a:solidFill>
                            <a:schemeClr val="bg1"/>
                          </a:solidFill>
                          <a:latin typeface="+mn-lt"/>
                          <a:cs typeface="Arial"/>
                          <a:sym typeface="Arial"/>
                        </a:rPr>
                        <a:t>973.6412715911865</a:t>
                      </a:r>
                      <a:endParaRPr lang="pt-PT" sz="1100" b="0" i="0" u="none" strike="noStrike" cap="none" dirty="0">
                        <a:solidFill>
                          <a:schemeClr val="bg1"/>
                        </a:solidFill>
                        <a:latin typeface="Arial"/>
                        <a:cs typeface="Arial"/>
                        <a:sym typeface="Arial"/>
                      </a:endParaRPr>
                    </a:p>
                  </a:txBody>
                  <a:tcPr anchor="ctr">
                    <a:lnB w="12700" cap="flat" cmpd="sng" algn="ctr">
                      <a:solidFill>
                        <a:srgbClr val="FF9973"/>
                      </a:solidFill>
                      <a:prstDash val="solid"/>
                      <a:round/>
                      <a:headEnd type="none" w="med" len="med"/>
                      <a:tailEnd type="none" w="med" len="med"/>
                    </a:lnB>
                  </a:tcPr>
                </a:tc>
                <a:tc>
                  <a:txBody>
                    <a:bodyPr/>
                    <a:lstStyle/>
                    <a:p>
                      <a:pPr algn="ctr"/>
                      <a:r>
                        <a:rPr lang="pt-PT" sz="1100" dirty="0">
                          <a:solidFill>
                            <a:schemeClr val="bg1"/>
                          </a:solidFill>
                        </a:rPr>
                        <a:t>39424</a:t>
                      </a:r>
                    </a:p>
                  </a:txBody>
                  <a:tcPr anchor="ctr">
                    <a:lnB w="12700" cap="flat" cmpd="sng" algn="ctr">
                      <a:solidFill>
                        <a:srgbClr val="FF9973"/>
                      </a:solidFill>
                      <a:prstDash val="solid"/>
                      <a:round/>
                      <a:headEnd type="none" w="med" len="med"/>
                      <a:tailEnd type="none" w="med" len="med"/>
                    </a:lnB>
                  </a:tcPr>
                </a:tc>
                <a:tc>
                  <a:txBody>
                    <a:bodyPr/>
                    <a:lstStyle/>
                    <a:p>
                      <a:pPr algn="ctr"/>
                      <a:endParaRPr lang="pt-PT" sz="1100" dirty="0">
                        <a:solidFill>
                          <a:schemeClr val="bg1"/>
                        </a:solidFill>
                      </a:endParaRPr>
                    </a:p>
                  </a:txBody>
                  <a:tcPr anchor="ctr">
                    <a:lnB w="12700" cap="flat" cmpd="sng" algn="ctr">
                      <a:solidFill>
                        <a:srgbClr val="FF9973"/>
                      </a:solidFill>
                      <a:prstDash val="solid"/>
                      <a:round/>
                      <a:headEnd type="none" w="med" len="med"/>
                      <a:tailEnd type="none" w="med" len="med"/>
                    </a:lnB>
                  </a:tcPr>
                </a:tc>
                <a:extLst>
                  <a:ext uri="{0D108BD9-81ED-4DB2-BD59-A6C34878D82A}">
                    <a16:rowId xmlns:a16="http://schemas.microsoft.com/office/drawing/2014/main" val="1378393370"/>
                  </a:ext>
                </a:extLst>
              </a:tr>
            </a:tbl>
          </a:graphicData>
        </a:graphic>
      </p:graphicFrame>
      <p:sp>
        <p:nvSpPr>
          <p:cNvPr id="9" name="CaixaDeTexto 8">
            <a:extLst>
              <a:ext uri="{FF2B5EF4-FFF2-40B4-BE49-F238E27FC236}">
                <a16:creationId xmlns:a16="http://schemas.microsoft.com/office/drawing/2014/main" id="{7470C0E1-BE4C-BBC3-A8DE-F27BB31D5CB5}"/>
              </a:ext>
            </a:extLst>
          </p:cNvPr>
          <p:cNvSpPr txBox="1"/>
          <p:nvPr/>
        </p:nvSpPr>
        <p:spPr>
          <a:xfrm rot="16200000">
            <a:off x="-2417861" y="2402473"/>
            <a:ext cx="5143501" cy="338554"/>
          </a:xfrm>
          <a:prstGeom prst="rect">
            <a:avLst/>
          </a:prstGeom>
          <a:solidFill>
            <a:schemeClr val="bg1"/>
          </a:solidFill>
        </p:spPr>
        <p:txBody>
          <a:bodyPr wrap="square">
            <a:spAutoFit/>
          </a:bodyPr>
          <a:lstStyle/>
          <a:p>
            <a:pPr algn="ctr"/>
            <a:r>
              <a:rPr lang="pt-PT" sz="1600" b="1" dirty="0" err="1">
                <a:solidFill>
                  <a:srgbClr val="EF9270"/>
                </a:solidFill>
              </a:rPr>
              <a:t>Algorithms</a:t>
            </a:r>
            <a:r>
              <a:rPr lang="pt-PT" sz="1600" b="1" dirty="0">
                <a:solidFill>
                  <a:srgbClr val="EF9270"/>
                </a:solidFill>
              </a:rPr>
              <a:t> </a:t>
            </a:r>
            <a:r>
              <a:rPr lang="pt-PT" sz="1600" b="1" dirty="0" err="1">
                <a:solidFill>
                  <a:srgbClr val="EF9270"/>
                </a:solidFill>
              </a:rPr>
              <a:t>implemented</a:t>
            </a:r>
            <a:r>
              <a:rPr lang="pt-PT" sz="1600" b="1" dirty="0">
                <a:solidFill>
                  <a:srgbClr val="EF9270"/>
                </a:solidFill>
              </a:rPr>
              <a:t> </a:t>
            </a:r>
            <a:r>
              <a:rPr lang="pt-PT" sz="1600" b="1" dirty="0" err="1">
                <a:solidFill>
                  <a:srgbClr val="EF9270"/>
                </a:solidFill>
              </a:rPr>
              <a:t>and</a:t>
            </a:r>
            <a:r>
              <a:rPr lang="pt-PT" sz="1600" b="1" dirty="0">
                <a:solidFill>
                  <a:srgbClr val="EF9270"/>
                </a:solidFill>
              </a:rPr>
              <a:t> experimental </a:t>
            </a:r>
            <a:r>
              <a:rPr lang="pt-PT" sz="1600" b="1" dirty="0" err="1">
                <a:solidFill>
                  <a:srgbClr val="EF9270"/>
                </a:solidFill>
              </a:rPr>
              <a:t>results</a:t>
            </a:r>
            <a:endParaRPr lang="pt-PT" sz="1600" b="1" dirty="0">
              <a:solidFill>
                <a:srgbClr val="EF9270"/>
              </a:solidFill>
            </a:endParaRPr>
          </a:p>
        </p:txBody>
      </p:sp>
      <p:sp>
        <p:nvSpPr>
          <p:cNvPr id="10" name="CaixaDeTexto 9">
            <a:extLst>
              <a:ext uri="{FF2B5EF4-FFF2-40B4-BE49-F238E27FC236}">
                <a16:creationId xmlns:a16="http://schemas.microsoft.com/office/drawing/2014/main" id="{2184A54E-CB09-2DF0-DC9D-97177F8C5754}"/>
              </a:ext>
            </a:extLst>
          </p:cNvPr>
          <p:cNvSpPr txBox="1"/>
          <p:nvPr/>
        </p:nvSpPr>
        <p:spPr>
          <a:xfrm>
            <a:off x="860486" y="2076681"/>
            <a:ext cx="7857366" cy="1600438"/>
          </a:xfrm>
          <a:prstGeom prst="rect">
            <a:avLst/>
          </a:prstGeom>
          <a:noFill/>
        </p:spPr>
        <p:txBody>
          <a:bodyPr wrap="square">
            <a:spAutoFit/>
          </a:bodyPr>
          <a:lstStyle/>
          <a:p>
            <a:r>
              <a:rPr lang="pt-PT" dirty="0">
                <a:solidFill>
                  <a:schemeClr val="bg1"/>
                </a:solidFill>
                <a:latin typeface="Maven Pro" panose="020B0604020202020204" charset="0"/>
              </a:rPr>
              <a:t>In </a:t>
            </a:r>
            <a:r>
              <a:rPr lang="pt-PT" dirty="0" err="1">
                <a:solidFill>
                  <a:schemeClr val="bg1"/>
                </a:solidFill>
                <a:latin typeface="Maven Pro" panose="020B0604020202020204" charset="0"/>
              </a:rPr>
              <a:t>the</a:t>
            </a:r>
            <a:r>
              <a:rPr lang="pt-PT" dirty="0">
                <a:solidFill>
                  <a:schemeClr val="bg1"/>
                </a:solidFill>
                <a:latin typeface="Maven Pro" panose="020B0604020202020204" charset="0"/>
              </a:rPr>
              <a:t> game, </a:t>
            </a:r>
            <a:r>
              <a:rPr lang="pt-PT" dirty="0" err="1">
                <a:solidFill>
                  <a:schemeClr val="bg1"/>
                </a:solidFill>
                <a:latin typeface="Maven Pro" panose="020B0604020202020204" charset="0"/>
              </a:rPr>
              <a:t>there</a:t>
            </a:r>
            <a:r>
              <a:rPr lang="pt-PT" dirty="0">
                <a:solidFill>
                  <a:schemeClr val="bg1"/>
                </a:solidFill>
                <a:latin typeface="Maven Pro" panose="020B0604020202020204" charset="0"/>
              </a:rPr>
              <a:t> are </a:t>
            </a:r>
            <a:r>
              <a:rPr lang="pt-PT" dirty="0" err="1">
                <a:solidFill>
                  <a:schemeClr val="bg1"/>
                </a:solidFill>
                <a:latin typeface="Maven Pro" panose="020B0604020202020204" charset="0"/>
              </a:rPr>
              <a:t>three</a:t>
            </a:r>
            <a:r>
              <a:rPr lang="pt-PT" dirty="0">
                <a:solidFill>
                  <a:schemeClr val="bg1"/>
                </a:solidFill>
                <a:latin typeface="Maven Pro" panose="020B0604020202020204" charset="0"/>
              </a:rPr>
              <a:t> diferentes </a:t>
            </a:r>
            <a:r>
              <a:rPr lang="pt-PT" dirty="0" err="1">
                <a:solidFill>
                  <a:schemeClr val="bg1"/>
                </a:solidFill>
                <a:latin typeface="Maven Pro" panose="020B0604020202020204" charset="0"/>
              </a:rPr>
              <a:t>search</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methods</a:t>
            </a:r>
            <a:r>
              <a:rPr lang="pt-PT" dirty="0">
                <a:solidFill>
                  <a:schemeClr val="bg1"/>
                </a:solidFill>
                <a:latin typeface="Maven Pro" panose="020B0604020202020204" charset="0"/>
              </a:rPr>
              <a:t>: </a:t>
            </a:r>
            <a:br>
              <a:rPr lang="pt-PT" dirty="0">
                <a:solidFill>
                  <a:schemeClr val="bg1"/>
                </a:solidFill>
                <a:latin typeface="Maven Pro" panose="020B0604020202020204" charset="0"/>
              </a:rPr>
            </a:br>
            <a:endParaRPr lang="pt-PT" dirty="0">
              <a:solidFill>
                <a:schemeClr val="bg1"/>
              </a:solidFill>
              <a:latin typeface="Maven Pro" panose="020B0604020202020204" charset="0"/>
            </a:endParaRPr>
          </a:p>
          <a:p>
            <a:pPr algn="just"/>
            <a:r>
              <a:rPr lang="pt-PT" dirty="0">
                <a:solidFill>
                  <a:schemeClr val="bg1"/>
                </a:solidFill>
                <a:latin typeface="Maven Pro" panose="020B0604020202020204" charset="0"/>
              </a:rPr>
              <a:t>BFS (</a:t>
            </a:r>
            <a:r>
              <a:rPr lang="pt-PT" dirty="0" err="1">
                <a:solidFill>
                  <a:schemeClr val="bg1"/>
                </a:solidFill>
                <a:latin typeface="Maven Pro" panose="020B0604020202020204" charset="0"/>
              </a:rPr>
              <a:t>breadth-first</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search</a:t>
            </a:r>
            <a:r>
              <a:rPr lang="pt-PT" dirty="0">
                <a:solidFill>
                  <a:schemeClr val="bg1"/>
                </a:solidFill>
                <a:latin typeface="Maven Pro" panose="020B0604020202020204" charset="0"/>
              </a:rPr>
              <a:t>); DFS (</a:t>
            </a:r>
            <a:r>
              <a:rPr lang="pt-PT" dirty="0" err="1">
                <a:solidFill>
                  <a:schemeClr val="bg1"/>
                </a:solidFill>
                <a:latin typeface="Maven Pro" panose="020B0604020202020204" charset="0"/>
              </a:rPr>
              <a:t>depth-first</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search</a:t>
            </a:r>
            <a:r>
              <a:rPr lang="pt-PT" dirty="0">
                <a:solidFill>
                  <a:schemeClr val="bg1"/>
                </a:solidFill>
                <a:latin typeface="Maven Pro" panose="020B0604020202020204" charset="0"/>
              </a:rPr>
              <a:t>); A* </a:t>
            </a:r>
            <a:r>
              <a:rPr lang="pt-PT" dirty="0" err="1">
                <a:solidFill>
                  <a:schemeClr val="bg1"/>
                </a:solidFill>
                <a:latin typeface="Maven Pro" panose="020B0604020202020204" charset="0"/>
              </a:rPr>
              <a:t>algorithm</a:t>
            </a:r>
            <a:r>
              <a:rPr lang="pt-PT" dirty="0">
                <a:solidFill>
                  <a:schemeClr val="bg1"/>
                </a:solidFill>
                <a:latin typeface="Maven Pro" panose="020B0604020202020204" charset="0"/>
              </a:rPr>
              <a:t>.</a:t>
            </a:r>
          </a:p>
          <a:p>
            <a:pPr algn="just"/>
            <a:endParaRPr lang="pt-PT" dirty="0">
              <a:solidFill>
                <a:schemeClr val="bg1"/>
              </a:solidFill>
              <a:latin typeface="Maven Pro" panose="020B0604020202020204" charset="0"/>
            </a:endParaRPr>
          </a:p>
          <a:p>
            <a:pPr algn="just"/>
            <a:r>
              <a:rPr lang="pt-PT" dirty="0" err="1">
                <a:solidFill>
                  <a:schemeClr val="bg1"/>
                </a:solidFill>
                <a:latin typeface="Maven Pro" panose="020B0604020202020204" charset="0"/>
              </a:rPr>
              <a:t>Through</a:t>
            </a:r>
            <a:r>
              <a:rPr lang="pt-PT" dirty="0">
                <a:solidFill>
                  <a:schemeClr val="bg1"/>
                </a:solidFill>
                <a:latin typeface="Maven Pro" panose="020B0604020202020204" charset="0"/>
              </a:rPr>
              <a:t> experimental </a:t>
            </a:r>
            <a:r>
              <a:rPr lang="pt-PT" dirty="0" err="1">
                <a:solidFill>
                  <a:schemeClr val="bg1"/>
                </a:solidFill>
                <a:latin typeface="Maven Pro" panose="020B0604020202020204" charset="0"/>
              </a:rPr>
              <a:t>results</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we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couldn’t</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finish</a:t>
            </a:r>
            <a:r>
              <a:rPr lang="pt-PT" dirty="0">
                <a:solidFill>
                  <a:schemeClr val="bg1"/>
                </a:solidFill>
                <a:latin typeface="Maven Pro" panose="020B0604020202020204" charset="0"/>
              </a:rPr>
              <a:t> A* </a:t>
            </a:r>
            <a:r>
              <a:rPr lang="pt-PT" dirty="0" err="1">
                <a:solidFill>
                  <a:schemeClr val="bg1"/>
                </a:solidFill>
                <a:latin typeface="Maven Pro" panose="020B0604020202020204" charset="0"/>
              </a:rPr>
              <a:t>algorithm</a:t>
            </a:r>
            <a:r>
              <a:rPr lang="pt-PT" dirty="0">
                <a:solidFill>
                  <a:schemeClr val="bg1"/>
                </a:solidFill>
                <a:latin typeface="Maven Pro" panose="020B0604020202020204" charset="0"/>
              </a:rPr>
              <a:t> as </a:t>
            </a:r>
            <a:r>
              <a:rPr lang="pt-PT" dirty="0" err="1">
                <a:solidFill>
                  <a:schemeClr val="bg1"/>
                </a:solidFill>
                <a:latin typeface="Maven Pro" panose="020B0604020202020204" charset="0"/>
              </a:rPr>
              <a:t>we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intended</a:t>
            </a:r>
            <a:r>
              <a:rPr lang="pt-PT" dirty="0">
                <a:solidFill>
                  <a:schemeClr val="bg1"/>
                </a:solidFill>
                <a:latin typeface="Maven Pro" panose="020B0604020202020204" charset="0"/>
              </a:rPr>
              <a:t> to.</a:t>
            </a:r>
          </a:p>
          <a:p>
            <a:pPr algn="just"/>
            <a:endParaRPr lang="pt-PT" dirty="0">
              <a:solidFill>
                <a:schemeClr val="bg1"/>
              </a:solidFill>
              <a:latin typeface="Maven Pro" panose="020B0604020202020204" charset="0"/>
            </a:endParaRPr>
          </a:p>
          <a:p>
            <a:pPr algn="just"/>
            <a:r>
              <a:rPr lang="pt-PT" dirty="0" err="1">
                <a:solidFill>
                  <a:schemeClr val="bg1"/>
                </a:solidFill>
                <a:latin typeface="Maven Pro" panose="020B0604020202020204" charset="0"/>
              </a:rPr>
              <a:t>The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best</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algorithm</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is</a:t>
            </a:r>
            <a:r>
              <a:rPr lang="pt-PT" dirty="0">
                <a:solidFill>
                  <a:schemeClr val="bg1"/>
                </a:solidFill>
                <a:latin typeface="Maven Pro" panose="020B0604020202020204" charset="0"/>
              </a:rPr>
              <a:t> BFS (</a:t>
            </a:r>
            <a:r>
              <a:rPr lang="pt-PT" dirty="0" err="1">
                <a:solidFill>
                  <a:schemeClr val="bg1"/>
                </a:solidFill>
                <a:latin typeface="Maven Pro" panose="020B0604020202020204" charset="0"/>
              </a:rPr>
              <a:t>breadth-first</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search</a:t>
            </a:r>
            <a:r>
              <a:rPr lang="pt-PT" dirty="0">
                <a:solidFill>
                  <a:schemeClr val="bg1"/>
                </a:solidFill>
                <a:latin typeface="Maven Pro" panose="020B0604020202020204" charset="0"/>
              </a:rPr>
              <a:t>).</a:t>
            </a:r>
          </a:p>
        </p:txBody>
      </p:sp>
      <p:sp>
        <p:nvSpPr>
          <p:cNvPr id="2" name="CaixaDeTexto 1">
            <a:extLst>
              <a:ext uri="{FF2B5EF4-FFF2-40B4-BE49-F238E27FC236}">
                <a16:creationId xmlns:a16="http://schemas.microsoft.com/office/drawing/2014/main" id="{4360604B-0506-05F1-D3DD-D572D6563DAF}"/>
              </a:ext>
            </a:extLst>
          </p:cNvPr>
          <p:cNvSpPr txBox="1"/>
          <p:nvPr/>
        </p:nvSpPr>
        <p:spPr>
          <a:xfrm>
            <a:off x="860486" y="3859470"/>
            <a:ext cx="7857366" cy="738664"/>
          </a:xfrm>
          <a:prstGeom prst="rect">
            <a:avLst/>
          </a:prstGeom>
          <a:noFill/>
        </p:spPr>
        <p:txBody>
          <a:bodyPr wrap="square">
            <a:spAutoFit/>
          </a:bodyPr>
          <a:lstStyle/>
          <a:p>
            <a:r>
              <a:rPr lang="pt-PT" dirty="0">
                <a:solidFill>
                  <a:schemeClr val="bg1"/>
                </a:solidFill>
                <a:latin typeface="Maven Pro" panose="020B0604020202020204" charset="0"/>
              </a:rPr>
              <a:t>Note: </a:t>
            </a:r>
            <a:r>
              <a:rPr lang="pt-PT" dirty="0" err="1">
                <a:solidFill>
                  <a:schemeClr val="bg1"/>
                </a:solidFill>
                <a:latin typeface="Maven Pro" panose="020B0604020202020204" charset="0"/>
              </a:rPr>
              <a:t>The</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board</a:t>
            </a:r>
            <a:r>
              <a:rPr lang="pt-PT" dirty="0">
                <a:solidFill>
                  <a:schemeClr val="bg1"/>
                </a:solidFill>
                <a:latin typeface="Maven Pro" panose="020B0604020202020204" charset="0"/>
              </a:rPr>
              <a:t> game_12x12 </a:t>
            </a:r>
            <a:r>
              <a:rPr lang="pt-PT" dirty="0" err="1">
                <a:solidFill>
                  <a:schemeClr val="bg1"/>
                </a:solidFill>
                <a:latin typeface="Maven Pro" panose="020B0604020202020204" charset="0"/>
              </a:rPr>
              <a:t>was</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not</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possible</a:t>
            </a:r>
            <a:r>
              <a:rPr lang="pt-PT" dirty="0">
                <a:solidFill>
                  <a:schemeClr val="bg1"/>
                </a:solidFill>
                <a:latin typeface="Maven Pro" panose="020B0604020202020204" charset="0"/>
              </a:rPr>
              <a:t> to complete as </a:t>
            </a:r>
            <a:r>
              <a:rPr lang="pt-PT" dirty="0" err="1">
                <a:solidFill>
                  <a:schemeClr val="bg1"/>
                </a:solidFill>
                <a:latin typeface="Maven Pro" panose="020B0604020202020204" charset="0"/>
              </a:rPr>
              <a:t>it</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required</a:t>
            </a:r>
            <a:r>
              <a:rPr lang="pt-PT" dirty="0">
                <a:solidFill>
                  <a:schemeClr val="bg1"/>
                </a:solidFill>
                <a:latin typeface="Maven Pro" panose="020B0604020202020204" charset="0"/>
              </a:rPr>
              <a:t> too </a:t>
            </a:r>
            <a:r>
              <a:rPr lang="pt-PT" dirty="0" err="1">
                <a:solidFill>
                  <a:schemeClr val="bg1"/>
                </a:solidFill>
                <a:latin typeface="Maven Pro" panose="020B0604020202020204" charset="0"/>
              </a:rPr>
              <a:t>many</a:t>
            </a:r>
            <a:r>
              <a:rPr lang="pt-PT" dirty="0">
                <a:solidFill>
                  <a:schemeClr val="bg1"/>
                </a:solidFill>
                <a:latin typeface="Maven Pro" panose="020B0604020202020204" charset="0"/>
              </a:rPr>
              <a:t> computacional </a:t>
            </a:r>
            <a:r>
              <a:rPr lang="pt-PT" dirty="0" err="1">
                <a:solidFill>
                  <a:schemeClr val="bg1"/>
                </a:solidFill>
                <a:latin typeface="Maven Pro" panose="020B0604020202020204" charset="0"/>
              </a:rPr>
              <a:t>resources</a:t>
            </a:r>
            <a:r>
              <a:rPr lang="pt-PT" dirty="0">
                <a:solidFill>
                  <a:schemeClr val="bg1"/>
                </a:solidFill>
                <a:latin typeface="Maven Pro" panose="020B0604020202020204" charset="0"/>
              </a:rPr>
              <a:t> to </a:t>
            </a:r>
            <a:r>
              <a:rPr lang="pt-PT" dirty="0" err="1">
                <a:solidFill>
                  <a:schemeClr val="bg1"/>
                </a:solidFill>
                <a:latin typeface="Maven Pro" panose="020B0604020202020204" charset="0"/>
              </a:rPr>
              <a:t>present</a:t>
            </a:r>
            <a:r>
              <a:rPr lang="pt-PT" dirty="0">
                <a:solidFill>
                  <a:schemeClr val="bg1"/>
                </a:solidFill>
                <a:latin typeface="Maven Pro" panose="020B0604020202020204" charset="0"/>
              </a:rPr>
              <a:t> </a:t>
            </a:r>
            <a:r>
              <a:rPr lang="pt-PT" dirty="0" err="1">
                <a:solidFill>
                  <a:schemeClr val="bg1"/>
                </a:solidFill>
                <a:latin typeface="Maven Pro" panose="020B0604020202020204" charset="0"/>
              </a:rPr>
              <a:t>results</a:t>
            </a:r>
            <a:r>
              <a:rPr lang="pt-PT" dirty="0">
                <a:solidFill>
                  <a:schemeClr val="bg1"/>
                </a:solidFill>
                <a:latin typeface="Maven Pro" panose="020B0604020202020204" charset="0"/>
              </a:rPr>
              <a:t>. </a:t>
            </a:r>
            <a:r>
              <a:rPr lang="en-US" dirty="0">
                <a:solidFill>
                  <a:schemeClr val="bg1"/>
                </a:solidFill>
                <a:latin typeface="Maven Pro" panose="020B0604020202020204" charset="0"/>
              </a:rPr>
              <a:t>After more than 3 hours of running, we decided to end it, without obtaining the desired results.</a:t>
            </a:r>
            <a:endParaRPr lang="pt-PT" dirty="0">
              <a:solidFill>
                <a:schemeClr val="bg1"/>
              </a:solidFill>
              <a:latin typeface="Maven Pro" panose="020B0604020202020204" charset="0"/>
            </a:endParaRPr>
          </a:p>
        </p:txBody>
      </p:sp>
    </p:spTree>
    <p:extLst>
      <p:ext uri="{BB962C8B-B14F-4D97-AF65-F5344CB8AC3E}">
        <p14:creationId xmlns:p14="http://schemas.microsoft.com/office/powerpoint/2010/main" val="341192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ela 1">
            <a:extLst>
              <a:ext uri="{FF2B5EF4-FFF2-40B4-BE49-F238E27FC236}">
                <a16:creationId xmlns:a16="http://schemas.microsoft.com/office/drawing/2014/main" id="{6CC748E1-91CC-CB33-7327-B4E6DE05CBBC}"/>
              </a:ext>
            </a:extLst>
          </p:cNvPr>
          <p:cNvGraphicFramePr>
            <a:graphicFrameLocks noGrp="1"/>
          </p:cNvGraphicFramePr>
          <p:nvPr>
            <p:extLst>
              <p:ext uri="{D42A27DB-BD31-4B8C-83A1-F6EECF244321}">
                <p14:modId xmlns:p14="http://schemas.microsoft.com/office/powerpoint/2010/main" val="4059279868"/>
              </p:ext>
            </p:extLst>
          </p:nvPr>
        </p:nvGraphicFramePr>
        <p:xfrm>
          <a:off x="0" y="0"/>
          <a:ext cx="9144000" cy="5180053"/>
        </p:xfrm>
        <a:graphic>
          <a:graphicData uri="http://schemas.openxmlformats.org/drawingml/2006/table">
            <a:tbl>
              <a:tblPr firstRow="1" firstCol="1" bandRow="1">
                <a:tableStyleId>{7E9639D4-E3E2-4D34-9284-5A2195B3D0D7}</a:tableStyleId>
              </a:tblPr>
              <a:tblGrid>
                <a:gridCol w="657225">
                  <a:extLst>
                    <a:ext uri="{9D8B030D-6E8A-4147-A177-3AD203B41FA5}">
                      <a16:colId xmlns:a16="http://schemas.microsoft.com/office/drawing/2014/main" val="4225834048"/>
                    </a:ext>
                  </a:extLst>
                </a:gridCol>
                <a:gridCol w="981075">
                  <a:extLst>
                    <a:ext uri="{9D8B030D-6E8A-4147-A177-3AD203B41FA5}">
                      <a16:colId xmlns:a16="http://schemas.microsoft.com/office/drawing/2014/main" val="529815914"/>
                    </a:ext>
                  </a:extLst>
                </a:gridCol>
                <a:gridCol w="7505700">
                  <a:extLst>
                    <a:ext uri="{9D8B030D-6E8A-4147-A177-3AD203B41FA5}">
                      <a16:colId xmlns:a16="http://schemas.microsoft.com/office/drawing/2014/main" val="4210171288"/>
                    </a:ext>
                  </a:extLst>
                </a:gridCol>
              </a:tblGrid>
              <a:tr h="364213">
                <a:tc>
                  <a:txBody>
                    <a:bodyPr/>
                    <a:lstStyle/>
                    <a:p>
                      <a:pPr algn="ctr"/>
                      <a:r>
                        <a:rPr lang="pt-PT" sz="1200" b="1" i="0" u="none" strike="noStrike" cap="small" baseline="0" dirty="0" err="1">
                          <a:solidFill>
                            <a:srgbClr val="E94573"/>
                          </a:solidFill>
                          <a:latin typeface="+mn-lt"/>
                          <a:ea typeface="+mn-ea"/>
                          <a:cs typeface="+mn-cs"/>
                          <a:sym typeface="Arial"/>
                        </a:rPr>
                        <a:t>Board</a:t>
                      </a:r>
                      <a:endParaRPr lang="pt-PT" sz="1200" cap="small" baseline="0" dirty="0">
                        <a:solidFill>
                          <a:schemeClr val="bg1"/>
                        </a:solidFill>
                      </a:endParaRPr>
                    </a:p>
                  </a:txBody>
                  <a:tcPr anchor="ctr"/>
                </a:tc>
                <a:tc>
                  <a:txBody>
                    <a:bodyPr/>
                    <a:lstStyle/>
                    <a:p>
                      <a:pPr algn="ctr"/>
                      <a:r>
                        <a:rPr lang="pt-PT" sz="1200" cap="small" baseline="0" dirty="0" err="1">
                          <a:solidFill>
                            <a:schemeClr val="bg1"/>
                          </a:solidFill>
                        </a:rPr>
                        <a:t>Level</a:t>
                      </a:r>
                      <a:endParaRPr lang="pt-PT" sz="1200" cap="small" baseline="0" dirty="0">
                        <a:solidFill>
                          <a:schemeClr val="bg1"/>
                        </a:solidFill>
                      </a:endParaRPr>
                    </a:p>
                  </a:txBody>
                  <a:tcPr anchor="ctr"/>
                </a:tc>
                <a:tc>
                  <a:txBody>
                    <a:bodyPr/>
                    <a:lstStyle/>
                    <a:p>
                      <a:pPr algn="ctr"/>
                      <a:r>
                        <a:rPr lang="pt-PT" sz="1200" cap="small" baseline="0" dirty="0" err="1">
                          <a:solidFill>
                            <a:schemeClr val="bg1"/>
                          </a:solidFill>
                        </a:rPr>
                        <a:t>Algorithm</a:t>
                      </a:r>
                      <a:r>
                        <a:rPr lang="pt-PT" sz="1200" cap="small" baseline="0" dirty="0">
                          <a:solidFill>
                            <a:schemeClr val="bg1"/>
                          </a:solidFill>
                        </a:rPr>
                        <a:t> </a:t>
                      </a:r>
                      <a:r>
                        <a:rPr lang="pt-PT" sz="1200" cap="small" baseline="0" dirty="0" err="1">
                          <a:solidFill>
                            <a:schemeClr val="bg1"/>
                          </a:solidFill>
                        </a:rPr>
                        <a:t>bfs</a:t>
                      </a:r>
                      <a:endParaRPr lang="pt-PT" sz="1200" cap="small" baseline="0" dirty="0">
                        <a:solidFill>
                          <a:schemeClr val="bg1"/>
                        </a:solidFill>
                      </a:endParaRPr>
                    </a:p>
                  </a:txBody>
                  <a:tcPr anchor="ctr"/>
                </a:tc>
                <a:extLst>
                  <a:ext uri="{0D108BD9-81ED-4DB2-BD59-A6C34878D82A}">
                    <a16:rowId xmlns:a16="http://schemas.microsoft.com/office/drawing/2014/main" val="1134648701"/>
                  </a:ext>
                </a:extLst>
              </a:tr>
              <a:tr h="37295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pt-PT" sz="1100">
                          <a:solidFill>
                            <a:schemeClr val="bg1"/>
                          </a:solidFill>
                        </a:rPr>
                        <a:t>game_6x6</a:t>
                      </a:r>
                      <a:endParaRPr lang="pt-PT" sz="1100" dirty="0">
                        <a:solidFill>
                          <a:schemeClr val="bg1"/>
                        </a:solidFill>
                      </a:endParaRPr>
                    </a:p>
                  </a:txBody>
                  <a:tcPr anchor="ctr"/>
                </a:tc>
                <a:tc>
                  <a:txBody>
                    <a:bodyPr/>
                    <a:lstStyle/>
                    <a:p>
                      <a:pPr algn="ctr"/>
                      <a:r>
                        <a:rPr lang="pt-PT" sz="1100" b="0" i="0" u="none" strike="noStrike" cap="none" dirty="0" err="1">
                          <a:solidFill>
                            <a:schemeClr val="bg1"/>
                          </a:solidFill>
                          <a:latin typeface="+mn-lt"/>
                          <a:ea typeface="+mn-ea"/>
                          <a:cs typeface="+mn-cs"/>
                          <a:sym typeface="Arial"/>
                        </a:rPr>
                        <a:t>beginner</a:t>
                      </a:r>
                      <a:endParaRPr lang="pt-PT" sz="1100" b="0" i="0" u="none" strike="noStrike" cap="none" dirty="0">
                        <a:solidFill>
                          <a:schemeClr val="bg1"/>
                        </a:solidFill>
                        <a:latin typeface="+mn-lt"/>
                        <a:ea typeface="+mn-ea"/>
                        <a:cs typeface="+mn-cs"/>
                        <a:sym typeface="Arial"/>
                      </a:endParaRPr>
                    </a:p>
                  </a:txBody>
                  <a:tcPr anchor="ctr"/>
                </a:tc>
                <a:tc>
                  <a:txBody>
                    <a:bodyPr/>
                    <a:lstStyle/>
                    <a:p>
                      <a:pPr algn="ctr"/>
                      <a:r>
                        <a:rPr lang="en-US" sz="1100" b="0" i="0" u="none" strike="noStrike" cap="none" dirty="0">
                          <a:solidFill>
                            <a:schemeClr val="bg1"/>
                          </a:solidFill>
                          <a:latin typeface="+mn-lt"/>
                          <a:cs typeface="Arial"/>
                          <a:sym typeface="Arial"/>
                        </a:rPr>
                        <a:t>['G to the right', 'P up', 'B to the left', 'Y down', 'O up', 'W to the left', 'B to the left', 'Y down', 'W to the left', 'B to the left', 'V down', 'Y down', ‘V down', 'R to the right', 'R to the right', 'R to the right']</a:t>
                      </a:r>
                      <a:endParaRPr lang="pt-PT" sz="1100" b="0" i="0" u="none" strike="noStrike" cap="none" dirty="0">
                        <a:solidFill>
                          <a:schemeClr val="bg1"/>
                        </a:solidFill>
                        <a:latin typeface="Arial"/>
                        <a:cs typeface="Arial"/>
                        <a:sym typeface="Arial"/>
                      </a:endParaRPr>
                    </a:p>
                  </a:txBody>
                  <a:tcPr anchor="ctr"/>
                </a:tc>
                <a:extLst>
                  <a:ext uri="{0D108BD9-81ED-4DB2-BD59-A6C34878D82A}">
                    <a16:rowId xmlns:a16="http://schemas.microsoft.com/office/drawing/2014/main" val="2614842981"/>
                  </a:ext>
                </a:extLst>
              </a:tr>
              <a:tr h="37295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pt-PT" sz="1100" dirty="0">
                          <a:solidFill>
                            <a:schemeClr val="bg1"/>
                          </a:solidFill>
                        </a:rPr>
                        <a:t>game_6x6</a:t>
                      </a:r>
                    </a:p>
                  </a:txBody>
                  <a:tcPr anchor="ctr"/>
                </a:tc>
                <a:tc>
                  <a:txBody>
                    <a:bodyPr/>
                    <a:lstStyle/>
                    <a:p>
                      <a:pPr algn="ctr"/>
                      <a:r>
                        <a:rPr lang="pt-PT" sz="1100" b="0" i="0" u="none" strike="noStrike" cap="none" dirty="0" err="1">
                          <a:solidFill>
                            <a:schemeClr val="bg1"/>
                          </a:solidFill>
                          <a:latin typeface="+mn-lt"/>
                          <a:ea typeface="+mn-ea"/>
                          <a:cs typeface="+mn-cs"/>
                          <a:sym typeface="Arial"/>
                        </a:rPr>
                        <a:t>intermediate</a:t>
                      </a:r>
                      <a:endParaRPr lang="pt-PT" sz="1100" b="0" i="0" u="none" strike="noStrike" cap="none" dirty="0">
                        <a:solidFill>
                          <a:schemeClr val="bg1"/>
                        </a:solidFill>
                        <a:latin typeface="+mn-lt"/>
                        <a:ea typeface="+mn-ea"/>
                        <a:cs typeface="+mn-cs"/>
                        <a:sym typeface="Arial"/>
                      </a:endParaRPr>
                    </a:p>
                  </a:txBody>
                  <a:tcPr anchor="ctr"/>
                </a:tc>
                <a:tc>
                  <a:txBody>
                    <a:bodyPr/>
                    <a:lstStyle/>
                    <a:p>
                      <a:pPr algn="ctr"/>
                      <a:r>
                        <a:rPr lang="en-US" sz="1100" b="0" i="0" u="none" strike="noStrike" cap="none" dirty="0">
                          <a:solidFill>
                            <a:schemeClr val="bg1"/>
                          </a:solidFill>
                          <a:latin typeface="+mn-lt"/>
                          <a:cs typeface="Arial"/>
                          <a:sym typeface="Arial"/>
                        </a:rPr>
                        <a:t>['Y down', 'Y down', 'Y down', 'R to the left', 'O up', 'O up', 'B to the left', ‘V up', 'W to the right', 'V up', 'V up', 'B to the right', 'O down', 'O down', 'R to the right', 'Y up', 'O down', 'B to the left', 'Y up', 'B to the left', 'Y up', 'B to</a:t>
                      </a:r>
                    </a:p>
                    <a:p>
                      <a:pPr algn="ctr"/>
                      <a:r>
                        <a:rPr lang="en-US" sz="1100" b="0" i="0" u="none" strike="noStrike" cap="none" dirty="0">
                          <a:solidFill>
                            <a:schemeClr val="bg1"/>
                          </a:solidFill>
                          <a:latin typeface="+mn-lt"/>
                          <a:cs typeface="Arial"/>
                          <a:sym typeface="Arial"/>
                        </a:rPr>
                        <a:t>the left', 'P down', 'G to the right', 'G to the right', 'G to the right', 'P up', ‘B to the right', 'Y down', 'B to the right', 'Y down', 'B to the right', 'O up', ‘W to the left', 'Y down', 'R to the left', 'O up', 'W to the left', 'O up', 'B to the left', 'V down', 'O up', 'R to the right', 'Y up', 'W to the left', 'B to the left', ‘V down', 'Y up', 'Y up', 'B to the left', 'P down', 'P down', 'P down', 'R to the right', 'R to the right', 'R to the right']</a:t>
                      </a:r>
                      <a:endParaRPr lang="pt-PT" sz="1100" b="0" i="0" u="none" strike="noStrike" cap="none" dirty="0">
                        <a:solidFill>
                          <a:schemeClr val="bg1"/>
                        </a:solidFill>
                        <a:latin typeface="Arial"/>
                        <a:cs typeface="Arial"/>
                        <a:sym typeface="Arial"/>
                      </a:endParaRPr>
                    </a:p>
                  </a:txBody>
                  <a:tcPr anchor="ctr"/>
                </a:tc>
                <a:extLst>
                  <a:ext uri="{0D108BD9-81ED-4DB2-BD59-A6C34878D82A}">
                    <a16:rowId xmlns:a16="http://schemas.microsoft.com/office/drawing/2014/main" val="111316425"/>
                  </a:ext>
                </a:extLst>
              </a:tr>
              <a:tr h="37295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pt-PT" sz="1100" b="1" i="0" u="none" strike="noStrike" kern="0" cap="none" spc="0" normalizeH="0" baseline="0" noProof="0">
                          <a:ln>
                            <a:noFill/>
                          </a:ln>
                          <a:solidFill>
                            <a:srgbClr val="FFFFFF"/>
                          </a:solidFill>
                          <a:effectLst/>
                          <a:uLnTx/>
                          <a:uFillTx/>
                          <a:latin typeface="Arial"/>
                          <a:ea typeface="+mn-ea"/>
                          <a:cs typeface="+mn-cs"/>
                          <a:sym typeface="Arial"/>
                        </a:rPr>
                        <a:t>game_6x6</a:t>
                      </a:r>
                      <a:endParaRPr kumimoji="0" lang="pt-PT" sz="1100" b="1" i="0" u="none" strike="noStrike" kern="0" cap="none" spc="0" normalizeH="0" baseline="0" noProof="0" dirty="0">
                        <a:ln>
                          <a:noFill/>
                        </a:ln>
                        <a:solidFill>
                          <a:srgbClr val="FFFFFF"/>
                        </a:solidFill>
                        <a:effectLst/>
                        <a:uLnTx/>
                        <a:uFillTx/>
                        <a:latin typeface="Arial"/>
                        <a:ea typeface="+mn-ea"/>
                        <a:cs typeface="+mn-cs"/>
                        <a:sym typeface="Arial"/>
                      </a:endParaRPr>
                    </a:p>
                  </a:txBody>
                  <a:tcPr anchor="ctr"/>
                </a:tc>
                <a:tc>
                  <a:txBody>
                    <a:bodyPr/>
                    <a:lstStyle/>
                    <a:p>
                      <a:pPr algn="ctr"/>
                      <a:r>
                        <a:rPr lang="pt-PT" sz="1100" b="0" i="0" u="none" strike="noStrike" cap="none" dirty="0" err="1">
                          <a:solidFill>
                            <a:schemeClr val="bg1"/>
                          </a:solidFill>
                          <a:latin typeface="+mn-lt"/>
                          <a:ea typeface="+mn-ea"/>
                          <a:cs typeface="+mn-cs"/>
                          <a:sym typeface="Arial"/>
                        </a:rPr>
                        <a:t>advanced</a:t>
                      </a:r>
                      <a:endParaRPr lang="pt-PT" sz="1100" b="0" i="0" u="none" strike="noStrike" cap="none" dirty="0">
                        <a:solidFill>
                          <a:schemeClr val="bg1"/>
                        </a:solidFill>
                        <a:latin typeface="+mn-lt"/>
                        <a:ea typeface="+mn-ea"/>
                        <a:cs typeface="+mn-cs"/>
                        <a:sym typeface="Arial"/>
                      </a:endParaRPr>
                    </a:p>
                  </a:txBody>
                  <a:tcPr anchor="ctr"/>
                </a:tc>
                <a:tc>
                  <a:txBody>
                    <a:bodyPr/>
                    <a:lstStyle/>
                    <a:p>
                      <a:pPr algn="ctr"/>
                      <a:r>
                        <a:rPr lang="en-US" sz="1100" b="0" i="0" u="none" strike="noStrike" cap="none" dirty="0">
                          <a:solidFill>
                            <a:schemeClr val="bg1"/>
                          </a:solidFill>
                          <a:latin typeface="+mn-lt"/>
                          <a:cs typeface="Arial"/>
                          <a:sym typeface="Arial"/>
                        </a:rPr>
                        <a:t>['P down', 'B to the right', 'P down', 'R to the left', 'O down', 'G to the right’, 'B to the right', 'O down', 'O down', 'R to the right', 'P up', 'O down', 'B to the left', 'P up', 'B to the left', 'P up', 'B to the left', 'Y down', 'G to the right', 'G to the right', 'G to the right', 'Y up', 'B to the right', 'P down', 'B to the right', 'P down', 'B to the right', 'O up', 'W to the left', 'P down', 'R to the left', 'O up', 'W to the left', 'O up', 'B to the left', 'O up', 'R to the right’, 'P up', 'W to the left', 'B to the left', 'P up', 'P up', 'B to the left', 'Y down', ‘Y down', 'Y down', 'R to the right', 'R to the right', 'R to the right']</a:t>
                      </a:r>
                      <a:endParaRPr lang="pt-PT" sz="1100" b="0" i="0" u="none" strike="noStrike" cap="none" dirty="0">
                        <a:solidFill>
                          <a:schemeClr val="bg1"/>
                        </a:solidFill>
                        <a:latin typeface="+mn-lt"/>
                        <a:cs typeface="Arial"/>
                        <a:sym typeface="Arial"/>
                      </a:endParaRPr>
                    </a:p>
                  </a:txBody>
                  <a:tcPr anchor="ctr"/>
                </a:tc>
                <a:extLst>
                  <a:ext uri="{0D108BD9-81ED-4DB2-BD59-A6C34878D82A}">
                    <a16:rowId xmlns:a16="http://schemas.microsoft.com/office/drawing/2014/main" val="3891571496"/>
                  </a:ext>
                </a:extLst>
              </a:tr>
              <a:tr h="37295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pt-PT" sz="1100" b="1" i="0" u="none" strike="noStrike" kern="0" cap="none" spc="0" normalizeH="0" baseline="0" noProof="0" dirty="0">
                          <a:ln>
                            <a:noFill/>
                          </a:ln>
                          <a:solidFill>
                            <a:srgbClr val="FFFFFF"/>
                          </a:solidFill>
                          <a:effectLst/>
                          <a:uLnTx/>
                          <a:uFillTx/>
                          <a:latin typeface="Arial"/>
                          <a:ea typeface="+mn-ea"/>
                          <a:cs typeface="+mn-cs"/>
                          <a:sym typeface="Arial"/>
                        </a:rPr>
                        <a:t>game_6x6</a:t>
                      </a:r>
                    </a:p>
                  </a:txBody>
                  <a:tcPr anchor="ctr"/>
                </a:tc>
                <a:tc>
                  <a:txBody>
                    <a:bodyPr/>
                    <a:lstStyle/>
                    <a:p>
                      <a:pPr algn="ctr"/>
                      <a:r>
                        <a:rPr lang="pt-PT" sz="1100" b="0" i="0" u="none" strike="noStrike" cap="none" dirty="0">
                          <a:solidFill>
                            <a:schemeClr val="bg1"/>
                          </a:solidFill>
                          <a:latin typeface="+mn-lt"/>
                          <a:ea typeface="+mn-ea"/>
                          <a:cs typeface="+mn-cs"/>
                          <a:sym typeface="Arial"/>
                        </a:rPr>
                        <a:t>expert</a:t>
                      </a:r>
                    </a:p>
                  </a:txBody>
                  <a:tcPr anchor="ctr"/>
                </a:tc>
                <a:tc>
                  <a:txBody>
                    <a:bodyPr/>
                    <a:lstStyle/>
                    <a:p>
                      <a:pPr algn="ctr"/>
                      <a:r>
                        <a:rPr lang="en-US" sz="1100" b="0" i="0" u="none" strike="noStrike" cap="none" dirty="0">
                          <a:solidFill>
                            <a:schemeClr val="bg1"/>
                          </a:solidFill>
                          <a:latin typeface="+mn-lt"/>
                          <a:cs typeface="Arial"/>
                          <a:sym typeface="Arial"/>
                        </a:rPr>
                        <a:t>['G to the right', 'V up', 'V up', 'R to the left', 'B up', 'B up', 'S to the right', ‘S to the right', 'S to the right', 'B down', 'B down', 'R to the right', 'V down’, 'G to the left', 'V down', 'V down', 'R to the left', 'B up', 'V down', 'B up', ‘B up', 'C to the left', 'C to the left', 'O down', 'M to the left', 'P up', 'S to the right', 'C to the left', 'B down', 'O down', 'B down', 'B down', 'R to the right’, 'R to the right', 'R to the right', 'B up', 'B up', 'B up', 'C to the right', 'V up’, 'V up', 'V up', 'C to the left', 'B down', 'G to the right', 'V up', 'B down', ‘B down', 'R to the left', 'R to the left', 'O up', 'S to the left', 'P down', 'R to the left', 'B up', 'B up', 'S to the left', 'S to the left', 'O down', 'S to the left', ‘B down', 'B down', 'R to the right', 'R to the right', 'R to the right', 'B up', ‘W to the left', 'P down', 'R to the right']</a:t>
                      </a:r>
                      <a:endParaRPr lang="pt-PT" sz="1100" b="0" i="0" u="none" strike="noStrike" cap="none" dirty="0">
                        <a:solidFill>
                          <a:schemeClr val="bg1"/>
                        </a:solidFill>
                        <a:latin typeface="Arial"/>
                        <a:cs typeface="Arial"/>
                        <a:sym typeface="Arial"/>
                      </a:endParaRPr>
                    </a:p>
                  </a:txBody>
                  <a:tcPr anchor="ctr"/>
                </a:tc>
                <a:extLst>
                  <a:ext uri="{0D108BD9-81ED-4DB2-BD59-A6C34878D82A}">
                    <a16:rowId xmlns:a16="http://schemas.microsoft.com/office/drawing/2014/main" val="1378393370"/>
                  </a:ext>
                </a:extLst>
              </a:tr>
              <a:tr h="37295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pt-PT" sz="1100" b="1" i="0" u="none" strike="noStrike" kern="0" cap="none" spc="0" normalizeH="0" baseline="0" noProof="0" dirty="0">
                          <a:ln>
                            <a:noFill/>
                          </a:ln>
                          <a:solidFill>
                            <a:srgbClr val="FFFFFF"/>
                          </a:solidFill>
                          <a:effectLst/>
                          <a:uLnTx/>
                          <a:uFillTx/>
                          <a:latin typeface="Arial"/>
                          <a:ea typeface="+mn-ea"/>
                          <a:cs typeface="+mn-cs"/>
                          <a:sym typeface="Arial"/>
                        </a:rPr>
                        <a:t>game_9x9</a:t>
                      </a:r>
                    </a:p>
                  </a:txBody>
                  <a:tcPr anchor="ctr">
                    <a:lnB w="12700" cap="flat" cmpd="sng" algn="ctr">
                      <a:solidFill>
                        <a:srgbClr val="E94573"/>
                      </a:solidFill>
                      <a:prstDash val="solid"/>
                      <a:round/>
                      <a:headEnd type="none" w="med" len="med"/>
                      <a:tailEnd type="none" w="med" len="med"/>
                    </a:lnB>
                  </a:tcPr>
                </a:tc>
                <a:tc>
                  <a:txBody>
                    <a:bodyPr/>
                    <a:lstStyle/>
                    <a:p>
                      <a:pPr algn="ctr"/>
                      <a:endParaRPr lang="pt-PT" sz="1100" b="0" i="0" u="none" strike="noStrike" cap="none" dirty="0">
                        <a:solidFill>
                          <a:schemeClr val="bg1"/>
                        </a:solidFill>
                        <a:latin typeface="+mn-lt"/>
                        <a:ea typeface="+mn-ea"/>
                        <a:cs typeface="+mn-cs"/>
                        <a:sym typeface="Arial"/>
                      </a:endParaRPr>
                    </a:p>
                  </a:txBody>
                  <a:tcPr anchor="ctr">
                    <a:lnB w="12700" cap="flat" cmpd="sng" algn="ctr">
                      <a:solidFill>
                        <a:srgbClr val="E94573"/>
                      </a:solidFill>
                      <a:prstDash val="solid"/>
                      <a:round/>
                      <a:headEnd type="none" w="med" len="med"/>
                      <a:tailEnd type="none" w="med" len="med"/>
                    </a:lnB>
                  </a:tcPr>
                </a:tc>
                <a:tc>
                  <a:txBody>
                    <a:bodyPr/>
                    <a:lstStyle/>
                    <a:p>
                      <a:pPr algn="ctr"/>
                      <a:r>
                        <a:rPr lang="en-US" sz="1100" b="0" i="0" u="none" strike="noStrike" cap="none" dirty="0">
                          <a:solidFill>
                            <a:schemeClr val="bg1"/>
                          </a:solidFill>
                          <a:latin typeface="+mn-lt"/>
                          <a:cs typeface="Arial"/>
                          <a:sym typeface="Arial"/>
                        </a:rPr>
                        <a:t>['V to the right', 'P up', 'B to the left', 'G to the left', 'W down', 'M to the right', 'F to the left', 'T down', 'N to the left', 'K up', 'V to the right', 'F to the left', 'F to the left', 'L down', 'L down', 'J to the left', 'I up', 'L down', 'I up', 'L down', 'F to the right', 'H to the right', 'E up', 'L down', 'F to the right', 'H to the right', 'F to the right', 'H to the right', 'F to the right', 'H to the right', 'K down', 'N to the right', 'T up', 'E up', 'R to the left', 'C up', 'C up', 'A to the right', 'O up', 'Y to the left', 'S down', 'D down', 'C up', 'C up', 'R to the right', 'R to the right', 'R to the right', 'R to the right', 'R to the right', 'R to the right', 'R to the right']</a:t>
                      </a:r>
                      <a:endParaRPr lang="pt-PT" sz="1100" b="0" i="0" u="none" strike="noStrike" cap="none" dirty="0">
                        <a:solidFill>
                          <a:schemeClr val="bg1"/>
                        </a:solidFill>
                        <a:latin typeface="Arial"/>
                        <a:cs typeface="Arial"/>
                        <a:sym typeface="Arial"/>
                      </a:endParaRPr>
                    </a:p>
                  </a:txBody>
                  <a:tcPr anchor="ctr">
                    <a:lnB w="12700" cap="flat" cmpd="sng" algn="ctr">
                      <a:solidFill>
                        <a:srgbClr val="E94573"/>
                      </a:solidFill>
                      <a:prstDash val="solid"/>
                      <a:round/>
                      <a:headEnd type="none" w="med" len="med"/>
                      <a:tailEnd type="none" w="med" len="med"/>
                    </a:lnB>
                  </a:tcPr>
                </a:tc>
                <a:extLst>
                  <a:ext uri="{0D108BD9-81ED-4DB2-BD59-A6C34878D82A}">
                    <a16:rowId xmlns:a16="http://schemas.microsoft.com/office/drawing/2014/main" val="2399682156"/>
                  </a:ext>
                </a:extLst>
              </a:tr>
            </a:tbl>
          </a:graphicData>
        </a:graphic>
      </p:graphicFrame>
    </p:spTree>
    <p:extLst>
      <p:ext uri="{BB962C8B-B14F-4D97-AF65-F5344CB8AC3E}">
        <p14:creationId xmlns:p14="http://schemas.microsoft.com/office/powerpoint/2010/main" val="4106028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26"/>
          <p:cNvSpPr txBox="1">
            <a:spLocks noGrp="1"/>
          </p:cNvSpPr>
          <p:nvPr>
            <p:ph type="body" idx="1"/>
          </p:nvPr>
        </p:nvSpPr>
        <p:spPr>
          <a:xfrm>
            <a:off x="4506686" y="1291105"/>
            <a:ext cx="4572000" cy="3240558"/>
          </a:xfrm>
          <a:prstGeom prst="rect">
            <a:avLst/>
          </a:prstGeom>
        </p:spPr>
        <p:txBody>
          <a:bodyPr spcFirstLastPara="1" wrap="square" lIns="91425" tIns="91425" rIns="91425" bIns="91425" anchor="t" anchorCtr="0">
            <a:noAutofit/>
          </a:bodyPr>
          <a:lstStyle/>
          <a:p>
            <a:pPr algn="just"/>
            <a:r>
              <a:rPr lang="pt-PT" sz="1400" dirty="0">
                <a:hlinkClick r:id="rId3">
                  <a:extLst>
                    <a:ext uri="{A12FA001-AC4F-418D-AE19-62706E023703}">
                      <ahyp:hlinkClr xmlns:ahyp="http://schemas.microsoft.com/office/drawing/2018/hyperlinkcolor" val="tx"/>
                    </a:ext>
                  </a:extLst>
                </a:hlinkClick>
              </a:rPr>
              <a:t>https://blog.devgenius.io/mastering-the-rush-hour-puzzle-how-bfs-can-help-you-find-the-shortest-solution-f2107eb6f19</a:t>
            </a:r>
            <a:endParaRPr lang="pt-PT" sz="1400" dirty="0"/>
          </a:p>
          <a:p>
            <a:pPr algn="just"/>
            <a:endParaRPr lang="pt-PT" sz="1400" dirty="0"/>
          </a:p>
          <a:p>
            <a:pPr algn="just"/>
            <a:r>
              <a:rPr lang="pt-PT" sz="1400" dirty="0">
                <a:hlinkClick r:id="rId4">
                  <a:extLst>
                    <a:ext uri="{A12FA001-AC4F-418D-AE19-62706E023703}">
                      <ahyp:hlinkClr xmlns:ahyp="http://schemas.microsoft.com/office/drawing/2018/hyperlinkcolor" val="tx"/>
                    </a:ext>
                  </a:extLst>
                </a:hlinkClick>
              </a:rPr>
              <a:t>https://ursinus-cs477-f2021.github.io/CoursePage/Assignments/HW2_RushHour/</a:t>
            </a:r>
            <a:endParaRPr lang="pt-PT" sz="1400" dirty="0"/>
          </a:p>
          <a:p>
            <a:pPr algn="just"/>
            <a:endParaRPr lang="pt-PT" sz="1400" dirty="0"/>
          </a:p>
          <a:p>
            <a:pPr algn="just"/>
            <a:r>
              <a:rPr lang="pt-PT" sz="1400" dirty="0">
                <a:hlinkClick r:id="rId5"/>
              </a:rPr>
              <a:t>https://chat.openai.com</a:t>
            </a:r>
            <a:endParaRPr lang="pt-PT" sz="1400" dirty="0"/>
          </a:p>
          <a:p>
            <a:pPr algn="just"/>
            <a:endParaRPr lang="pt-PT" sz="1400" dirty="0"/>
          </a:p>
          <a:p>
            <a:pPr algn="just"/>
            <a:r>
              <a:rPr lang="pt-PT" sz="1400" dirty="0">
                <a:hlinkClick r:id="rId6"/>
              </a:rPr>
              <a:t>https://ursinus-cs477-f2021.github.io/CoursePage/index.html</a:t>
            </a:r>
            <a:endParaRPr lang="pt-PT" sz="1400" dirty="0"/>
          </a:p>
          <a:p>
            <a:pPr algn="just"/>
            <a:endParaRPr lang="pt-PT" sz="1400" dirty="0"/>
          </a:p>
          <a:p>
            <a:pPr algn="just"/>
            <a:r>
              <a:rPr lang="pt-PT" sz="1400" dirty="0">
                <a:hlinkClick r:id="rId7"/>
              </a:rPr>
              <a:t>https://github.com/KaKariki02/rushHour</a:t>
            </a:r>
            <a:r>
              <a:rPr lang="pt-PT" sz="1400" dirty="0"/>
              <a:t> </a:t>
            </a:r>
          </a:p>
          <a:p>
            <a:pPr algn="just"/>
            <a:endParaRPr lang="pt-PT" sz="1400" dirty="0"/>
          </a:p>
          <a:p>
            <a:pPr algn="just"/>
            <a:endParaRPr lang="pt-PT" sz="1400" dirty="0"/>
          </a:p>
          <a:p>
            <a:pPr marL="0" lvl="0" indent="0" algn="l" rtl="0">
              <a:lnSpc>
                <a:spcPct val="100000"/>
              </a:lnSpc>
              <a:spcBef>
                <a:spcPts val="1600"/>
              </a:spcBef>
              <a:spcAft>
                <a:spcPts val="1600"/>
              </a:spcAft>
              <a:buNone/>
            </a:pPr>
            <a:endParaRPr sz="1400" dirty="0"/>
          </a:p>
        </p:txBody>
      </p:sp>
      <p:sp>
        <p:nvSpPr>
          <p:cNvPr id="467" name="Google Shape;467;p26"/>
          <p:cNvSpPr txBox="1">
            <a:spLocks noGrp="1"/>
          </p:cNvSpPr>
          <p:nvPr>
            <p:ph type="ctrTitle"/>
          </p:nvPr>
        </p:nvSpPr>
        <p:spPr>
          <a:xfrm>
            <a:off x="209007" y="2232115"/>
            <a:ext cx="4362993" cy="679269"/>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600" dirty="0" err="1"/>
              <a:t>Bibliografic</a:t>
            </a:r>
            <a:r>
              <a:rPr lang="en" sz="3600" dirty="0"/>
              <a:t> search</a:t>
            </a:r>
            <a:endParaRPr sz="3600" dirty="0"/>
          </a:p>
        </p:txBody>
      </p:sp>
    </p:spTree>
  </p:cSld>
  <p:clrMapOvr>
    <a:masterClrMapping/>
  </p:clrMapOvr>
</p:sld>
</file>

<file path=ppt/theme/theme1.xml><?xml version="1.0" encoding="utf-8"?>
<a:theme xmlns:a="http://schemas.openxmlformats.org/drawingml/2006/main" name="Data Science Consulting by Slidesgo">
  <a:themeElements>
    <a:clrScheme name="Simple Light">
      <a:dk1>
        <a:srgbClr val="1A5E8F"/>
      </a:dk1>
      <a:lt1>
        <a:srgbClr val="FFFFFF"/>
      </a:lt1>
      <a:dk2>
        <a:srgbClr val="002845"/>
      </a:dk2>
      <a:lt2>
        <a:srgbClr val="FFD6E1"/>
      </a:lt2>
      <a:accent1>
        <a:srgbClr val="E898AC"/>
      </a:accent1>
      <a:accent2>
        <a:srgbClr val="00CFCC"/>
      </a:accent2>
      <a:accent3>
        <a:srgbClr val="FF9973"/>
      </a:accent3>
      <a:accent4>
        <a:srgbClr val="F64975"/>
      </a:accent4>
      <a:accent5>
        <a:srgbClr val="5EFFFD"/>
      </a:accent5>
      <a:accent6>
        <a:srgbClr val="FC723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8477</TotalTime>
  <Words>2009</Words>
  <Application>Microsoft Macintosh PowerPoint</Application>
  <PresentationFormat>Apresentação no Ecrã (16:9)</PresentationFormat>
  <Paragraphs>189</Paragraphs>
  <Slides>9</Slides>
  <Notes>2</Notes>
  <HiddenSlides>0</HiddenSlides>
  <MMClips>0</MMClips>
  <ScaleCrop>false</ScaleCrop>
  <HeadingPairs>
    <vt:vector size="6" baseType="variant">
      <vt:variant>
        <vt:lpstr>Tipos de letra usados</vt:lpstr>
      </vt:variant>
      <vt:variant>
        <vt:i4>6</vt:i4>
      </vt:variant>
      <vt:variant>
        <vt:lpstr>Tema</vt:lpstr>
      </vt:variant>
      <vt:variant>
        <vt:i4>1</vt:i4>
      </vt:variant>
      <vt:variant>
        <vt:lpstr>Títulos dos diapositivos</vt:lpstr>
      </vt:variant>
      <vt:variant>
        <vt:i4>9</vt:i4>
      </vt:variant>
    </vt:vector>
  </HeadingPairs>
  <TitlesOfParts>
    <vt:vector size="16" baseType="lpstr">
      <vt:lpstr>Arial</vt:lpstr>
      <vt:lpstr>Livvic Light</vt:lpstr>
      <vt:lpstr>Fira Sans Condensed Medium</vt:lpstr>
      <vt:lpstr>Maven Pro</vt:lpstr>
      <vt:lpstr>Share Tech</vt:lpstr>
      <vt:lpstr>Nunito Light</vt:lpstr>
      <vt:lpstr>Data Science Consulting by Slidesgo</vt:lpstr>
      <vt:lpstr>Rush Hour Puzzle</vt:lpstr>
      <vt:lpstr>Rush Hour Puzzle</vt:lpstr>
      <vt:lpstr>Apresentação do PowerPoint</vt:lpstr>
      <vt:lpstr>Heuristic/evaluation functions  </vt:lpstr>
      <vt:lpstr>Implementation work already carried out</vt:lpstr>
      <vt:lpstr>Apresentação do PowerPoint</vt:lpstr>
      <vt:lpstr>Apresentação do PowerPoint</vt:lpstr>
      <vt:lpstr>Apresentação do PowerPoint</vt:lpstr>
      <vt:lpstr>Bibliografic search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Rush Hour Puzzle</dc:title>
  <dc:creator>beatrizpereira@ipvc.pt</dc:creator>
  <cp:lastModifiedBy>Beatriz Fernandes Araujo Rodrigues Pereira</cp:lastModifiedBy>
  <cp:revision>81</cp:revision>
  <cp:lastPrinted>2024-04-02T15:45:34Z</cp:lastPrinted>
  <dcterms:modified xsi:type="dcterms:W3CDTF">2024-04-14T22:43:29Z</dcterms:modified>
</cp:coreProperties>
</file>